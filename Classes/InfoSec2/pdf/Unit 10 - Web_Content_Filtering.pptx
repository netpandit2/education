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8741" autoAdjust="0"/>
  </p:normalViewPr>
  <p:slideViewPr>
    <p:cSldViewPr snapToGrid="0" snapToObjects="1">
      <p:cViewPr varScale="1">
        <p:scale>
          <a:sx n="98" d="100"/>
          <a:sy n="98" d="100"/>
        </p:scale>
        <p:origin x="103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ian P Krause" userId="23140df0-a9f4-4d9c-8e6f-6b674da89770" providerId="ADAL" clId="{67410B4E-422E-4D65-9D2A-D4961290D8FE}"/>
    <pc:docChg chg="custSel modSld">
      <pc:chgData name="Brian P Krause" userId="23140df0-a9f4-4d9c-8e6f-6b674da89770" providerId="ADAL" clId="{67410B4E-422E-4D65-9D2A-D4961290D8FE}" dt="2026-10-26T17:27:04.784" v="14" actId="729"/>
      <pc:docMkLst>
        <pc:docMk/>
      </pc:docMkLst>
      <pc:sldChg chg="modSp mod">
        <pc:chgData name="Brian P Krause" userId="23140df0-a9f4-4d9c-8e6f-6b674da89770" providerId="ADAL" clId="{67410B4E-422E-4D65-9D2A-D4961290D8FE}" dt="2026-10-26T17:24:07.283" v="5" actId="1036"/>
        <pc:sldMkLst>
          <pc:docMk/>
          <pc:sldMk cId="0" sldId="260"/>
        </pc:sldMkLst>
        <pc:spChg chg="mod">
          <ac:chgData name="Brian P Krause" userId="23140df0-a9f4-4d9c-8e6f-6b674da89770" providerId="ADAL" clId="{67410B4E-422E-4D65-9D2A-D4961290D8FE}" dt="2026-10-26T17:24:07.283" v="5" actId="1036"/>
          <ac:spMkLst>
            <pc:docMk/>
            <pc:sldMk cId="0" sldId="260"/>
            <ac:spMk id="9" creationId="{00000000-0000-0000-0000-000000000000}"/>
          </ac:spMkLst>
        </pc:spChg>
      </pc:sldChg>
      <pc:sldChg chg="delSp mod">
        <pc:chgData name="Brian P Krause" userId="23140df0-a9f4-4d9c-8e6f-6b674da89770" providerId="ADAL" clId="{67410B4E-422E-4D65-9D2A-D4961290D8FE}" dt="2026-10-26T17:24:40.286" v="7" actId="478"/>
        <pc:sldMkLst>
          <pc:docMk/>
          <pc:sldMk cId="0" sldId="262"/>
        </pc:sldMkLst>
        <pc:spChg chg="del">
          <ac:chgData name="Brian P Krause" userId="23140df0-a9f4-4d9c-8e6f-6b674da89770" providerId="ADAL" clId="{67410B4E-422E-4D65-9D2A-D4961290D8FE}" dt="2026-10-26T17:24:40.286" v="7" actId="478"/>
          <ac:spMkLst>
            <pc:docMk/>
            <pc:sldMk cId="0" sldId="262"/>
            <ac:spMk id="9" creationId="{00000000-0000-0000-0000-000000000000}"/>
          </ac:spMkLst>
        </pc:spChg>
        <pc:spChg chg="del">
          <ac:chgData name="Brian P Krause" userId="23140df0-a9f4-4d9c-8e6f-6b674da89770" providerId="ADAL" clId="{67410B4E-422E-4D65-9D2A-D4961290D8FE}" dt="2026-10-26T17:24:40.286" v="7" actId="478"/>
          <ac:spMkLst>
            <pc:docMk/>
            <pc:sldMk cId="0" sldId="262"/>
            <ac:spMk id="10" creationId="{00000000-0000-0000-0000-000000000000}"/>
          </ac:spMkLst>
        </pc:spChg>
        <pc:spChg chg="del">
          <ac:chgData name="Brian P Krause" userId="23140df0-a9f4-4d9c-8e6f-6b674da89770" providerId="ADAL" clId="{67410B4E-422E-4D65-9D2A-D4961290D8FE}" dt="2026-10-26T17:24:36.895" v="6" actId="478"/>
          <ac:spMkLst>
            <pc:docMk/>
            <pc:sldMk cId="0" sldId="262"/>
            <ac:spMk id="11" creationId="{00000000-0000-0000-0000-000000000000}"/>
          </ac:spMkLst>
        </pc:spChg>
      </pc:sldChg>
      <pc:sldChg chg="delSp mod">
        <pc:chgData name="Brian P Krause" userId="23140df0-a9f4-4d9c-8e6f-6b674da89770" providerId="ADAL" clId="{67410B4E-422E-4D65-9D2A-D4961290D8FE}" dt="2026-10-26T17:25:45.465" v="9" actId="478"/>
        <pc:sldMkLst>
          <pc:docMk/>
          <pc:sldMk cId="0" sldId="270"/>
        </pc:sldMkLst>
        <pc:spChg chg="del">
          <ac:chgData name="Brian P Krause" userId="23140df0-a9f4-4d9c-8e6f-6b674da89770" providerId="ADAL" clId="{67410B4E-422E-4D65-9D2A-D4961290D8FE}" dt="2026-10-26T17:25:45.465" v="9" actId="478"/>
          <ac:spMkLst>
            <pc:docMk/>
            <pc:sldMk cId="0" sldId="270"/>
            <ac:spMk id="13" creationId="{00000000-0000-0000-0000-000000000000}"/>
          </ac:spMkLst>
        </pc:spChg>
        <pc:spChg chg="del">
          <ac:chgData name="Brian P Krause" userId="23140df0-a9f4-4d9c-8e6f-6b674da89770" providerId="ADAL" clId="{67410B4E-422E-4D65-9D2A-D4961290D8FE}" dt="2026-10-26T17:25:45.465" v="9" actId="478"/>
          <ac:spMkLst>
            <pc:docMk/>
            <pc:sldMk cId="0" sldId="270"/>
            <ac:spMk id="14" creationId="{00000000-0000-0000-0000-000000000000}"/>
          </ac:spMkLst>
        </pc:spChg>
        <pc:spChg chg="del">
          <ac:chgData name="Brian P Krause" userId="23140df0-a9f4-4d9c-8e6f-6b674da89770" providerId="ADAL" clId="{67410B4E-422E-4D65-9D2A-D4961290D8FE}" dt="2026-10-26T17:25:41.833" v="8" actId="478"/>
          <ac:spMkLst>
            <pc:docMk/>
            <pc:sldMk cId="0" sldId="270"/>
            <ac:spMk id="15" creationId="{00000000-0000-0000-0000-000000000000}"/>
          </ac:spMkLst>
        </pc:spChg>
      </pc:sldChg>
      <pc:sldChg chg="delSp mod">
        <pc:chgData name="Brian P Krause" userId="23140df0-a9f4-4d9c-8e6f-6b674da89770" providerId="ADAL" clId="{67410B4E-422E-4D65-9D2A-D4961290D8FE}" dt="2026-10-26T17:26:31.048" v="11" actId="478"/>
        <pc:sldMkLst>
          <pc:docMk/>
          <pc:sldMk cId="0" sldId="278"/>
        </pc:sldMkLst>
        <pc:spChg chg="del">
          <ac:chgData name="Brian P Krause" userId="23140df0-a9f4-4d9c-8e6f-6b674da89770" providerId="ADAL" clId="{67410B4E-422E-4D65-9D2A-D4961290D8FE}" dt="2026-10-26T17:26:31.048" v="11" actId="478"/>
          <ac:spMkLst>
            <pc:docMk/>
            <pc:sldMk cId="0" sldId="278"/>
            <ac:spMk id="10" creationId="{00000000-0000-0000-0000-000000000000}"/>
          </ac:spMkLst>
        </pc:spChg>
        <pc:spChg chg="del">
          <ac:chgData name="Brian P Krause" userId="23140df0-a9f4-4d9c-8e6f-6b674da89770" providerId="ADAL" clId="{67410B4E-422E-4D65-9D2A-D4961290D8FE}" dt="2026-10-26T17:26:31.048" v="11" actId="478"/>
          <ac:spMkLst>
            <pc:docMk/>
            <pc:sldMk cId="0" sldId="278"/>
            <ac:spMk id="11" creationId="{00000000-0000-0000-0000-000000000000}"/>
          </ac:spMkLst>
        </pc:spChg>
        <pc:spChg chg="del">
          <ac:chgData name="Brian P Krause" userId="23140df0-a9f4-4d9c-8e6f-6b674da89770" providerId="ADAL" clId="{67410B4E-422E-4D65-9D2A-D4961290D8FE}" dt="2026-10-26T17:26:27.575" v="10" actId="478"/>
          <ac:spMkLst>
            <pc:docMk/>
            <pc:sldMk cId="0" sldId="278"/>
            <ac:spMk id="12" creationId="{00000000-0000-0000-0000-000000000000}"/>
          </ac:spMkLst>
        </pc:spChg>
      </pc:sldChg>
      <pc:sldChg chg="delSp mod">
        <pc:chgData name="Brian P Krause" userId="23140df0-a9f4-4d9c-8e6f-6b674da89770" providerId="ADAL" clId="{67410B4E-422E-4D65-9D2A-D4961290D8FE}" dt="2026-10-26T17:26:55.753" v="13" actId="478"/>
        <pc:sldMkLst>
          <pc:docMk/>
          <pc:sldMk cId="0" sldId="287"/>
        </pc:sldMkLst>
        <pc:spChg chg="del">
          <ac:chgData name="Brian P Krause" userId="23140df0-a9f4-4d9c-8e6f-6b674da89770" providerId="ADAL" clId="{67410B4E-422E-4D65-9D2A-D4961290D8FE}" dt="2026-10-26T17:26:55.753" v="13" actId="478"/>
          <ac:spMkLst>
            <pc:docMk/>
            <pc:sldMk cId="0" sldId="287"/>
            <ac:spMk id="8" creationId="{00000000-0000-0000-0000-000000000000}"/>
          </ac:spMkLst>
        </pc:spChg>
        <pc:spChg chg="del">
          <ac:chgData name="Brian P Krause" userId="23140df0-a9f4-4d9c-8e6f-6b674da89770" providerId="ADAL" clId="{67410B4E-422E-4D65-9D2A-D4961290D8FE}" dt="2026-10-26T17:26:55.753" v="13" actId="478"/>
          <ac:spMkLst>
            <pc:docMk/>
            <pc:sldMk cId="0" sldId="287"/>
            <ac:spMk id="9" creationId="{00000000-0000-0000-0000-000000000000}"/>
          </ac:spMkLst>
        </pc:spChg>
        <pc:spChg chg="del">
          <ac:chgData name="Brian P Krause" userId="23140df0-a9f4-4d9c-8e6f-6b674da89770" providerId="ADAL" clId="{67410B4E-422E-4D65-9D2A-D4961290D8FE}" dt="2026-10-26T17:26:52.525" v="12" actId="478"/>
          <ac:spMkLst>
            <pc:docMk/>
            <pc:sldMk cId="0" sldId="287"/>
            <ac:spMk id="10" creationId="{00000000-0000-0000-0000-000000000000}"/>
          </ac:spMkLst>
        </pc:spChg>
      </pc:sldChg>
      <pc:sldChg chg="mod modShow">
        <pc:chgData name="Brian P Krause" userId="23140df0-a9f4-4d9c-8e6f-6b674da89770" providerId="ADAL" clId="{67410B4E-422E-4D65-9D2A-D4961290D8FE}" dt="2026-10-26T17:27:04.784" v="14" actId="729"/>
        <pc:sldMkLst>
          <pc:docMk/>
          <pc:sldMk cId="0" sldId="28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55057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connecting to Units 8 and 9: App-ID told us what the application is, Security Profiles inspected what is inside it. This unit asks where the traffic is going. Competency: Configure application control techniques to monitor and control network applications. Lab 9 is this week's hands-on.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official objectives for the unit; web content filtering is big enough to get two lessons. Point out that usage quotas and DNS filtering are not in the NETLAB guide, so lessons 3 and 4 are lecture and demo only.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 is the model: what a URL category is, where the firewall looks it up, and the two places you can use one. Everything in the lab builds on this.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Attackers generate thousands of new malicious URLs daily, so static block lists cannot keep up. Stress the integration argument: one policy set on the NGFW instead of a separate proxy product. This is the "why" behind the competency.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PAN-DB is the cloud database; the firewall caches lookups locally. Point out that custom categories need no license, which is why the lab still works if a subscription lapses. Categories can be used in Security, Decryption, QoS, and Authentication policy, which matters again in Lesson 3.</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 categories describe how suspicious a site is, not what it is about. Best practice is to block high-risk and new-registered-domain. A site moves out of new-registered-domain after 32 days. Ask students why attackers like brand-new domains.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idea of Lab 9: students build both and compare. Policy method is coarse; profile method gives per-category actions and much richer logging. Return to this table during the lab debrief.</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2 is the hands-on side of web content filtering: actions, custom categories, EDLs, response pages, and attaching the profile.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default profile is read-only. Clone it or add a new one. A brand-new profile allows every category, so students who forget to set actions get no protection. In Lab 9 they use Set All Actions &gt; alert, then block a list.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vs alert is the most common confusion: both let the user through, but only alert writes a log entry. Continue and override log twice, once for the block page and once for the user's choice. Lab 9 sets everything to alert precisely for the logging.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URL List type is what students build in the lab (Block-Per-Company-Policy). Category Match combines PAN-DB categories with AND logic, for example shopping that is also high-risk. Mention the ending-token prompt they will see, and that wildcards are supported.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EDL lives on a web server you control. After the first commit the firewall re-reads it on its schedule, so a SOC analyst can add a URL without touching the firewall. In Lab 9 the list holds one entry, www.popurls.com. Mention that EDLs also come in IP and Domain types, which we use in Lesson 4.</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page shows user, URL, and category; with User-ID the IP becomes a username. Continue and override grant 15 minutes to that category by default. Response pages on a Layer 3 interface need an Interface Management Profile with Response Pages enabled, which is a common reason they fail to appear.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 Search Enforcement is best-effort and depends on the search provider; HTTPS search needs decryption. Leave Log container page only on or the log fills with every image and script. Inline categorization uses ML on the firewall (local) and in the cloud to catch phishing pages PAN-DB has not seen yet.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profile does nothing until it rides on an allow rule. In Lab 9 students add Corp-URL-Profile to the existing Corp-Profiles-Group, so every rule already using the group picks it up. The high-level steps call these by other names; tell students to use the detailed-step names.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3 covers the usage quota objective. Be upfront: PAN-OS has no per-user minutes-per-day counter like some web proxies. You build the same result from three tools.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Products like Forcepoint and FortiGate sell per-user time quotas. PAN-OS approaches the problem with time windows, warning pages with expiry, and bandwidth caps. Framing it this way tells students how to get the result on whatever platform they inherit.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continue timeout is the closest thing to a quota on PAN-OS: a user who clicks Continue on a social-networking page gets 15 minutes by default, then sees the warning again. Override uses one admin password per firewall; three wrong tries trigger the lockout timer.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Schedules only affect new sessions; a stream that started at 12:59 keeps running. Rule order matters: the scheduled allow sits above the general rule whose profile blocks the category. This pairs well with the continue action on the general rule.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bandwidth quota rather than a time quota. QoS needs three pieces: a QoS profile with class limits, QoS enabled on the egress interface, and a QoS policy rule that matches the URL category. Demo-only; the lab pod does not configure QoS.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4 builds on DNS sinkholing from Unit 9. URL filtering sees the web request; DNS filtering sees the lookup that comes before any protocol at all.</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Malware rarely browses; it resolves a C2 domain and connects on any port. Blocking at the lookup catches that, plus DGA domains and DNS tunneling. Connect to Unit 9: sinkholing turns the blocked lookup into a log entry that names the infected host.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DNS Security needs the DNS Security subscription, or Advanced Threat Prevention. Each signature source gets its own action; best practice is sinkhole for malicious categories. The same Anti-Spyware profile from Unit 9 hosts this, so students reuse Corp-AS.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Domain List EDL is the DNS counterpart of the URL List EDL from the lab. It works without the DNS Security subscription, which makes it the option for shops that only have Threat Prevention. Exceptions go on the DNS Exceptions tab; an EDL set to allow does not override a DNS Security verdict.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to close the lesson. Defense in depth: the DNS filter stops the lookup, the URL filter stops the page if the lookup slipped through (for example a cached answer or a hard-coded IP). Ask students which one would have caught a malware beacon on port 8443.</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5 covers the troubleshooting objective. Most tickets are one of three things: the wrong rule matched, a URL is miscategorized, or the firewall cannot reach PAN-DB.</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order out loud. Security policy first; a deny ends it. Then no profile means allow. With a profile, custom category actions beat predefined ones. That last point is the answer to most "why is this blocked?" questions.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Pentesters-Grp may visit hacking sites (continue), but www.hackers9.com sits in the custom category Denied-Hacking-URLs set to block. Ask the class what happens before revealing it: block, because custom wins.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unknown means PAN-DB answered and has no category yet. not-resolved means the firewall could not ask, usually a connectivity or license problem. Run show url-cloud status first. An expired URL Filtering license also produces not-resolved.</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students how to filter by action and category. The Category column shows the category that triggered the action; URL Category List shows every category the site matched. Profile-based blocks log much more context than rule-based blocks, which students see in the lab.</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Requests go to a human reviewer, so a comment is required; most are processed within a day. Until then, put the site in a custom category to override it locally. Test A Site is also handy for finding a category before writing policy.</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this to students as the lab safety net. Every row comes from mistakes that show up in Lab 9: disabled rules left disabled, profiles never added to the group, and forgotten commits.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 the unit together. Each layer covers the gap in the previous one. Ask: if a user's laptop is already infected, which layer finds it? DNS sinkholing. Which layer enforces acceptable use? The URL profile.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these in order on the instructor pod. Demos 5 and 6 are not in the lab guide, so students see them only here.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high-level or detailed steps; recommend detailed. Credentials are in the lab guide's Lab Settings table. Each block test should end with a log screenshot as well as the browser page.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errors in the vendor lab guide. Cover them before students start so they don't lose time. The EDL address differs from the Lab Settings table; Test Source URL will tell them which one works.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per lesson. Ask students which takeaway they would use first on a real network.</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year's deck labeled this slide Unit 9 Homework and Unit 9 Quiz; it is corrected here. Remind students to check Blackboard for due dates.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questions, then point students to Lab 9 and the Lab 9 Heads-Up slide before they start.</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ERO">
    <p:bg>
      <p:bgPr>
        <a:solidFill>
          <a:srgbClr val="7A0019"/>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914400" y="2331720"/>
            <a:ext cx="10360152" cy="1554480"/>
          </a:xfrm>
          <a:prstGeom prst="rect">
            <a:avLst/>
          </a:prstGeom>
          <a:noFill/>
          <a:ln/>
        </p:spPr>
        <p:txBody>
          <a:bodyPr wrap="square" rtlCol="0"/>
          <a:lstStyle>
            <a:lvl1pPr marL="0" indent="0" algn="ctr">
              <a:buNone/>
              <a:defRPr lang="en-US" sz="5000" b="1" dirty="0">
                <a:solidFill>
                  <a:srgbClr val="FFFFFF"/>
                </a:solidFill>
                <a:latin typeface="Poppins" pitchFamily="34" charset="0"/>
                <a:ea typeface="Poppins" pitchFamily="34" charset="-122"/>
                <a:cs typeface="Poppins" pitchFamily="34" charset="-120"/>
              </a:defRPr>
            </a:lvl1pPr>
          </a:lstStyle>
          <a:p>
            <a:pPr marL="0" indent="0" algn="ctr">
              <a:buNone/>
            </a:pPr>
            <a:endParaRPr lang="en-US" sz="5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7A0019"/>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743200"/>
            <a:ext cx="8778240" cy="1371600"/>
          </a:xfrm>
          <a:prstGeom prst="rect">
            <a:avLst/>
          </a:prstGeom>
          <a:noFill/>
          <a:ln/>
        </p:spPr>
        <p:txBody>
          <a:bodyPr wrap="square" rtlCol="0"/>
          <a:lstStyle>
            <a:lvl1pPr marL="0" indent="0" algn="l">
              <a:buNone/>
              <a:defRPr lang="en-US" sz="3800" b="1" dirty="0">
                <a:solidFill>
                  <a:srgbClr val="FFFFFF"/>
                </a:solidFill>
                <a:latin typeface="Poppins" pitchFamily="34" charset="0"/>
                <a:ea typeface="Poppins" pitchFamily="34" charset="-122"/>
                <a:cs typeface="Poppins" pitchFamily="34" charset="-120"/>
              </a:defRPr>
            </a:lvl1pPr>
          </a:lstStyle>
          <a:p>
            <a:pPr marL="0" indent="0" algn="l">
              <a:buNone/>
            </a:pPr>
            <a:endParaRPr lang="en-US" sz="3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ODY">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65760"/>
            <a:ext cx="11155680" cy="658368"/>
          </a:xfrm>
          <a:prstGeom prst="rect">
            <a:avLst/>
          </a:prstGeom>
          <a:noFill/>
          <a:ln/>
        </p:spPr>
        <p:txBody>
          <a:bodyPr wrap="square" rtlCol="0"/>
          <a:lstStyle>
            <a:lvl1pPr marL="0" indent="0" algn="l">
              <a:buNone/>
              <a:defRPr lang="en-US" sz="2500" b="1" dirty="0">
                <a:solidFill>
                  <a:srgbClr val="7A0019"/>
                </a:solidFill>
                <a:latin typeface="Poppins" pitchFamily="34" charset="0"/>
                <a:ea typeface="Poppins" pitchFamily="34" charset="-122"/>
                <a:cs typeface="Poppins" pitchFamily="34" charset="-120"/>
              </a:defRPr>
            </a:lvl1pPr>
          </a:lstStyle>
          <a:p>
            <a:pPr marL="0" indent="0" algn="l">
              <a:buNone/>
            </a:pPr>
            <a:endParaRPr lang="en-US" sz="25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ER">
    <p:bg>
      <p:bgPr>
        <a:solidFill>
          <a:srgbClr val="7A0019"/>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914400" y="2468880"/>
            <a:ext cx="10360152" cy="1371600"/>
          </a:xfrm>
          <a:prstGeom prst="rect">
            <a:avLst/>
          </a:prstGeom>
          <a:noFill/>
          <a:ln/>
        </p:spPr>
        <p:txBody>
          <a:bodyPr wrap="square" rtlCol="0"/>
          <a:lstStyle>
            <a:lvl1pPr marL="0" indent="0" algn="ctr">
              <a:buNone/>
              <a:defRPr lang="en-US" sz="4800" b="1" dirty="0">
                <a:solidFill>
                  <a:srgbClr val="FFFFFF"/>
                </a:solidFill>
                <a:latin typeface="Poppins" pitchFamily="34" charset="0"/>
                <a:ea typeface="Poppins" pitchFamily="34" charset="-122"/>
                <a:cs typeface="Poppins" pitchFamily="34" charset="-120"/>
              </a:defRPr>
            </a:lvl1pPr>
          </a:lstStyle>
          <a:p>
            <a:pPr marL="0" indent="0" algn="ctr">
              <a:buNone/>
            </a:pPr>
            <a:endParaRPr lang="en-US" sz="48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image" Target="../media/image2.pn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37.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8.png"/></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914400" y="1600200"/>
            <a:ext cx="10360152" cy="365760"/>
          </a:xfrm>
          <a:prstGeom prst="rect">
            <a:avLst/>
          </a:prstGeom>
          <a:noFill/>
          <a:ln/>
        </p:spPr>
        <p:txBody>
          <a:bodyPr wrap="square" lIns="0" tIns="0" rIns="0" bIns="0" rtlCol="0" anchor="ctr"/>
          <a:lstStyle/>
          <a:p>
            <a:pPr marL="0" indent="0" algn="ctr">
              <a:buNone/>
            </a:pPr>
            <a:r>
              <a:rPr lang="en-US" sz="1400" b="1" kern="0" spc="300" dirty="0">
                <a:solidFill>
                  <a:srgbClr val="FDB71A"/>
                </a:solidFill>
                <a:latin typeface="Poppins" pitchFamily="34" charset="0"/>
                <a:ea typeface="Poppins" pitchFamily="34" charset="-122"/>
                <a:cs typeface="Poppins" pitchFamily="34" charset="-120"/>
              </a:rPr>
              <a:t>MID-STATE TECHNICAL COLLEGE · IT PROGRAMS</a:t>
            </a:r>
            <a:endParaRPr lang="en-US" sz="1400" dirty="0"/>
          </a:p>
        </p:txBody>
      </p:sp>
      <p:sp>
        <p:nvSpPr>
          <p:cNvPr id="3" name="Text 0"/>
          <p:cNvSpPr>
            <a:spLocks noGrp="1"/>
          </p:cNvSpPr>
          <p:nvPr>
            <p:ph type="title" idx="100" hasCustomPrompt="1"/>
          </p:nvPr>
        </p:nvSpPr>
        <p:spPr>
          <a:xfrm>
            <a:off x="914400" y="2331720"/>
            <a:ext cx="10360152" cy="1554480"/>
          </a:xfrm>
          <a:prstGeom prst="rect">
            <a:avLst/>
          </a:prstGeom>
          <a:noFill/>
          <a:ln/>
        </p:spPr>
        <p:txBody>
          <a:bodyPr wrap="square" rtlCol="0"/>
          <a:lstStyle/>
          <a:p>
            <a:pPr marL="0" indent="0" algn="ctr">
              <a:buNone/>
            </a:pPr>
            <a:r>
              <a:rPr lang="en-US" sz="5000" b="1" dirty="0">
                <a:solidFill>
                  <a:srgbClr val="FFFFFF"/>
                </a:solidFill>
                <a:latin typeface="Poppins" pitchFamily="34" charset="0"/>
                <a:ea typeface="Poppins" pitchFamily="34" charset="-122"/>
                <a:cs typeface="Poppins" pitchFamily="34" charset="-120"/>
              </a:rPr>
              <a:t>Web Content Filtering with Advanced URL Filtering</a:t>
            </a:r>
            <a:endParaRPr lang="en-US" sz="5000" dirty="0"/>
          </a:p>
        </p:txBody>
      </p:sp>
      <p:sp>
        <p:nvSpPr>
          <p:cNvPr id="4" name="Shape 2"/>
          <p:cNvSpPr/>
          <p:nvPr/>
        </p:nvSpPr>
        <p:spPr>
          <a:xfrm>
            <a:off x="5276088" y="4069080"/>
            <a:ext cx="1645920" cy="64008"/>
          </a:xfrm>
          <a:prstGeom prst="rect">
            <a:avLst/>
          </a:prstGeom>
          <a:solidFill>
            <a:srgbClr val="FDB71A"/>
          </a:solidFill>
          <a:ln/>
        </p:spPr>
        <p:txBody>
          <a:bodyPr/>
          <a:lstStyle/>
          <a:p>
            <a:endParaRPr lang="en-US"/>
          </a:p>
        </p:txBody>
      </p:sp>
      <p:sp>
        <p:nvSpPr>
          <p:cNvPr id="5" name="Text 3"/>
          <p:cNvSpPr/>
          <p:nvPr/>
        </p:nvSpPr>
        <p:spPr>
          <a:xfrm>
            <a:off x="914400" y="4297680"/>
            <a:ext cx="10360152" cy="457200"/>
          </a:xfrm>
          <a:prstGeom prst="rect">
            <a:avLst/>
          </a:prstGeom>
          <a:noFill/>
          <a:ln/>
        </p:spPr>
        <p:txBody>
          <a:bodyPr wrap="square" lIns="0" tIns="0" rIns="0" bIns="0" rtlCol="0" anchor="ctr"/>
          <a:lstStyle/>
          <a:p>
            <a:pPr marL="0" indent="0" algn="ctr">
              <a:buNone/>
            </a:pPr>
            <a:r>
              <a:rPr lang="en-US" sz="1800" dirty="0">
                <a:solidFill>
                  <a:srgbClr val="F3E7EA"/>
                </a:solidFill>
                <a:latin typeface="Montserrat" pitchFamily="34" charset="0"/>
                <a:ea typeface="Montserrat" pitchFamily="34" charset="-122"/>
                <a:cs typeface="Montserrat" pitchFamily="34" charset="-120"/>
              </a:rPr>
              <a:t>Unit 10 · Information Security 2 (10-151-111)</a:t>
            </a:r>
            <a:endParaRPr lang="en-US" sz="1800" dirty="0"/>
          </a:p>
        </p:txBody>
      </p:sp>
      <p:pic>
        <p:nvPicPr>
          <p:cNvPr id="6" name="Image 0" descr="Mid-State Technical College logo"/>
          <p:cNvPicPr>
            <a:picLocks noChangeAspect="1"/>
          </p:cNvPicPr>
          <p:nvPr/>
        </p:nvPicPr>
        <p:blipFill>
          <a:blip r:embed="rId3"/>
          <a:stretch>
            <a:fillRect/>
          </a:stretch>
        </p:blipFill>
        <p:spPr>
          <a:xfrm>
            <a:off x="5230368" y="5806440"/>
            <a:ext cx="1737360" cy="31089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65760"/>
            <a:ext cx="11155680" cy="658368"/>
          </a:xfrm>
          <a:prstGeom prst="rect">
            <a:avLst/>
          </a:prstGeom>
          <a:noFill/>
          <a:ln/>
        </p:spPr>
        <p:txBody>
          <a:bodyPr wrap="square" rtlCol="0"/>
          <a:lstStyle/>
          <a:p>
            <a:pPr marL="0" indent="0" algn="l">
              <a:buNone/>
            </a:pPr>
            <a:r>
              <a:rPr lang="en-US" sz="2500" b="1" dirty="0">
                <a:solidFill>
                  <a:srgbClr val="7A0019"/>
                </a:solidFill>
                <a:latin typeface="Poppins" pitchFamily="34" charset="0"/>
                <a:ea typeface="Poppins" pitchFamily="34" charset="-122"/>
                <a:cs typeface="Poppins" pitchFamily="34" charset="-120"/>
              </a:rPr>
              <a:t>Learning Outcomes</a:t>
            </a:r>
            <a:endParaRPr lang="en-US" sz="2500" dirty="0"/>
          </a:p>
        </p:txBody>
      </p:sp>
      <p:sp>
        <p:nvSpPr>
          <p:cNvPr id="3" name="Shape 1"/>
          <p:cNvSpPr/>
          <p:nvPr/>
        </p:nvSpPr>
        <p:spPr>
          <a:xfrm>
            <a:off x="521208" y="1042416"/>
            <a:ext cx="914400" cy="54864"/>
          </a:xfrm>
          <a:prstGeom prst="rect">
            <a:avLst/>
          </a:prstGeom>
          <a:solidFill>
            <a:srgbClr val="FDB71A"/>
          </a:solidFill>
          <a:ln/>
        </p:spPr>
        <p:txBody>
          <a:bodyPr/>
          <a:lstStyle/>
          <a:p>
            <a:endParaRPr lang="en-US"/>
          </a:p>
        </p:txBody>
      </p:sp>
      <p:sp>
        <p:nvSpPr>
          <p:cNvPr id="4" name="Text 2"/>
          <p:cNvSpPr/>
          <p:nvPr/>
        </p:nvSpPr>
        <p:spPr>
          <a:xfrm>
            <a:off x="502920" y="6437376"/>
            <a:ext cx="8229600" cy="274320"/>
          </a:xfrm>
          <a:prstGeom prst="rect">
            <a:avLst/>
          </a:prstGeom>
          <a:noFill/>
          <a:ln/>
        </p:spPr>
        <p:txBody>
          <a:bodyPr wrap="square" lIns="0" tIns="0" rIns="0" bIns="0" rtlCol="0" anchor="ctr"/>
          <a:lstStyle/>
          <a:p>
            <a:pPr marL="0" indent="0">
              <a:buNone/>
            </a:pPr>
            <a:r>
              <a:rPr lang="en-US" sz="900" dirty="0">
                <a:solidFill>
                  <a:srgbClr val="5A5A5A"/>
                </a:solidFill>
                <a:latin typeface="Montserrat" pitchFamily="34" charset="0"/>
                <a:ea typeface="Montserrat" pitchFamily="34" charset="-122"/>
                <a:cs typeface="Montserrat" pitchFamily="34" charset="-120"/>
              </a:rPr>
              <a:t>Information Security 2 · Unit 10 · Web Content Filtering</a:t>
            </a:r>
            <a:endParaRPr lang="en-US" sz="900" dirty="0"/>
          </a:p>
        </p:txBody>
      </p:sp>
      <p:sp>
        <p:nvSpPr>
          <p:cNvPr id="5" name="Text 3"/>
          <p:cNvSpPr/>
          <p:nvPr/>
        </p:nvSpPr>
        <p:spPr>
          <a:xfrm>
            <a:off x="11247120" y="6437376"/>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Montserrat" pitchFamily="34" charset="0"/>
                <a:ea typeface="Montserrat" pitchFamily="34" charset="-122"/>
                <a:cs typeface="Montserrat" pitchFamily="34" charset="-120"/>
              </a:rPr>
              <a:t>2</a:t>
            </a:r>
            <a:endParaRPr lang="en-US" sz="900" dirty="0"/>
          </a:p>
        </p:txBody>
      </p:sp>
      <p:sp>
        <p:nvSpPr>
          <p:cNvPr id="7" name="Text 4"/>
          <p:cNvSpPr/>
          <p:nvPr/>
        </p:nvSpPr>
        <p:spPr>
          <a:xfrm>
            <a:off x="548640" y="1371600"/>
            <a:ext cx="10972800" cy="365760"/>
          </a:xfrm>
          <a:prstGeom prst="rect">
            <a:avLst/>
          </a:prstGeom>
          <a:noFill/>
          <a:ln/>
        </p:spPr>
        <p:txBody>
          <a:bodyPr wrap="square" lIns="0" tIns="0" rIns="0" bIns="0" rtlCol="0" anchor="t"/>
          <a:lstStyle/>
          <a:p>
            <a:pPr marL="0" indent="0">
              <a:buNone/>
            </a:pPr>
            <a:r>
              <a:rPr lang="en-US" sz="1500" dirty="0">
                <a:solidFill>
                  <a:srgbClr val="5A5A5A"/>
                </a:solidFill>
                <a:latin typeface="Montserrat" pitchFamily="34" charset="0"/>
                <a:ea typeface="Montserrat" pitchFamily="34" charset="-122"/>
                <a:cs typeface="Montserrat" pitchFamily="34" charset="-120"/>
              </a:rPr>
              <a:t>By the end of this unit, you will be able to:</a:t>
            </a:r>
            <a:endParaRPr lang="en-US" sz="1500" dirty="0"/>
          </a:p>
        </p:txBody>
      </p:sp>
      <p:sp>
        <p:nvSpPr>
          <p:cNvPr id="8" name="Shape 5"/>
          <p:cNvSpPr/>
          <p:nvPr/>
        </p:nvSpPr>
        <p:spPr>
          <a:xfrm>
            <a:off x="640080" y="1847088"/>
            <a:ext cx="640080" cy="640080"/>
          </a:xfrm>
          <a:prstGeom prst="ellipse">
            <a:avLst/>
          </a:prstGeom>
          <a:solidFill>
            <a:srgbClr val="FDB71A"/>
          </a:solidFill>
          <a:ln/>
        </p:spPr>
        <p:txBody>
          <a:bodyPr/>
          <a:lstStyle/>
          <a:p>
            <a:endParaRPr lang="en-US"/>
          </a:p>
        </p:txBody>
      </p:sp>
      <p:pic>
        <p:nvPicPr>
          <p:cNvPr id="9" name="Image 0" descr="Configure web content filtering icon"/>
          <p:cNvPicPr>
            <a:picLocks noChangeAspect="1"/>
          </p:cNvPicPr>
          <p:nvPr/>
        </p:nvPicPr>
        <p:blipFill>
          <a:blip r:embed="rId3"/>
          <a:stretch>
            <a:fillRect/>
          </a:stretch>
        </p:blipFill>
        <p:spPr>
          <a:xfrm>
            <a:off x="795528" y="2002536"/>
            <a:ext cx="329184" cy="329184"/>
          </a:xfrm>
          <a:prstGeom prst="rect">
            <a:avLst/>
          </a:prstGeom>
        </p:spPr>
      </p:pic>
      <p:sp>
        <p:nvSpPr>
          <p:cNvPr id="10" name="Text 6"/>
          <p:cNvSpPr/>
          <p:nvPr/>
        </p:nvSpPr>
        <p:spPr>
          <a:xfrm>
            <a:off x="1508760" y="1828800"/>
            <a:ext cx="10058400" cy="329184"/>
          </a:xfrm>
          <a:prstGeom prst="rect">
            <a:avLst/>
          </a:prstGeom>
          <a:noFill/>
          <a:ln/>
        </p:spPr>
        <p:txBody>
          <a:bodyPr wrap="square" lIns="0" tIns="0" rIns="0" bIns="0" rtlCol="0" anchor="t"/>
          <a:lstStyle/>
          <a:p>
            <a:pPr marL="0" indent="0">
              <a:buNone/>
            </a:pPr>
            <a:r>
              <a:rPr lang="en-US" sz="1700" b="1" dirty="0">
                <a:solidFill>
                  <a:srgbClr val="7A0019"/>
                </a:solidFill>
                <a:latin typeface="Poppins" pitchFamily="34" charset="0"/>
                <a:ea typeface="Poppins" pitchFamily="34" charset="-122"/>
                <a:cs typeface="Poppins" pitchFamily="34" charset="-120"/>
              </a:rPr>
              <a:t>Configure web content filtering</a:t>
            </a:r>
            <a:endParaRPr lang="en-US" sz="1700" dirty="0"/>
          </a:p>
        </p:txBody>
      </p:sp>
      <p:sp>
        <p:nvSpPr>
          <p:cNvPr id="11" name="Text 7"/>
          <p:cNvSpPr/>
          <p:nvPr/>
        </p:nvSpPr>
        <p:spPr>
          <a:xfrm>
            <a:off x="1508760" y="2157984"/>
            <a:ext cx="10058400" cy="365760"/>
          </a:xfrm>
          <a:prstGeom prst="rect">
            <a:avLst/>
          </a:prstGeom>
          <a:noFill/>
          <a:ln/>
        </p:spPr>
        <p:txBody>
          <a:bodyPr wrap="square" lIns="0" tIns="0" rIns="0" bIns="0" rtlCol="0" anchor="t"/>
          <a:lstStyle/>
          <a:p>
            <a:pPr marL="0" indent="0">
              <a:buNone/>
            </a:pPr>
            <a:r>
              <a:rPr lang="en-US" sz="1350" dirty="0">
                <a:solidFill>
                  <a:srgbClr val="1F1A1B"/>
                </a:solidFill>
                <a:latin typeface="Montserrat" pitchFamily="34" charset="0"/>
                <a:ea typeface="Montserrat" pitchFamily="34" charset="-122"/>
                <a:cs typeface="Montserrat" pitchFamily="34" charset="-120"/>
              </a:rPr>
              <a:t>Block URL categories in Security policy rules and in URL Filtering Profiles.</a:t>
            </a:r>
            <a:endParaRPr lang="en-US" sz="1350" dirty="0"/>
          </a:p>
        </p:txBody>
      </p:sp>
      <p:sp>
        <p:nvSpPr>
          <p:cNvPr id="12" name="Shape 8"/>
          <p:cNvSpPr/>
          <p:nvPr/>
        </p:nvSpPr>
        <p:spPr>
          <a:xfrm>
            <a:off x="640080" y="2871216"/>
            <a:ext cx="640080" cy="640080"/>
          </a:xfrm>
          <a:prstGeom prst="ellipse">
            <a:avLst/>
          </a:prstGeom>
          <a:solidFill>
            <a:srgbClr val="FDB71A"/>
          </a:solidFill>
          <a:ln/>
        </p:spPr>
        <p:txBody>
          <a:bodyPr/>
          <a:lstStyle/>
          <a:p>
            <a:endParaRPr lang="en-US"/>
          </a:p>
        </p:txBody>
      </p:sp>
      <p:pic>
        <p:nvPicPr>
          <p:cNvPr id="13" name="Image 1" descr="Configure usage quotas icon"/>
          <p:cNvPicPr>
            <a:picLocks noChangeAspect="1"/>
          </p:cNvPicPr>
          <p:nvPr/>
        </p:nvPicPr>
        <p:blipFill>
          <a:blip r:embed="rId4"/>
          <a:stretch>
            <a:fillRect/>
          </a:stretch>
        </p:blipFill>
        <p:spPr>
          <a:xfrm>
            <a:off x="795528" y="3026664"/>
            <a:ext cx="329184" cy="329184"/>
          </a:xfrm>
          <a:prstGeom prst="rect">
            <a:avLst/>
          </a:prstGeom>
        </p:spPr>
      </p:pic>
      <p:sp>
        <p:nvSpPr>
          <p:cNvPr id="14" name="Text 9"/>
          <p:cNvSpPr/>
          <p:nvPr/>
        </p:nvSpPr>
        <p:spPr>
          <a:xfrm>
            <a:off x="1508760" y="2852928"/>
            <a:ext cx="10058400" cy="329184"/>
          </a:xfrm>
          <a:prstGeom prst="rect">
            <a:avLst/>
          </a:prstGeom>
          <a:noFill/>
          <a:ln/>
        </p:spPr>
        <p:txBody>
          <a:bodyPr wrap="square" lIns="0" tIns="0" rIns="0" bIns="0" rtlCol="0" anchor="t"/>
          <a:lstStyle/>
          <a:p>
            <a:pPr marL="0" indent="0">
              <a:buNone/>
            </a:pPr>
            <a:r>
              <a:rPr lang="en-US" sz="1700" b="1" dirty="0">
                <a:solidFill>
                  <a:srgbClr val="7A0019"/>
                </a:solidFill>
                <a:latin typeface="Poppins" pitchFamily="34" charset="0"/>
                <a:ea typeface="Poppins" pitchFamily="34" charset="-122"/>
                <a:cs typeface="Poppins" pitchFamily="34" charset="-120"/>
              </a:rPr>
              <a:t>Configure usage quotas</a:t>
            </a:r>
            <a:endParaRPr lang="en-US" sz="1700" dirty="0"/>
          </a:p>
        </p:txBody>
      </p:sp>
      <p:sp>
        <p:nvSpPr>
          <p:cNvPr id="15" name="Text 10"/>
          <p:cNvSpPr/>
          <p:nvPr/>
        </p:nvSpPr>
        <p:spPr>
          <a:xfrm>
            <a:off x="1508760" y="3182112"/>
            <a:ext cx="10058400" cy="365760"/>
          </a:xfrm>
          <a:prstGeom prst="rect">
            <a:avLst/>
          </a:prstGeom>
          <a:noFill/>
          <a:ln/>
        </p:spPr>
        <p:txBody>
          <a:bodyPr wrap="square" lIns="0" tIns="0" rIns="0" bIns="0" rtlCol="0" anchor="t"/>
          <a:lstStyle/>
          <a:p>
            <a:pPr marL="0" indent="0">
              <a:buNone/>
            </a:pPr>
            <a:r>
              <a:rPr lang="en-US" sz="1350" dirty="0">
                <a:solidFill>
                  <a:srgbClr val="1F1A1B"/>
                </a:solidFill>
                <a:latin typeface="Montserrat" pitchFamily="34" charset="0"/>
                <a:ea typeface="Montserrat" pitchFamily="34" charset="-122"/>
                <a:cs typeface="Montserrat" pitchFamily="34" charset="-120"/>
              </a:rPr>
              <a:t>Limit when and how much users can reach a category with timeouts, schedules, and QoS.</a:t>
            </a:r>
            <a:endParaRPr lang="en-US" sz="1350" dirty="0"/>
          </a:p>
        </p:txBody>
      </p:sp>
      <p:sp>
        <p:nvSpPr>
          <p:cNvPr id="16" name="Shape 11"/>
          <p:cNvSpPr/>
          <p:nvPr/>
        </p:nvSpPr>
        <p:spPr>
          <a:xfrm>
            <a:off x="640080" y="3895344"/>
            <a:ext cx="640080" cy="640080"/>
          </a:xfrm>
          <a:prstGeom prst="ellipse">
            <a:avLst/>
          </a:prstGeom>
          <a:solidFill>
            <a:srgbClr val="FDB71A"/>
          </a:solidFill>
          <a:ln/>
        </p:spPr>
        <p:txBody>
          <a:bodyPr/>
          <a:lstStyle/>
          <a:p>
            <a:endParaRPr lang="en-US"/>
          </a:p>
        </p:txBody>
      </p:sp>
      <p:pic>
        <p:nvPicPr>
          <p:cNvPr id="17" name="Image 2" descr="Apply a DNS filter icon"/>
          <p:cNvPicPr>
            <a:picLocks noChangeAspect="1"/>
          </p:cNvPicPr>
          <p:nvPr/>
        </p:nvPicPr>
        <p:blipFill>
          <a:blip r:embed="rId5"/>
          <a:stretch>
            <a:fillRect/>
          </a:stretch>
        </p:blipFill>
        <p:spPr>
          <a:xfrm>
            <a:off x="795528" y="4050792"/>
            <a:ext cx="329184" cy="329184"/>
          </a:xfrm>
          <a:prstGeom prst="rect">
            <a:avLst/>
          </a:prstGeom>
        </p:spPr>
      </p:pic>
      <p:sp>
        <p:nvSpPr>
          <p:cNvPr id="18" name="Text 12"/>
          <p:cNvSpPr/>
          <p:nvPr/>
        </p:nvSpPr>
        <p:spPr>
          <a:xfrm>
            <a:off x="1508760" y="3877056"/>
            <a:ext cx="10058400" cy="329184"/>
          </a:xfrm>
          <a:prstGeom prst="rect">
            <a:avLst/>
          </a:prstGeom>
          <a:noFill/>
          <a:ln/>
        </p:spPr>
        <p:txBody>
          <a:bodyPr wrap="square" lIns="0" tIns="0" rIns="0" bIns="0" rtlCol="0" anchor="t"/>
          <a:lstStyle/>
          <a:p>
            <a:pPr marL="0" indent="0">
              <a:buNone/>
            </a:pPr>
            <a:r>
              <a:rPr lang="en-US" sz="1700" b="1" dirty="0">
                <a:solidFill>
                  <a:srgbClr val="7A0019"/>
                </a:solidFill>
                <a:latin typeface="Poppins" pitchFamily="34" charset="0"/>
                <a:ea typeface="Poppins" pitchFamily="34" charset="-122"/>
                <a:cs typeface="Poppins" pitchFamily="34" charset="-120"/>
              </a:rPr>
              <a:t>Apply a DNS filter</a:t>
            </a:r>
            <a:endParaRPr lang="en-US" sz="1700" dirty="0"/>
          </a:p>
        </p:txBody>
      </p:sp>
      <p:sp>
        <p:nvSpPr>
          <p:cNvPr id="19" name="Text 13"/>
          <p:cNvSpPr/>
          <p:nvPr/>
        </p:nvSpPr>
        <p:spPr>
          <a:xfrm>
            <a:off x="1508760" y="4206240"/>
            <a:ext cx="10058400" cy="365760"/>
          </a:xfrm>
          <a:prstGeom prst="rect">
            <a:avLst/>
          </a:prstGeom>
          <a:noFill/>
          <a:ln/>
        </p:spPr>
        <p:txBody>
          <a:bodyPr wrap="square" lIns="0" tIns="0" rIns="0" bIns="0" rtlCol="0" anchor="t"/>
          <a:lstStyle/>
          <a:p>
            <a:pPr marL="0" indent="0">
              <a:buNone/>
            </a:pPr>
            <a:r>
              <a:rPr lang="en-US" sz="1350" dirty="0">
                <a:solidFill>
                  <a:srgbClr val="1F1A1B"/>
                </a:solidFill>
                <a:latin typeface="Montserrat" pitchFamily="34" charset="0"/>
                <a:ea typeface="Montserrat" pitchFamily="34" charset="-122"/>
                <a:cs typeface="Montserrat" pitchFamily="34" charset="-120"/>
              </a:rPr>
              <a:t>Use DNS Security and domain lists to stop bad lookups before a connection opens.</a:t>
            </a:r>
            <a:endParaRPr lang="en-US" sz="1350" dirty="0"/>
          </a:p>
        </p:txBody>
      </p:sp>
      <p:sp>
        <p:nvSpPr>
          <p:cNvPr id="20" name="Shape 14"/>
          <p:cNvSpPr/>
          <p:nvPr/>
        </p:nvSpPr>
        <p:spPr>
          <a:xfrm>
            <a:off x="640080" y="4919472"/>
            <a:ext cx="640080" cy="640080"/>
          </a:xfrm>
          <a:prstGeom prst="ellipse">
            <a:avLst/>
          </a:prstGeom>
          <a:solidFill>
            <a:srgbClr val="FDB71A"/>
          </a:solidFill>
          <a:ln/>
        </p:spPr>
        <p:txBody>
          <a:bodyPr/>
          <a:lstStyle/>
          <a:p>
            <a:endParaRPr lang="en-US"/>
          </a:p>
        </p:txBody>
      </p:sp>
      <p:pic>
        <p:nvPicPr>
          <p:cNvPr id="21" name="Image 3" descr="Troubleshoot filtering issues icon"/>
          <p:cNvPicPr>
            <a:picLocks noChangeAspect="1"/>
          </p:cNvPicPr>
          <p:nvPr/>
        </p:nvPicPr>
        <p:blipFill>
          <a:blip r:embed="rId6"/>
          <a:stretch>
            <a:fillRect/>
          </a:stretch>
        </p:blipFill>
        <p:spPr>
          <a:xfrm>
            <a:off x="795528" y="5074920"/>
            <a:ext cx="329184" cy="329184"/>
          </a:xfrm>
          <a:prstGeom prst="rect">
            <a:avLst/>
          </a:prstGeom>
        </p:spPr>
      </p:pic>
      <p:sp>
        <p:nvSpPr>
          <p:cNvPr id="22" name="Text 15"/>
          <p:cNvSpPr/>
          <p:nvPr/>
        </p:nvSpPr>
        <p:spPr>
          <a:xfrm>
            <a:off x="1508760" y="4901184"/>
            <a:ext cx="10058400" cy="329184"/>
          </a:xfrm>
          <a:prstGeom prst="rect">
            <a:avLst/>
          </a:prstGeom>
          <a:noFill/>
          <a:ln/>
        </p:spPr>
        <p:txBody>
          <a:bodyPr wrap="square" lIns="0" tIns="0" rIns="0" bIns="0" rtlCol="0" anchor="t"/>
          <a:lstStyle/>
          <a:p>
            <a:pPr marL="0" indent="0">
              <a:buNone/>
            </a:pPr>
            <a:r>
              <a:rPr lang="en-US" sz="1700" b="1" dirty="0">
                <a:solidFill>
                  <a:srgbClr val="7A0019"/>
                </a:solidFill>
                <a:latin typeface="Poppins" pitchFamily="34" charset="0"/>
                <a:ea typeface="Poppins" pitchFamily="34" charset="-122"/>
                <a:cs typeface="Poppins" pitchFamily="34" charset="-120"/>
              </a:rPr>
              <a:t>Troubleshoot filtering issues</a:t>
            </a:r>
            <a:endParaRPr lang="en-US" sz="1700" dirty="0"/>
          </a:p>
        </p:txBody>
      </p:sp>
      <p:sp>
        <p:nvSpPr>
          <p:cNvPr id="23" name="Text 16"/>
          <p:cNvSpPr/>
          <p:nvPr/>
        </p:nvSpPr>
        <p:spPr>
          <a:xfrm>
            <a:off x="1508760" y="5230368"/>
            <a:ext cx="10058400" cy="365760"/>
          </a:xfrm>
          <a:prstGeom prst="rect">
            <a:avLst/>
          </a:prstGeom>
          <a:noFill/>
          <a:ln/>
        </p:spPr>
        <p:txBody>
          <a:bodyPr wrap="square" lIns="0" tIns="0" rIns="0" bIns="0" rtlCol="0" anchor="t"/>
          <a:lstStyle/>
          <a:p>
            <a:pPr marL="0" indent="0">
              <a:buNone/>
            </a:pPr>
            <a:r>
              <a:rPr lang="en-US" sz="1350" dirty="0">
                <a:solidFill>
                  <a:srgbClr val="1F1A1B"/>
                </a:solidFill>
                <a:latin typeface="Montserrat" pitchFamily="34" charset="0"/>
                <a:ea typeface="Montserrat" pitchFamily="34" charset="-122"/>
                <a:cs typeface="Montserrat" pitchFamily="34" charset="-120"/>
              </a:rPr>
              <a:t>Read the logs, explain action precedence, and fix miscategorized or unresolved URLs.</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68680" y="2148840"/>
            <a:ext cx="5486400" cy="365760"/>
          </a:xfrm>
          <a:prstGeom prst="rect">
            <a:avLst/>
          </a:prstGeom>
          <a:noFill/>
          <a:ln/>
        </p:spPr>
        <p:txBody>
          <a:bodyPr wrap="square" lIns="0" tIns="0" rIns="0" bIns="0" rtlCol="0" anchor="ctr"/>
          <a:lstStyle/>
          <a:p>
            <a:pPr marL="0" indent="0">
              <a:buNone/>
            </a:pPr>
            <a:r>
              <a:rPr lang="en-US" sz="1600" b="1" kern="0" spc="300" dirty="0">
                <a:solidFill>
                  <a:srgbClr val="FDB71A"/>
                </a:solidFill>
                <a:latin typeface="Poppins" pitchFamily="34" charset="0"/>
                <a:ea typeface="Poppins" pitchFamily="34" charset="-122"/>
                <a:cs typeface="Poppins" pitchFamily="34" charset="-120"/>
              </a:rPr>
              <a:t>LESSON 1</a:t>
            </a:r>
            <a:endParaRPr lang="en-US" sz="1600" dirty="0"/>
          </a:p>
        </p:txBody>
      </p:sp>
      <p:sp>
        <p:nvSpPr>
          <p:cNvPr id="3" name="Text 0"/>
          <p:cNvSpPr>
            <a:spLocks noGrp="1"/>
          </p:cNvSpPr>
          <p:nvPr>
            <p:ph type="title" idx="100" hasCustomPrompt="1"/>
          </p:nvPr>
        </p:nvSpPr>
        <p:spPr>
          <a:xfrm>
            <a:off x="822960" y="2743200"/>
            <a:ext cx="8778240" cy="1371600"/>
          </a:xfrm>
          <a:prstGeom prst="rect">
            <a:avLst/>
          </a:prstGeom>
          <a:noFill/>
          <a:ln/>
        </p:spPr>
        <p:txBody>
          <a:bodyPr wrap="square" rtlCol="0"/>
          <a:lstStyle/>
          <a:p>
            <a:pPr marL="0" indent="0" algn="l">
              <a:buNone/>
            </a:pPr>
            <a:r>
              <a:rPr lang="en-US" sz="3800" b="1" dirty="0">
                <a:solidFill>
                  <a:srgbClr val="FFFFFF"/>
                </a:solidFill>
                <a:latin typeface="Poppins" pitchFamily="34" charset="0"/>
                <a:ea typeface="Poppins" pitchFamily="34" charset="-122"/>
                <a:cs typeface="Poppins" pitchFamily="34" charset="-120"/>
              </a:rPr>
              <a:t>How URL Filtering Works</a:t>
            </a:r>
            <a:endParaRPr lang="en-US" sz="3800" dirty="0"/>
          </a:p>
        </p:txBody>
      </p:sp>
      <p:sp>
        <p:nvSpPr>
          <p:cNvPr id="4" name="Shape 2"/>
          <p:cNvSpPr/>
          <p:nvPr/>
        </p:nvSpPr>
        <p:spPr>
          <a:xfrm>
            <a:off x="868680" y="4069080"/>
            <a:ext cx="1463040" cy="54864"/>
          </a:xfrm>
          <a:prstGeom prst="rect">
            <a:avLst/>
          </a:prstGeom>
          <a:solidFill>
            <a:srgbClr val="FDB71A"/>
          </a:solidFill>
          <a:ln/>
        </p:spPr>
        <p:txBody>
          <a:bodyPr/>
          <a:lstStyle/>
          <a:p>
            <a:endParaRPr lang="en-US"/>
          </a:p>
        </p:txBody>
      </p:sp>
      <p:sp>
        <p:nvSpPr>
          <p:cNvPr id="5" name="Shape 3"/>
          <p:cNvSpPr/>
          <p:nvPr/>
        </p:nvSpPr>
        <p:spPr>
          <a:xfrm>
            <a:off x="9784080" y="960120"/>
            <a:ext cx="1554480" cy="1554480"/>
          </a:xfrm>
          <a:prstGeom prst="ellipse">
            <a:avLst/>
          </a:prstGeom>
          <a:solidFill>
            <a:srgbClr val="FDB71A"/>
          </a:solidFill>
          <a:ln/>
        </p:spPr>
        <p:txBody>
          <a:bodyPr/>
          <a:lstStyle/>
          <a:p>
            <a:endParaRPr lang="en-US"/>
          </a:p>
        </p:txBody>
      </p:sp>
      <p:pic>
        <p:nvPicPr>
          <p:cNvPr id="6" name="Image 0" descr="How URL Filtering Works lesson icon"/>
          <p:cNvPicPr>
            <a:picLocks noChangeAspect="1"/>
          </p:cNvPicPr>
          <p:nvPr/>
        </p:nvPicPr>
        <p:blipFill>
          <a:blip r:embed="rId3"/>
          <a:stretch>
            <a:fillRect/>
          </a:stretch>
        </p:blipFill>
        <p:spPr>
          <a:xfrm>
            <a:off x="10158984" y="1335024"/>
            <a:ext cx="804672" cy="804672"/>
          </a:xfrm>
          <a:prstGeom prst="rect">
            <a:avLst/>
          </a:prstGeom>
        </p:spPr>
      </p:pic>
      <p:sp>
        <p:nvSpPr>
          <p:cNvPr id="7" name="Text 4"/>
          <p:cNvSpPr/>
          <p:nvPr/>
        </p:nvSpPr>
        <p:spPr>
          <a:xfrm>
            <a:off x="868680" y="6309360"/>
            <a:ext cx="8229600" cy="274320"/>
          </a:xfrm>
          <a:prstGeom prst="rect">
            <a:avLst/>
          </a:prstGeom>
          <a:noFill/>
          <a:ln/>
        </p:spPr>
        <p:txBody>
          <a:bodyPr wrap="square" lIns="0" tIns="0" rIns="0" bIns="0" rtlCol="0" anchor="ctr"/>
          <a:lstStyle/>
          <a:p>
            <a:pPr marL="0" indent="0">
              <a:buNone/>
            </a:pPr>
            <a:r>
              <a:rPr lang="en-US" sz="1000" dirty="0">
                <a:solidFill>
                  <a:srgbClr val="F3E7EA"/>
                </a:solidFill>
                <a:latin typeface="Montserrat" pitchFamily="34" charset="0"/>
                <a:ea typeface="Montserrat" pitchFamily="34" charset="-122"/>
                <a:cs typeface="Montserrat" pitchFamily="34" charset="-120"/>
              </a:rPr>
              <a:t>Information Security 2 · Unit 10 · Web Content Filtering</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65760"/>
            <a:ext cx="11155680" cy="658368"/>
          </a:xfrm>
          <a:prstGeom prst="rect">
            <a:avLst/>
          </a:prstGeom>
          <a:noFill/>
          <a:ln/>
        </p:spPr>
        <p:txBody>
          <a:bodyPr wrap="square" rtlCol="0"/>
          <a:lstStyle/>
          <a:p>
            <a:pPr marL="0" indent="0" algn="l">
              <a:buNone/>
            </a:pPr>
            <a:r>
              <a:rPr lang="en-US" sz="2500" b="1" dirty="0">
                <a:solidFill>
                  <a:srgbClr val="7A0019"/>
                </a:solidFill>
                <a:latin typeface="Poppins" pitchFamily="34" charset="0"/>
                <a:ea typeface="Poppins" pitchFamily="34" charset="-122"/>
                <a:cs typeface="Poppins" pitchFamily="34" charset="-120"/>
              </a:rPr>
              <a:t>Why Filter Web Traffic?</a:t>
            </a:r>
            <a:endParaRPr lang="en-US" sz="2500" dirty="0"/>
          </a:p>
        </p:txBody>
      </p:sp>
      <p:sp>
        <p:nvSpPr>
          <p:cNvPr id="3" name="Shape 1"/>
          <p:cNvSpPr/>
          <p:nvPr/>
        </p:nvSpPr>
        <p:spPr>
          <a:xfrm>
            <a:off x="521208" y="1042416"/>
            <a:ext cx="914400" cy="54864"/>
          </a:xfrm>
          <a:prstGeom prst="rect">
            <a:avLst/>
          </a:prstGeom>
          <a:solidFill>
            <a:srgbClr val="FDB71A"/>
          </a:solidFill>
          <a:ln/>
        </p:spPr>
        <p:txBody>
          <a:bodyPr/>
          <a:lstStyle/>
          <a:p>
            <a:endParaRPr lang="en-US"/>
          </a:p>
        </p:txBody>
      </p:sp>
      <p:sp>
        <p:nvSpPr>
          <p:cNvPr id="4" name="Text 2"/>
          <p:cNvSpPr/>
          <p:nvPr/>
        </p:nvSpPr>
        <p:spPr>
          <a:xfrm>
            <a:off x="502920" y="6437376"/>
            <a:ext cx="8229600" cy="274320"/>
          </a:xfrm>
          <a:prstGeom prst="rect">
            <a:avLst/>
          </a:prstGeom>
          <a:noFill/>
          <a:ln/>
        </p:spPr>
        <p:txBody>
          <a:bodyPr wrap="square" lIns="0" tIns="0" rIns="0" bIns="0" rtlCol="0" anchor="ctr"/>
          <a:lstStyle/>
          <a:p>
            <a:pPr marL="0" indent="0">
              <a:buNone/>
            </a:pPr>
            <a:r>
              <a:rPr lang="en-US" sz="900" dirty="0">
                <a:solidFill>
                  <a:srgbClr val="5A5A5A"/>
                </a:solidFill>
                <a:latin typeface="Montserrat" pitchFamily="34" charset="0"/>
                <a:ea typeface="Montserrat" pitchFamily="34" charset="-122"/>
                <a:cs typeface="Montserrat" pitchFamily="34" charset="-120"/>
              </a:rPr>
              <a:t>Information Security 2 · Unit 10 · Web Content Filtering</a:t>
            </a:r>
            <a:endParaRPr lang="en-US" sz="900" dirty="0"/>
          </a:p>
        </p:txBody>
      </p:sp>
      <p:sp>
        <p:nvSpPr>
          <p:cNvPr id="5" name="Text 3"/>
          <p:cNvSpPr/>
          <p:nvPr/>
        </p:nvSpPr>
        <p:spPr>
          <a:xfrm>
            <a:off x="11247120" y="6437376"/>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Montserrat" pitchFamily="34" charset="0"/>
                <a:ea typeface="Montserrat" pitchFamily="34" charset="-122"/>
                <a:cs typeface="Montserrat" pitchFamily="34" charset="-120"/>
              </a:rPr>
              <a:t>4</a:t>
            </a:r>
            <a:endParaRPr lang="en-US" sz="900" dirty="0"/>
          </a:p>
        </p:txBody>
      </p:sp>
      <p:sp>
        <p:nvSpPr>
          <p:cNvPr id="7" name="Text 4"/>
          <p:cNvSpPr/>
          <p:nvPr/>
        </p:nvSpPr>
        <p:spPr>
          <a:xfrm>
            <a:off x="548640" y="1371600"/>
            <a:ext cx="10972800" cy="365760"/>
          </a:xfrm>
          <a:prstGeom prst="rect">
            <a:avLst/>
          </a:prstGeom>
          <a:noFill/>
          <a:ln/>
        </p:spPr>
        <p:txBody>
          <a:bodyPr wrap="square" lIns="0" tIns="0" rIns="0" bIns="0" rtlCol="0" anchor="t"/>
          <a:lstStyle/>
          <a:p>
            <a:pPr marL="0" indent="0">
              <a:buNone/>
            </a:pPr>
            <a:r>
              <a:rPr lang="en-US" sz="1400" dirty="0">
                <a:solidFill>
                  <a:srgbClr val="5A5A5A"/>
                </a:solidFill>
                <a:latin typeface="Montserrat" pitchFamily="34" charset="0"/>
                <a:ea typeface="Montserrat" pitchFamily="34" charset="-122"/>
                <a:cs typeface="Montserrat" pitchFamily="34" charset="-120"/>
              </a:rPr>
              <a:t>Malicious and inappropriate websites are the most common way threats reach a user.</a:t>
            </a:r>
            <a:endParaRPr lang="en-US" sz="1400" dirty="0"/>
          </a:p>
        </p:txBody>
      </p:sp>
      <p:sp>
        <p:nvSpPr>
          <p:cNvPr id="8" name="Text 5"/>
          <p:cNvSpPr/>
          <p:nvPr/>
        </p:nvSpPr>
        <p:spPr>
          <a:xfrm>
            <a:off x="548640" y="1828800"/>
            <a:ext cx="6766560" cy="3291840"/>
          </a:xfrm>
          <a:prstGeom prst="rect">
            <a:avLst/>
          </a:prstGeom>
          <a:noFill/>
          <a:ln/>
        </p:spPr>
        <p:txBody>
          <a:bodyPr wrap="square" lIns="0" tIns="0" rIns="0" bIns="0" rtlCol="0" anchor="t"/>
          <a:lstStyle/>
          <a:p>
            <a:pPr marL="177800" indent="-177800">
              <a:spcAft>
                <a:spcPts val="1200"/>
              </a:spcAft>
              <a:buSzPct val="100000"/>
              <a:buChar char="•"/>
            </a:pPr>
            <a:r>
              <a:rPr lang="en-US" sz="1450" dirty="0">
                <a:solidFill>
                  <a:srgbClr val="1F1A1B"/>
                </a:solidFill>
                <a:latin typeface="Montserrat" pitchFamily="34" charset="0"/>
                <a:ea typeface="Montserrat" pitchFamily="34" charset="-122"/>
                <a:cs typeface="Montserrat" pitchFamily="34" charset="-120"/>
              </a:rPr>
              <a:t>Webpages deliver </a:t>
            </a:r>
            <a:r>
              <a:rPr lang="en-US" sz="1450" b="1" dirty="0">
                <a:solidFill>
                  <a:srgbClr val="7A0019"/>
                </a:solidFill>
                <a:latin typeface="Montserrat" pitchFamily="34" charset="0"/>
                <a:ea typeface="Montserrat" pitchFamily="34" charset="-122"/>
                <a:cs typeface="Montserrat" pitchFamily="34" charset="-120"/>
              </a:rPr>
              <a:t>phishing</a:t>
            </a:r>
            <a:r>
              <a:rPr lang="en-US" sz="1450" dirty="0">
                <a:solidFill>
                  <a:srgbClr val="1F1A1B"/>
                </a:solidFill>
                <a:latin typeface="Montserrat" pitchFamily="34" charset="0"/>
                <a:ea typeface="Montserrat" pitchFamily="34" charset="-122"/>
                <a:cs typeface="Montserrat" pitchFamily="34" charset="-120"/>
              </a:rPr>
              <a:t>, credential theft, malware, and ransomware.</a:t>
            </a:r>
            <a:endParaRPr lang="en-US" sz="1450" dirty="0"/>
          </a:p>
          <a:p>
            <a:pPr marL="177800" indent="-177800">
              <a:spcAft>
                <a:spcPts val="1200"/>
              </a:spcAft>
              <a:buSzPct val="100000"/>
              <a:buChar char="•"/>
            </a:pPr>
            <a:r>
              <a:rPr lang="en-US" sz="1450" dirty="0">
                <a:solidFill>
                  <a:srgbClr val="1F1A1B"/>
                </a:solidFill>
                <a:latin typeface="Montserrat" pitchFamily="34" charset="0"/>
                <a:ea typeface="Montserrat" pitchFamily="34" charset="-122"/>
                <a:cs typeface="Montserrat" pitchFamily="34" charset="-120"/>
              </a:rPr>
              <a:t>Attackers spin up thousands of </a:t>
            </a:r>
            <a:r>
              <a:rPr lang="en-US" sz="1450" b="1" dirty="0">
                <a:solidFill>
                  <a:srgbClr val="7A0019"/>
                </a:solidFill>
                <a:latin typeface="Montserrat" pitchFamily="34" charset="0"/>
                <a:ea typeface="Montserrat" pitchFamily="34" charset="-122"/>
                <a:cs typeface="Montserrat" pitchFamily="34" charset="-120"/>
              </a:rPr>
              <a:t>new malicious URLs</a:t>
            </a:r>
            <a:r>
              <a:rPr lang="en-US" sz="1450" dirty="0">
                <a:solidFill>
                  <a:srgbClr val="1F1A1B"/>
                </a:solidFill>
                <a:latin typeface="Montserrat" pitchFamily="34" charset="0"/>
                <a:ea typeface="Montserrat" pitchFamily="34" charset="-122"/>
                <a:cs typeface="Montserrat" pitchFamily="34" charset="-120"/>
              </a:rPr>
              <a:t> every day, faster than manual block lists can grow.</a:t>
            </a:r>
            <a:endParaRPr lang="en-US" sz="1450" dirty="0"/>
          </a:p>
          <a:p>
            <a:pPr marL="177800" indent="-177800">
              <a:spcAft>
                <a:spcPts val="1200"/>
              </a:spcAft>
              <a:buSzPct val="100000"/>
              <a:buChar char="•"/>
            </a:pPr>
            <a:r>
              <a:rPr lang="en-US" sz="1450" dirty="0">
                <a:solidFill>
                  <a:srgbClr val="1F1A1B"/>
                </a:solidFill>
                <a:latin typeface="Montserrat" pitchFamily="34" charset="0"/>
                <a:ea typeface="Montserrat" pitchFamily="34" charset="-122"/>
                <a:cs typeface="Montserrat" pitchFamily="34" charset="-120"/>
              </a:rPr>
              <a:t>Standalone proxies add a second policy set to manage and often can't see encrypted traffic.</a:t>
            </a:r>
            <a:endParaRPr lang="en-US" sz="1450" dirty="0"/>
          </a:p>
          <a:p>
            <a:pPr marL="177800" indent="-177800">
              <a:spcAft>
                <a:spcPts val="1200"/>
              </a:spcAft>
              <a:buSzPct val="100000"/>
              <a:buChar char="•"/>
            </a:pPr>
            <a:r>
              <a:rPr lang="en-US" sz="1450" b="1" dirty="0">
                <a:solidFill>
                  <a:srgbClr val="7A0019"/>
                </a:solidFill>
                <a:latin typeface="Montserrat" pitchFamily="34" charset="0"/>
                <a:ea typeface="Montserrat" pitchFamily="34" charset="-122"/>
                <a:cs typeface="Montserrat" pitchFamily="34" charset="-120"/>
              </a:rPr>
              <a:t>Advanced URL Filtering</a:t>
            </a:r>
            <a:r>
              <a:rPr lang="en-US" sz="1450" dirty="0">
                <a:solidFill>
                  <a:srgbClr val="1F1A1B"/>
                </a:solidFill>
                <a:latin typeface="Montserrat" pitchFamily="34" charset="0"/>
                <a:ea typeface="Montserrat" pitchFamily="34" charset="-122"/>
                <a:cs typeface="Montserrat" pitchFamily="34" charset="-120"/>
              </a:rPr>
              <a:t> puts web controls into the same Security policy you already use.</a:t>
            </a:r>
            <a:endParaRPr lang="en-US" sz="1450" dirty="0"/>
          </a:p>
        </p:txBody>
      </p:sp>
      <p:sp>
        <p:nvSpPr>
          <p:cNvPr id="9" name="Shape 6"/>
          <p:cNvSpPr/>
          <p:nvPr/>
        </p:nvSpPr>
        <p:spPr>
          <a:xfrm>
            <a:off x="7589520" y="1554480"/>
            <a:ext cx="4114800" cy="3657600"/>
          </a:xfrm>
          <a:prstGeom prst="roundRect">
            <a:avLst>
              <a:gd name="adj" fmla="val 500"/>
            </a:avLst>
          </a:prstGeom>
          <a:solidFill>
            <a:srgbClr val="FEF6E3"/>
          </a:solidFill>
          <a:ln/>
          <a:effectLst>
            <a:outerShdw blurRad="88900" dist="38100" dir="5400000" algn="bl" rotWithShape="0">
              <a:srgbClr val="000000">
                <a:alpha val="15000"/>
              </a:srgbClr>
            </a:outerShdw>
          </a:effectLst>
        </p:spPr>
        <p:txBody>
          <a:bodyPr/>
          <a:lstStyle/>
          <a:p>
            <a:endParaRPr lang="en-US"/>
          </a:p>
        </p:txBody>
      </p:sp>
      <p:sp>
        <p:nvSpPr>
          <p:cNvPr id="10" name="Shape 7"/>
          <p:cNvSpPr/>
          <p:nvPr/>
        </p:nvSpPr>
        <p:spPr>
          <a:xfrm>
            <a:off x="7882128" y="1828800"/>
            <a:ext cx="566928" cy="566928"/>
          </a:xfrm>
          <a:prstGeom prst="ellipse">
            <a:avLst/>
          </a:prstGeom>
          <a:solidFill>
            <a:srgbClr val="7A0019"/>
          </a:solidFill>
          <a:ln/>
        </p:spPr>
        <p:txBody>
          <a:bodyPr/>
          <a:lstStyle/>
          <a:p>
            <a:endParaRPr lang="en-US"/>
          </a:p>
        </p:txBody>
      </p:sp>
      <p:pic>
        <p:nvPicPr>
          <p:cNvPr id="11" name="Image 0" descr="Shield icon indicating a security note"/>
          <p:cNvPicPr>
            <a:picLocks noChangeAspect="1"/>
          </p:cNvPicPr>
          <p:nvPr/>
        </p:nvPicPr>
        <p:blipFill>
          <a:blip r:embed="rId3"/>
          <a:stretch>
            <a:fillRect/>
          </a:stretch>
        </p:blipFill>
        <p:spPr>
          <a:xfrm>
            <a:off x="8019288" y="1965960"/>
            <a:ext cx="292608" cy="292608"/>
          </a:xfrm>
          <a:prstGeom prst="rect">
            <a:avLst/>
          </a:prstGeom>
        </p:spPr>
      </p:pic>
      <p:sp>
        <p:nvSpPr>
          <p:cNvPr id="12" name="Text 8"/>
          <p:cNvSpPr/>
          <p:nvPr/>
        </p:nvSpPr>
        <p:spPr>
          <a:xfrm>
            <a:off x="8613648" y="1865376"/>
            <a:ext cx="2880360" cy="292608"/>
          </a:xfrm>
          <a:prstGeom prst="rect">
            <a:avLst/>
          </a:prstGeom>
          <a:noFill/>
          <a:ln/>
        </p:spPr>
        <p:txBody>
          <a:bodyPr wrap="square" lIns="0" tIns="0" rIns="0" bIns="0" rtlCol="0" anchor="ctr"/>
          <a:lstStyle/>
          <a:p>
            <a:pPr marL="0" indent="0">
              <a:buNone/>
            </a:pPr>
            <a:r>
              <a:rPr lang="en-US" sz="1200" b="1" kern="0" spc="100" dirty="0">
                <a:solidFill>
                  <a:srgbClr val="7A0019"/>
                </a:solidFill>
                <a:latin typeface="Poppins" pitchFamily="34" charset="0"/>
                <a:ea typeface="Poppins" pitchFamily="34" charset="-122"/>
                <a:cs typeface="Poppins" pitchFamily="34" charset="-120"/>
              </a:rPr>
              <a:t>SECURITY FOCUS</a:t>
            </a:r>
            <a:endParaRPr lang="en-US" sz="1200" dirty="0"/>
          </a:p>
        </p:txBody>
      </p:sp>
      <p:sp>
        <p:nvSpPr>
          <p:cNvPr id="13" name="Text 9"/>
          <p:cNvSpPr/>
          <p:nvPr/>
        </p:nvSpPr>
        <p:spPr>
          <a:xfrm>
            <a:off x="8613648" y="2267712"/>
            <a:ext cx="2788920" cy="1938528"/>
          </a:xfrm>
          <a:prstGeom prst="rect">
            <a:avLst/>
          </a:prstGeom>
          <a:noFill/>
          <a:ln/>
        </p:spPr>
        <p:txBody>
          <a:bodyPr wrap="square" lIns="0" tIns="0" rIns="0" bIns="0" rtlCol="0" anchor="t"/>
          <a:lstStyle/>
          <a:p>
            <a:pPr marL="0" indent="0">
              <a:spcAft>
                <a:spcPts val="800"/>
              </a:spcAft>
              <a:buNone/>
            </a:pPr>
            <a:r>
              <a:rPr lang="en-US" sz="1350" dirty="0">
                <a:solidFill>
                  <a:srgbClr val="1F1A1B"/>
                </a:solidFill>
                <a:latin typeface="Montserrat" pitchFamily="34" charset="0"/>
                <a:ea typeface="Montserrat" pitchFamily="34" charset="-122"/>
                <a:cs typeface="Montserrat" pitchFamily="34" charset="-120"/>
              </a:rPr>
              <a:t>URL filtering sits at the Delivery and Command-and-Control stages of the attack lifecycle. It stops the user from reaching the site and stops infected hosts from calling home.</a:t>
            </a:r>
            <a:endParaRPr lang="en-US" sz="1350" dirty="0"/>
          </a:p>
        </p:txBody>
      </p:sp>
      <p:sp>
        <p:nvSpPr>
          <p:cNvPr id="14" name="Text 10"/>
          <p:cNvSpPr/>
          <p:nvPr/>
        </p:nvSpPr>
        <p:spPr>
          <a:xfrm>
            <a:off x="8613648" y="4297680"/>
            <a:ext cx="2788920" cy="868680"/>
          </a:xfrm>
          <a:prstGeom prst="rect">
            <a:avLst/>
          </a:prstGeom>
          <a:noFill/>
          <a:ln/>
        </p:spPr>
        <p:txBody>
          <a:bodyPr wrap="square" lIns="0" tIns="0" rIns="0" bIns="0" rtlCol="0" anchor="t"/>
          <a:lstStyle/>
          <a:p>
            <a:pPr marL="0" indent="0">
              <a:buNone/>
            </a:pPr>
            <a:r>
              <a:rPr lang="en-US" sz="1250" b="1" dirty="0">
                <a:solidFill>
                  <a:srgbClr val="5E0013"/>
                </a:solidFill>
                <a:latin typeface="Montserrat" pitchFamily="34" charset="0"/>
                <a:ea typeface="Montserrat" pitchFamily="34" charset="-122"/>
                <a:cs typeface="Montserrat" pitchFamily="34" charset="-120"/>
              </a:rPr>
              <a:t>Why it matters: </a:t>
            </a:r>
            <a:r>
              <a:rPr lang="en-US" sz="1250" dirty="0">
                <a:solidFill>
                  <a:srgbClr val="5E0013"/>
                </a:solidFill>
                <a:latin typeface="Montserrat" pitchFamily="34" charset="0"/>
                <a:ea typeface="Montserrat" pitchFamily="34" charset="-122"/>
                <a:cs typeface="Montserrat" pitchFamily="34" charset="-120"/>
              </a:rPr>
              <a:t>One blocked visit to a phishing page can keep a whole network from being compromised.</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65760"/>
            <a:ext cx="11155680" cy="658368"/>
          </a:xfrm>
          <a:prstGeom prst="rect">
            <a:avLst/>
          </a:prstGeom>
          <a:noFill/>
          <a:ln/>
        </p:spPr>
        <p:txBody>
          <a:bodyPr wrap="square" rtlCol="0"/>
          <a:lstStyle/>
          <a:p>
            <a:pPr marL="0" indent="0" algn="l">
              <a:buNone/>
            </a:pPr>
            <a:r>
              <a:rPr lang="en-US" sz="2500" b="1" dirty="0">
                <a:solidFill>
                  <a:srgbClr val="7A0019"/>
                </a:solidFill>
                <a:latin typeface="Poppins" pitchFamily="34" charset="0"/>
                <a:ea typeface="Poppins" pitchFamily="34" charset="-122"/>
                <a:cs typeface="Poppins" pitchFamily="34" charset="-120"/>
              </a:rPr>
              <a:t>PAN-DB and URL Categories</a:t>
            </a:r>
            <a:endParaRPr lang="en-US" sz="2500" dirty="0"/>
          </a:p>
        </p:txBody>
      </p:sp>
      <p:sp>
        <p:nvSpPr>
          <p:cNvPr id="3" name="Shape 1"/>
          <p:cNvSpPr/>
          <p:nvPr/>
        </p:nvSpPr>
        <p:spPr>
          <a:xfrm>
            <a:off x="521208" y="1042416"/>
            <a:ext cx="914400" cy="54864"/>
          </a:xfrm>
          <a:prstGeom prst="rect">
            <a:avLst/>
          </a:prstGeom>
          <a:solidFill>
            <a:srgbClr val="FDB71A"/>
          </a:solidFill>
          <a:ln/>
        </p:spPr>
        <p:txBody>
          <a:bodyPr/>
          <a:lstStyle/>
          <a:p>
            <a:endParaRPr lang="en-US"/>
          </a:p>
        </p:txBody>
      </p:sp>
      <p:sp>
        <p:nvSpPr>
          <p:cNvPr id="4" name="Text 2"/>
          <p:cNvSpPr/>
          <p:nvPr/>
        </p:nvSpPr>
        <p:spPr>
          <a:xfrm>
            <a:off x="502920" y="6437376"/>
            <a:ext cx="8229600" cy="274320"/>
          </a:xfrm>
          <a:prstGeom prst="rect">
            <a:avLst/>
          </a:prstGeom>
          <a:noFill/>
          <a:ln/>
        </p:spPr>
        <p:txBody>
          <a:bodyPr wrap="square" lIns="0" tIns="0" rIns="0" bIns="0" rtlCol="0" anchor="ctr"/>
          <a:lstStyle/>
          <a:p>
            <a:pPr marL="0" indent="0">
              <a:buNone/>
            </a:pPr>
            <a:r>
              <a:rPr lang="en-US" sz="900" dirty="0">
                <a:solidFill>
                  <a:srgbClr val="5A5A5A"/>
                </a:solidFill>
                <a:latin typeface="Montserrat" pitchFamily="34" charset="0"/>
                <a:ea typeface="Montserrat" pitchFamily="34" charset="-122"/>
                <a:cs typeface="Montserrat" pitchFamily="34" charset="-120"/>
              </a:rPr>
              <a:t>Information Security 2 · Unit 10 · Web Content Filtering</a:t>
            </a:r>
            <a:endParaRPr lang="en-US" sz="900" dirty="0"/>
          </a:p>
        </p:txBody>
      </p:sp>
      <p:sp>
        <p:nvSpPr>
          <p:cNvPr id="5" name="Text 3"/>
          <p:cNvSpPr/>
          <p:nvPr/>
        </p:nvSpPr>
        <p:spPr>
          <a:xfrm>
            <a:off x="11247120" y="6437376"/>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Montserrat" pitchFamily="34" charset="0"/>
                <a:ea typeface="Montserrat" pitchFamily="34" charset="-122"/>
                <a:cs typeface="Montserrat" pitchFamily="34" charset="-120"/>
              </a:rPr>
              <a:t>5</a:t>
            </a:r>
            <a:endParaRPr lang="en-US" sz="900" dirty="0"/>
          </a:p>
        </p:txBody>
      </p:sp>
      <p:sp>
        <p:nvSpPr>
          <p:cNvPr id="7" name="Text 4"/>
          <p:cNvSpPr/>
          <p:nvPr/>
        </p:nvSpPr>
        <p:spPr>
          <a:xfrm>
            <a:off x="548640" y="1371600"/>
            <a:ext cx="10972800" cy="365760"/>
          </a:xfrm>
          <a:prstGeom prst="rect">
            <a:avLst/>
          </a:prstGeom>
          <a:noFill/>
          <a:ln/>
        </p:spPr>
        <p:txBody>
          <a:bodyPr wrap="square" lIns="0" tIns="0" rIns="0" bIns="0" rtlCol="0" anchor="t"/>
          <a:lstStyle/>
          <a:p>
            <a:pPr marL="0" indent="0">
              <a:buNone/>
            </a:pPr>
            <a:r>
              <a:rPr lang="en-US" sz="1400" dirty="0">
                <a:solidFill>
                  <a:srgbClr val="5A5A5A"/>
                </a:solidFill>
                <a:latin typeface="Montserrat" pitchFamily="34" charset="0"/>
                <a:ea typeface="Montserrat" pitchFamily="34" charset="-122"/>
                <a:cs typeface="Montserrat" pitchFamily="34" charset="-120"/>
              </a:rPr>
              <a:t>The firewall sorts every website into categories, then you write policy against the categories.</a:t>
            </a:r>
            <a:endParaRPr lang="en-US" sz="1400" dirty="0"/>
          </a:p>
        </p:txBody>
      </p:sp>
      <p:sp>
        <p:nvSpPr>
          <p:cNvPr id="8" name="Text 5"/>
          <p:cNvSpPr/>
          <p:nvPr/>
        </p:nvSpPr>
        <p:spPr>
          <a:xfrm>
            <a:off x="548640" y="1828800"/>
            <a:ext cx="6766560" cy="3291840"/>
          </a:xfrm>
          <a:prstGeom prst="rect">
            <a:avLst/>
          </a:prstGeom>
          <a:noFill/>
          <a:ln/>
        </p:spPr>
        <p:txBody>
          <a:bodyPr wrap="square" lIns="0" tIns="0" rIns="0" bIns="0" rtlCol="0" anchor="t"/>
          <a:lstStyle/>
          <a:p>
            <a:pPr marL="177800" indent="-177800">
              <a:spcAft>
                <a:spcPts val="1200"/>
              </a:spcAft>
              <a:buSzPct val="100000"/>
              <a:buChar char="•"/>
            </a:pPr>
            <a:r>
              <a:rPr lang="en-US" sz="1450" b="1" dirty="0">
                <a:solidFill>
                  <a:srgbClr val="7A0019"/>
                </a:solidFill>
                <a:latin typeface="Montserrat" pitchFamily="34" charset="0"/>
                <a:ea typeface="Montserrat" pitchFamily="34" charset="-122"/>
                <a:cs typeface="Montserrat" pitchFamily="34" charset="-120"/>
              </a:rPr>
              <a:t>PAN-DB</a:t>
            </a:r>
            <a:r>
              <a:rPr lang="en-US" sz="1450" dirty="0">
                <a:solidFill>
                  <a:srgbClr val="1F1A1B"/>
                </a:solidFill>
                <a:latin typeface="Montserrat" pitchFamily="34" charset="0"/>
                <a:ea typeface="Montserrat" pitchFamily="34" charset="-122"/>
                <a:cs typeface="Montserrat" pitchFamily="34" charset="-120"/>
              </a:rPr>
              <a:t> is Palo Alto Networks' cloud URL database. It requires an </a:t>
            </a:r>
            <a:r>
              <a:rPr lang="en-US" sz="1450" b="1" dirty="0">
                <a:solidFill>
                  <a:srgbClr val="7A0019"/>
                </a:solidFill>
                <a:latin typeface="Montserrat" pitchFamily="34" charset="0"/>
                <a:ea typeface="Montserrat" pitchFamily="34" charset="-122"/>
                <a:cs typeface="Montserrat" pitchFamily="34" charset="-120"/>
              </a:rPr>
              <a:t>Advanced URL Filtering license</a:t>
            </a:r>
            <a:r>
              <a:rPr lang="en-US" sz="1450" dirty="0">
                <a:solidFill>
                  <a:srgbClr val="1F1A1B"/>
                </a:solidFill>
                <a:latin typeface="Montserrat" pitchFamily="34" charset="0"/>
                <a:ea typeface="Montserrat" pitchFamily="34" charset="-122"/>
                <a:cs typeface="Montserrat" pitchFamily="34" charset="-120"/>
              </a:rPr>
              <a:t>.</a:t>
            </a:r>
            <a:endParaRPr lang="en-US" sz="1450" dirty="0"/>
          </a:p>
          <a:p>
            <a:pPr marL="177800" indent="-177800">
              <a:spcAft>
                <a:spcPts val="1200"/>
              </a:spcAft>
              <a:buSzPct val="100000"/>
              <a:buChar char="•"/>
            </a:pPr>
            <a:r>
              <a:rPr lang="en-US" sz="1450" dirty="0">
                <a:solidFill>
                  <a:srgbClr val="1F1A1B"/>
                </a:solidFill>
                <a:latin typeface="Montserrat" pitchFamily="34" charset="0"/>
                <a:ea typeface="Montserrat" pitchFamily="34" charset="-122"/>
                <a:cs typeface="Montserrat" pitchFamily="34" charset="-120"/>
              </a:rPr>
              <a:t>The firewall checks its </a:t>
            </a:r>
            <a:r>
              <a:rPr lang="en-US" sz="1450" b="1" dirty="0">
                <a:solidFill>
                  <a:srgbClr val="7A0019"/>
                </a:solidFill>
                <a:latin typeface="Montserrat" pitchFamily="34" charset="0"/>
                <a:ea typeface="Montserrat" pitchFamily="34" charset="-122"/>
                <a:cs typeface="Montserrat" pitchFamily="34" charset="-120"/>
              </a:rPr>
              <a:t>local cache</a:t>
            </a:r>
            <a:r>
              <a:rPr lang="en-US" sz="1450" dirty="0">
                <a:solidFill>
                  <a:srgbClr val="1F1A1B"/>
                </a:solidFill>
                <a:latin typeface="Montserrat" pitchFamily="34" charset="0"/>
                <a:ea typeface="Montserrat" pitchFamily="34" charset="-122"/>
                <a:cs typeface="Montserrat" pitchFamily="34" charset="-120"/>
              </a:rPr>
              <a:t> first, then queries the cloud and caches the answer.</a:t>
            </a:r>
            <a:endParaRPr lang="en-US" sz="1450" dirty="0"/>
          </a:p>
          <a:p>
            <a:pPr marL="177800" indent="-177800">
              <a:spcAft>
                <a:spcPts val="1200"/>
              </a:spcAft>
              <a:buSzPct val="100000"/>
              <a:buChar char="•"/>
            </a:pPr>
            <a:r>
              <a:rPr lang="en-US" sz="1450" dirty="0">
                <a:solidFill>
                  <a:srgbClr val="1F1A1B"/>
                </a:solidFill>
                <a:latin typeface="Montserrat" pitchFamily="34" charset="0"/>
                <a:ea typeface="Montserrat" pitchFamily="34" charset="-122"/>
                <a:cs typeface="Montserrat" pitchFamily="34" charset="-120"/>
              </a:rPr>
              <a:t>A site can carry up to four categories: content (</a:t>
            </a:r>
            <a:r>
              <a:rPr lang="en-US" sz="1450" dirty="0">
                <a:solidFill>
                  <a:srgbClr val="5E0013"/>
                </a:solidFill>
                <a:latin typeface="Courier New" pitchFamily="34" charset="0"/>
                <a:ea typeface="Courier New" pitchFamily="34" charset="-122"/>
                <a:cs typeface="Courier New" pitchFamily="34" charset="-120"/>
              </a:rPr>
              <a:t>news</a:t>
            </a:r>
            <a:r>
              <a:rPr lang="en-US" sz="1450" dirty="0">
                <a:solidFill>
                  <a:srgbClr val="1F1A1B"/>
                </a:solidFill>
                <a:latin typeface="Montserrat" pitchFamily="34" charset="0"/>
                <a:ea typeface="Montserrat" pitchFamily="34" charset="-122"/>
                <a:cs typeface="Montserrat" pitchFamily="34" charset="-120"/>
              </a:rPr>
              <a:t>), plus a </a:t>
            </a:r>
            <a:r>
              <a:rPr lang="en-US" sz="1450" b="1" dirty="0">
                <a:solidFill>
                  <a:srgbClr val="7A0019"/>
                </a:solidFill>
                <a:latin typeface="Montserrat" pitchFamily="34" charset="0"/>
                <a:ea typeface="Montserrat" pitchFamily="34" charset="-122"/>
                <a:cs typeface="Montserrat" pitchFamily="34" charset="-120"/>
              </a:rPr>
              <a:t>risk category</a:t>
            </a:r>
            <a:r>
              <a:rPr lang="en-US" sz="1450" dirty="0">
                <a:solidFill>
                  <a:srgbClr val="1F1A1B"/>
                </a:solidFill>
                <a:latin typeface="Montserrat" pitchFamily="34" charset="0"/>
                <a:ea typeface="Montserrat" pitchFamily="34" charset="-122"/>
                <a:cs typeface="Montserrat" pitchFamily="34" charset="-120"/>
              </a:rPr>
              <a:t>.</a:t>
            </a:r>
            <a:endParaRPr lang="en-US" sz="1450" dirty="0"/>
          </a:p>
          <a:p>
            <a:pPr marL="177800" indent="-177800">
              <a:spcAft>
                <a:spcPts val="1200"/>
              </a:spcAft>
              <a:buSzPct val="100000"/>
              <a:buChar char="•"/>
            </a:pPr>
            <a:r>
              <a:rPr lang="en-US" sz="1450" b="1" dirty="0">
                <a:solidFill>
                  <a:srgbClr val="7A0019"/>
                </a:solidFill>
                <a:latin typeface="Montserrat" pitchFamily="34" charset="0"/>
                <a:ea typeface="Montserrat" pitchFamily="34" charset="-122"/>
                <a:cs typeface="Montserrat" pitchFamily="34" charset="-120"/>
              </a:rPr>
              <a:t>Custom URL categories</a:t>
            </a:r>
            <a:r>
              <a:rPr lang="en-US" sz="1450" dirty="0">
                <a:solidFill>
                  <a:srgbClr val="1F1A1B"/>
                </a:solidFill>
                <a:latin typeface="Montserrat" pitchFamily="34" charset="0"/>
                <a:ea typeface="Montserrat" pitchFamily="34" charset="-122"/>
                <a:cs typeface="Montserrat" pitchFamily="34" charset="-120"/>
              </a:rPr>
              <a:t> are yours to define, and they work without a license.</a:t>
            </a:r>
            <a:endParaRPr lang="en-US" sz="1450" dirty="0"/>
          </a:p>
        </p:txBody>
      </p:sp>
      <p:sp>
        <p:nvSpPr>
          <p:cNvPr id="9" name="Shape 6"/>
          <p:cNvSpPr/>
          <p:nvPr/>
        </p:nvSpPr>
        <p:spPr>
          <a:xfrm>
            <a:off x="7589520" y="1612848"/>
            <a:ext cx="4069080" cy="3200400"/>
          </a:xfrm>
          <a:prstGeom prst="roundRect">
            <a:avLst>
              <a:gd name="adj" fmla="val 571"/>
            </a:avLst>
          </a:prstGeom>
          <a:solidFill>
            <a:srgbClr val="FBF1F3"/>
          </a:solidFill>
          <a:ln/>
          <a:effectLst>
            <a:outerShdw blurRad="88900" dist="38100" dir="5400000" algn="bl" rotWithShape="0">
              <a:srgbClr val="000000">
                <a:alpha val="15000"/>
              </a:srgbClr>
            </a:outerShdw>
          </a:effectLst>
        </p:spPr>
        <p:txBody>
          <a:bodyPr/>
          <a:lstStyle/>
          <a:p>
            <a:endParaRPr lang="en-US"/>
          </a:p>
        </p:txBody>
      </p:sp>
      <p:sp>
        <p:nvSpPr>
          <p:cNvPr id="10" name="Shape 7"/>
          <p:cNvSpPr/>
          <p:nvPr/>
        </p:nvSpPr>
        <p:spPr>
          <a:xfrm>
            <a:off x="7909560" y="1828800"/>
            <a:ext cx="640080" cy="640080"/>
          </a:xfrm>
          <a:prstGeom prst="ellipse">
            <a:avLst/>
          </a:prstGeom>
          <a:solidFill>
            <a:srgbClr val="7A0019"/>
          </a:solidFill>
          <a:ln/>
        </p:spPr>
        <p:txBody>
          <a:bodyPr/>
          <a:lstStyle/>
          <a:p>
            <a:endParaRPr lang="en-US"/>
          </a:p>
        </p:txBody>
      </p:sp>
      <p:pic>
        <p:nvPicPr>
          <p:cNvPr id="11" name="Image 0" descr="Where categories work icon"/>
          <p:cNvPicPr>
            <a:picLocks noChangeAspect="1"/>
          </p:cNvPicPr>
          <p:nvPr/>
        </p:nvPicPr>
        <p:blipFill>
          <a:blip r:embed="rId3"/>
          <a:stretch>
            <a:fillRect/>
          </a:stretch>
        </p:blipFill>
        <p:spPr>
          <a:xfrm>
            <a:off x="8065008" y="1984248"/>
            <a:ext cx="329184" cy="329184"/>
          </a:xfrm>
          <a:prstGeom prst="rect">
            <a:avLst/>
          </a:prstGeom>
        </p:spPr>
      </p:pic>
      <p:sp>
        <p:nvSpPr>
          <p:cNvPr id="12" name="Text 8"/>
          <p:cNvSpPr/>
          <p:nvPr/>
        </p:nvSpPr>
        <p:spPr>
          <a:xfrm>
            <a:off x="8686800" y="1874520"/>
            <a:ext cx="2743200" cy="548640"/>
          </a:xfrm>
          <a:prstGeom prst="rect">
            <a:avLst/>
          </a:prstGeom>
          <a:noFill/>
          <a:ln/>
        </p:spPr>
        <p:txBody>
          <a:bodyPr wrap="square" lIns="0" tIns="0" rIns="0" bIns="0" rtlCol="0" anchor="t"/>
          <a:lstStyle/>
          <a:p>
            <a:pPr marL="0" indent="0">
              <a:buNone/>
            </a:pPr>
            <a:r>
              <a:rPr lang="en-US" sz="1350" b="1" dirty="0">
                <a:solidFill>
                  <a:srgbClr val="7A0019"/>
                </a:solidFill>
                <a:latin typeface="Poppins" pitchFamily="34" charset="0"/>
                <a:ea typeface="Poppins" pitchFamily="34" charset="-122"/>
                <a:cs typeface="Poppins" pitchFamily="34" charset="-120"/>
              </a:rPr>
              <a:t>Where categories work</a:t>
            </a:r>
            <a:endParaRPr lang="en-US" sz="1350" dirty="0"/>
          </a:p>
        </p:txBody>
      </p:sp>
      <p:sp>
        <p:nvSpPr>
          <p:cNvPr id="13" name="Text 9"/>
          <p:cNvSpPr/>
          <p:nvPr/>
        </p:nvSpPr>
        <p:spPr>
          <a:xfrm>
            <a:off x="7818120" y="2697480"/>
            <a:ext cx="3611880" cy="1783080"/>
          </a:xfrm>
          <a:prstGeom prst="rect">
            <a:avLst/>
          </a:prstGeom>
          <a:noFill/>
          <a:ln/>
        </p:spPr>
        <p:txBody>
          <a:bodyPr wrap="square" lIns="0" tIns="0" rIns="0" bIns="0" rtlCol="0" anchor="t"/>
          <a:lstStyle/>
          <a:p>
            <a:pPr marL="0" indent="0">
              <a:spcAft>
                <a:spcPts val="800"/>
              </a:spcAft>
              <a:buNone/>
            </a:pPr>
            <a:r>
              <a:rPr lang="en-US" sz="1300" dirty="0">
                <a:solidFill>
                  <a:srgbClr val="1F1A1B"/>
                </a:solidFill>
                <a:latin typeface="Montserrat" pitchFamily="34" charset="0"/>
                <a:ea typeface="Montserrat" pitchFamily="34" charset="-122"/>
                <a:cs typeface="Montserrat" pitchFamily="34" charset="-120"/>
              </a:rPr>
              <a:t>Security policy</a:t>
            </a:r>
            <a:endParaRPr lang="en-US" sz="1300" dirty="0"/>
          </a:p>
          <a:p>
            <a:pPr marL="0" indent="0">
              <a:spcAft>
                <a:spcPts val="800"/>
              </a:spcAft>
              <a:buNone/>
            </a:pPr>
            <a:r>
              <a:rPr lang="en-US" sz="1300" dirty="0">
                <a:solidFill>
                  <a:srgbClr val="1F1A1B"/>
                </a:solidFill>
                <a:latin typeface="Montserrat" pitchFamily="34" charset="0"/>
                <a:ea typeface="Montserrat" pitchFamily="34" charset="-122"/>
                <a:cs typeface="Montserrat" pitchFamily="34" charset="-120"/>
              </a:rPr>
              <a:t>Decryption policy</a:t>
            </a:r>
            <a:endParaRPr lang="en-US" sz="1300" dirty="0"/>
          </a:p>
          <a:p>
            <a:pPr marL="0" indent="0">
              <a:spcAft>
                <a:spcPts val="800"/>
              </a:spcAft>
              <a:buNone/>
            </a:pPr>
            <a:r>
              <a:rPr lang="en-US" sz="1300" dirty="0">
                <a:solidFill>
                  <a:srgbClr val="1F1A1B"/>
                </a:solidFill>
                <a:latin typeface="Montserrat" pitchFamily="34" charset="0"/>
                <a:ea typeface="Montserrat" pitchFamily="34" charset="-122"/>
                <a:cs typeface="Montserrat" pitchFamily="34" charset="-120"/>
              </a:rPr>
              <a:t>QoS policy</a:t>
            </a:r>
            <a:endParaRPr lang="en-US" sz="1300" dirty="0"/>
          </a:p>
          <a:p>
            <a:pPr marL="0" indent="0">
              <a:spcAft>
                <a:spcPts val="800"/>
              </a:spcAft>
              <a:buNone/>
            </a:pPr>
            <a:r>
              <a:rPr lang="en-US" sz="1300" dirty="0">
                <a:solidFill>
                  <a:srgbClr val="1F1A1B"/>
                </a:solidFill>
                <a:latin typeface="Montserrat" pitchFamily="34" charset="0"/>
                <a:ea typeface="Montserrat" pitchFamily="34" charset="-122"/>
                <a:cs typeface="Montserrat" pitchFamily="34" charset="-120"/>
              </a:rPr>
              <a:t>Authentication policy</a:t>
            </a:r>
            <a:endParaRPr lang="en-US" sz="1300" dirty="0"/>
          </a:p>
          <a:p>
            <a:pPr marL="0" indent="0">
              <a:spcAft>
                <a:spcPts val="800"/>
              </a:spcAft>
              <a:buNone/>
            </a:pPr>
            <a:r>
              <a:rPr lang="en-US" sz="1300" dirty="0">
                <a:solidFill>
                  <a:srgbClr val="1F1A1B"/>
                </a:solidFill>
                <a:latin typeface="Montserrat" pitchFamily="34" charset="0"/>
                <a:ea typeface="Montserrat" pitchFamily="34" charset="-122"/>
                <a:cs typeface="Montserrat" pitchFamily="34" charset="-120"/>
              </a:rPr>
              <a:t>URL Filtering Profiles</a:t>
            </a:r>
            <a:endParaRPr lang="en-US" sz="1300" dirty="0"/>
          </a:p>
        </p:txBody>
      </p:sp>
      <p:sp>
        <p:nvSpPr>
          <p:cNvPr id="14" name="Text 10"/>
          <p:cNvSpPr/>
          <p:nvPr/>
        </p:nvSpPr>
        <p:spPr>
          <a:xfrm>
            <a:off x="548640" y="5120640"/>
            <a:ext cx="10972800" cy="365760"/>
          </a:xfrm>
          <a:prstGeom prst="rect">
            <a:avLst/>
          </a:prstGeom>
          <a:noFill/>
          <a:ln/>
        </p:spPr>
        <p:txBody>
          <a:bodyPr wrap="square" lIns="0" tIns="0" rIns="0" bIns="0" rtlCol="0" anchor="t"/>
          <a:lstStyle/>
          <a:p>
            <a:pPr marL="0" indent="0">
              <a:buNone/>
            </a:pPr>
            <a:r>
              <a:rPr lang="en-US" sz="1250" i="1" dirty="0">
                <a:solidFill>
                  <a:srgbClr val="5A5A5A"/>
                </a:solidFill>
                <a:latin typeface="Montserrat" pitchFamily="34" charset="0"/>
                <a:ea typeface="Montserrat" pitchFamily="34" charset="-122"/>
                <a:cs typeface="Montserrat" pitchFamily="34" charset="-120"/>
              </a:rPr>
              <a:t>Categories can match HTTPS without decryption: the hostname is visible in the TLS handshake.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65760"/>
            <a:ext cx="11155680" cy="658368"/>
          </a:xfrm>
          <a:prstGeom prst="rect">
            <a:avLst/>
          </a:prstGeom>
          <a:noFill/>
          <a:ln/>
        </p:spPr>
        <p:txBody>
          <a:bodyPr wrap="square" rtlCol="0"/>
          <a:lstStyle/>
          <a:p>
            <a:pPr marL="0" indent="0" algn="l">
              <a:buNone/>
            </a:pPr>
            <a:r>
              <a:rPr lang="en-US" sz="2500" b="1" dirty="0">
                <a:solidFill>
                  <a:srgbClr val="7A0019"/>
                </a:solidFill>
                <a:latin typeface="Poppins" pitchFamily="34" charset="0"/>
                <a:ea typeface="Poppins" pitchFamily="34" charset="-122"/>
                <a:cs typeface="Poppins" pitchFamily="34" charset="-120"/>
              </a:rPr>
              <a:t>Risk and Security Categories</a:t>
            </a:r>
            <a:endParaRPr lang="en-US" sz="2500" dirty="0"/>
          </a:p>
        </p:txBody>
      </p:sp>
      <p:sp>
        <p:nvSpPr>
          <p:cNvPr id="3" name="Shape 1"/>
          <p:cNvSpPr/>
          <p:nvPr/>
        </p:nvSpPr>
        <p:spPr>
          <a:xfrm>
            <a:off x="521208" y="1042416"/>
            <a:ext cx="914400" cy="54864"/>
          </a:xfrm>
          <a:prstGeom prst="rect">
            <a:avLst/>
          </a:prstGeom>
          <a:solidFill>
            <a:srgbClr val="FDB71A"/>
          </a:solidFill>
          <a:ln/>
        </p:spPr>
        <p:txBody>
          <a:bodyPr/>
          <a:lstStyle/>
          <a:p>
            <a:endParaRPr lang="en-US"/>
          </a:p>
        </p:txBody>
      </p:sp>
      <p:sp>
        <p:nvSpPr>
          <p:cNvPr id="4" name="Text 2"/>
          <p:cNvSpPr/>
          <p:nvPr/>
        </p:nvSpPr>
        <p:spPr>
          <a:xfrm>
            <a:off x="502920" y="6437376"/>
            <a:ext cx="8229600" cy="274320"/>
          </a:xfrm>
          <a:prstGeom prst="rect">
            <a:avLst/>
          </a:prstGeom>
          <a:noFill/>
          <a:ln/>
        </p:spPr>
        <p:txBody>
          <a:bodyPr wrap="square" lIns="0" tIns="0" rIns="0" bIns="0" rtlCol="0" anchor="ctr"/>
          <a:lstStyle/>
          <a:p>
            <a:pPr marL="0" indent="0">
              <a:buNone/>
            </a:pPr>
            <a:r>
              <a:rPr lang="en-US" sz="900" dirty="0">
                <a:solidFill>
                  <a:srgbClr val="5A5A5A"/>
                </a:solidFill>
                <a:latin typeface="Montserrat" pitchFamily="34" charset="0"/>
                <a:ea typeface="Montserrat" pitchFamily="34" charset="-122"/>
                <a:cs typeface="Montserrat" pitchFamily="34" charset="-120"/>
              </a:rPr>
              <a:t>Information Security 2 · Unit 10 · Web Content Filtering</a:t>
            </a:r>
            <a:endParaRPr lang="en-US" sz="900" dirty="0"/>
          </a:p>
        </p:txBody>
      </p:sp>
      <p:sp>
        <p:nvSpPr>
          <p:cNvPr id="5" name="Text 3"/>
          <p:cNvSpPr/>
          <p:nvPr/>
        </p:nvSpPr>
        <p:spPr>
          <a:xfrm>
            <a:off x="11247120" y="6437376"/>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Montserrat" pitchFamily="34" charset="0"/>
                <a:ea typeface="Montserrat" pitchFamily="34" charset="-122"/>
                <a:cs typeface="Montserrat" pitchFamily="34" charset="-120"/>
              </a:rPr>
              <a:t>6</a:t>
            </a:r>
            <a:endParaRPr lang="en-US" sz="900" dirty="0"/>
          </a:p>
        </p:txBody>
      </p:sp>
      <p:sp>
        <p:nvSpPr>
          <p:cNvPr id="7" name="Text 4"/>
          <p:cNvSpPr/>
          <p:nvPr/>
        </p:nvSpPr>
        <p:spPr>
          <a:xfrm>
            <a:off x="548640" y="1371600"/>
            <a:ext cx="10972800" cy="365760"/>
          </a:xfrm>
          <a:prstGeom prst="rect">
            <a:avLst/>
          </a:prstGeom>
          <a:noFill/>
          <a:ln/>
        </p:spPr>
        <p:txBody>
          <a:bodyPr wrap="square" lIns="0" tIns="0" rIns="0" bIns="0" rtlCol="0" anchor="t"/>
          <a:lstStyle/>
          <a:p>
            <a:pPr marL="0" indent="0">
              <a:buNone/>
            </a:pPr>
            <a:r>
              <a:rPr lang="en-US" sz="1400" dirty="0">
                <a:solidFill>
                  <a:srgbClr val="5A5A5A"/>
                </a:solidFill>
                <a:latin typeface="Montserrat" pitchFamily="34" charset="0"/>
                <a:ea typeface="Montserrat" pitchFamily="34" charset="-122"/>
                <a:cs typeface="Montserrat" pitchFamily="34" charset="-120"/>
              </a:rPr>
              <a:t>Security-related categories describe a site's risk, not its content:</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64240" cy="2514600"/>
        </p:xfrm>
        <a:graphic>
          <a:graphicData uri="http://schemas.openxmlformats.org/drawingml/2006/table">
            <a:tbl>
              <a:tblPr/>
              <a:tblGrid>
                <a:gridCol w="292608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tblGrid>
              <a:tr h="502920">
                <a:tc>
                  <a:txBody>
                    <a:bodyPr/>
                    <a:lstStyle/>
                    <a:p>
                      <a:pPr marL="0" indent="0">
                        <a:buNone/>
                      </a:pPr>
                      <a:r>
                        <a:rPr lang="en-US" sz="1250" b="1" dirty="0">
                          <a:solidFill>
                            <a:srgbClr val="FFFFFF"/>
                          </a:solidFill>
                          <a:latin typeface="Poppins" pitchFamily="34" charset="0"/>
                          <a:ea typeface="Poppins" pitchFamily="34" charset="-122"/>
                          <a:cs typeface="Poppins" pitchFamily="34" charset="-120"/>
                        </a:rPr>
                        <a:t>Category</a:t>
                      </a:r>
                      <a:endParaRPr lang="en-US" sz="1200" dirty="0"/>
                    </a:p>
                  </a:txBody>
                  <a:tcPr marL="76200" marR="76200" marT="38100" marB="38100" anchor="ctr">
                    <a:lnL w="0" cap="flat" cmpd="sng" algn="ctr">
                      <a:noFill/>
                    </a:lnL>
                    <a:lnR w="0" cap="flat" cmpd="sng" algn="ctr">
                      <a:noFill/>
                    </a:lnR>
                    <a:lnT w="12700" cap="flat" cmpd="sng" algn="ctr">
                      <a:solidFill>
                        <a:srgbClr val="D9D2D4"/>
                      </a:solidFill>
                      <a:prstDash val="solid"/>
                      <a:round/>
                      <a:headEnd type="none" w="med" len="med"/>
                      <a:tailEnd type="none" w="med" len="med"/>
                    </a:lnT>
                    <a:lnB w="0" cap="flat" cmpd="sng" algn="ctr">
                      <a:noFill/>
                    </a:lnB>
                    <a:solidFill>
                      <a:srgbClr val="7A0019"/>
                    </a:solidFill>
                  </a:tcPr>
                </a:tc>
                <a:tc>
                  <a:txBody>
                    <a:bodyPr/>
                    <a:lstStyle/>
                    <a:p>
                      <a:pPr marL="0" indent="0">
                        <a:buNone/>
                      </a:pPr>
                      <a:r>
                        <a:rPr lang="en-US" sz="1250" b="1" dirty="0">
                          <a:solidFill>
                            <a:srgbClr val="FFFFFF"/>
                          </a:solidFill>
                          <a:latin typeface="Poppins" pitchFamily="34" charset="0"/>
                          <a:ea typeface="Poppins" pitchFamily="34" charset="-122"/>
                          <a:cs typeface="Poppins" pitchFamily="34" charset="-120"/>
                        </a:rPr>
                        <a:t>Meaning</a:t>
                      </a:r>
                      <a:endParaRPr lang="en-US" sz="1200" dirty="0"/>
                    </a:p>
                  </a:txBody>
                  <a:tcPr marL="76200" marR="76200" marT="38100" marB="38100" anchor="ctr">
                    <a:lnL w="0" cap="flat" cmpd="sng" algn="ctr">
                      <a:noFill/>
                    </a:lnL>
                    <a:lnR w="0" cap="flat" cmpd="sng" algn="ctr">
                      <a:noFill/>
                    </a:lnR>
                    <a:lnT w="12700" cap="flat" cmpd="sng" algn="ctr">
                      <a:solidFill>
                        <a:srgbClr val="D9D2D4"/>
                      </a:solidFill>
                      <a:prstDash val="solid"/>
                      <a:round/>
                      <a:headEnd type="none" w="med" len="med"/>
                      <a:tailEnd type="none" w="med" len="med"/>
                    </a:lnT>
                    <a:lnB w="0" cap="flat" cmpd="sng" algn="ctr">
                      <a:noFill/>
                    </a:lnB>
                    <a:solidFill>
                      <a:srgbClr val="7A0019"/>
                    </a:solidFill>
                  </a:tcPr>
                </a:tc>
                <a:tc>
                  <a:txBody>
                    <a:bodyPr/>
                    <a:lstStyle/>
                    <a:p>
                      <a:pPr marL="0" indent="0">
                        <a:buNone/>
                      </a:pPr>
                      <a:r>
                        <a:rPr lang="en-US" sz="1250" b="1" dirty="0">
                          <a:solidFill>
                            <a:srgbClr val="FFFFFF"/>
                          </a:solidFill>
                          <a:latin typeface="Poppins" pitchFamily="34" charset="0"/>
                          <a:ea typeface="Poppins" pitchFamily="34" charset="-122"/>
                          <a:cs typeface="Poppins" pitchFamily="34" charset="-120"/>
                        </a:rPr>
                        <a:t>Recommended</a:t>
                      </a:r>
                      <a:endParaRPr lang="en-US" sz="1200" dirty="0"/>
                    </a:p>
                  </a:txBody>
                  <a:tcPr marL="76200" marR="76200" marT="38100" marB="38100" anchor="ctr">
                    <a:lnL w="0" cap="flat" cmpd="sng" algn="ctr">
                      <a:noFill/>
                    </a:lnL>
                    <a:lnR w="0" cap="flat" cmpd="sng" algn="ctr">
                      <a:noFill/>
                    </a:lnR>
                    <a:lnT w="12700" cap="flat" cmpd="sng" algn="ctr">
                      <a:solidFill>
                        <a:srgbClr val="D9D2D4"/>
                      </a:solidFill>
                      <a:prstDash val="solid"/>
                      <a:round/>
                      <a:headEnd type="none" w="med" len="med"/>
                      <a:tailEnd type="none" w="med" len="med"/>
                    </a:lnT>
                    <a:lnB w="0" cap="flat" cmpd="sng" algn="ctr">
                      <a:noFill/>
                    </a:lnB>
                    <a:solidFill>
                      <a:srgbClr val="7A0019"/>
                    </a:solidFill>
                  </a:tcPr>
                </a:tc>
                <a:extLst>
                  <a:ext uri="{0D108BD9-81ED-4DB2-BD59-A6C34878D82A}">
                    <a16:rowId xmlns:a16="http://schemas.microsoft.com/office/drawing/2014/main" val="10000"/>
                  </a:ext>
                </a:extLst>
              </a:tr>
              <a:tr h="502920">
                <a:tc>
                  <a:txBody>
                    <a:bodyPr/>
                    <a:lstStyle/>
                    <a:p>
                      <a:pPr marL="0" indent="0">
                        <a:buNone/>
                      </a:pPr>
                      <a:r>
                        <a:rPr lang="en-US" sz="1300" b="1" dirty="0">
                          <a:solidFill>
                            <a:srgbClr val="7A0019"/>
                          </a:solidFill>
                          <a:latin typeface="Montserrat" pitchFamily="34" charset="0"/>
                          <a:ea typeface="Montserrat" pitchFamily="34" charset="-122"/>
                          <a:cs typeface="Montserrat" pitchFamily="34" charset="-120"/>
                        </a:rPr>
                        <a:t>high-risk</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BF1F3"/>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Suspicious activity, malicious links, or ties to known-bad sites</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FFFFF"/>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Block</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300" b="1" dirty="0">
                          <a:solidFill>
                            <a:srgbClr val="7A0019"/>
                          </a:solidFill>
                          <a:latin typeface="Montserrat" pitchFamily="34" charset="0"/>
                          <a:ea typeface="Montserrat" pitchFamily="34" charset="-122"/>
                          <a:cs typeface="Montserrat" pitchFamily="34" charset="-120"/>
                        </a:rPr>
                        <a:t>medium-risk</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BF1F3"/>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Some suspicious history, not confirmed malicious</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AF6F7"/>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Alert</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AF6F7"/>
                    </a:solidFill>
                  </a:tcPr>
                </a:tc>
                <a:extLst>
                  <a:ext uri="{0D108BD9-81ED-4DB2-BD59-A6C34878D82A}">
                    <a16:rowId xmlns:a16="http://schemas.microsoft.com/office/drawing/2014/main" val="10002"/>
                  </a:ext>
                </a:extLst>
              </a:tr>
              <a:tr h="502920">
                <a:tc>
                  <a:txBody>
                    <a:bodyPr/>
                    <a:lstStyle/>
                    <a:p>
                      <a:pPr marL="0" indent="0">
                        <a:buNone/>
                      </a:pPr>
                      <a:r>
                        <a:rPr lang="en-US" sz="1300" b="1" dirty="0">
                          <a:solidFill>
                            <a:srgbClr val="7A0019"/>
                          </a:solidFill>
                          <a:latin typeface="Montserrat" pitchFamily="34" charset="0"/>
                          <a:ea typeface="Montserrat" pitchFamily="34" charset="-122"/>
                          <a:cs typeface="Montserrat" pitchFamily="34" charset="-120"/>
                        </a:rPr>
                        <a:t>low-risk</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BF1F3"/>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Benign behavior for at least 90 days</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FFFFF"/>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Allow</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300" b="1" dirty="0">
                          <a:solidFill>
                            <a:srgbClr val="7A0019"/>
                          </a:solidFill>
                          <a:latin typeface="Montserrat" pitchFamily="34" charset="0"/>
                          <a:ea typeface="Montserrat" pitchFamily="34" charset="-122"/>
                          <a:cs typeface="Montserrat" pitchFamily="34" charset="-120"/>
                        </a:rPr>
                        <a:t>new-registered-domain</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BF1F3"/>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Domain registered within the last 32 days</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AF6F7"/>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Block</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AF6F7"/>
                    </a:solidFill>
                  </a:tcPr>
                </a:tc>
                <a:extLst>
                  <a:ext uri="{0D108BD9-81ED-4DB2-BD59-A6C34878D82A}">
                    <a16:rowId xmlns:a16="http://schemas.microsoft.com/office/drawing/2014/main" val="10004"/>
                  </a:ext>
                </a:extLst>
              </a:tr>
            </a:tbl>
          </a:graphicData>
        </a:graphic>
      </p:graphicFrame>
      <p:sp>
        <p:nvSpPr>
          <p:cNvPr id="9" name="Shape 5"/>
          <p:cNvSpPr/>
          <p:nvPr/>
        </p:nvSpPr>
        <p:spPr>
          <a:xfrm>
            <a:off x="548640" y="4709160"/>
            <a:ext cx="11109960" cy="822960"/>
          </a:xfrm>
          <a:prstGeom prst="roundRect">
            <a:avLst>
              <a:gd name="adj" fmla="val 2222"/>
            </a:avLst>
          </a:prstGeom>
          <a:solidFill>
            <a:srgbClr val="FBF1F3"/>
          </a:solidFill>
          <a:ln/>
          <a:effectLst>
            <a:outerShdw blurRad="88900" dist="38100" dir="5400000" algn="bl" rotWithShape="0">
              <a:srgbClr val="000000">
                <a:alpha val="15000"/>
              </a:srgbClr>
            </a:outerShdw>
          </a:effectLst>
        </p:spPr>
        <p:txBody>
          <a:bodyPr/>
          <a:lstStyle/>
          <a:p>
            <a:endParaRPr lang="en-US"/>
          </a:p>
        </p:txBody>
      </p:sp>
      <p:sp>
        <p:nvSpPr>
          <p:cNvPr id="10" name="Text 6"/>
          <p:cNvSpPr/>
          <p:nvPr/>
        </p:nvSpPr>
        <p:spPr>
          <a:xfrm>
            <a:off x="777240" y="4709160"/>
            <a:ext cx="10698480" cy="822960"/>
          </a:xfrm>
          <a:prstGeom prst="rect">
            <a:avLst/>
          </a:prstGeom>
          <a:noFill/>
          <a:ln/>
        </p:spPr>
        <p:txBody>
          <a:bodyPr wrap="square" lIns="0" tIns="0" rIns="0" bIns="0" rtlCol="0" anchor="ctr"/>
          <a:lstStyle/>
          <a:p>
            <a:pPr marL="0" indent="0">
              <a:buNone/>
            </a:pPr>
            <a:r>
              <a:rPr lang="en-US" sz="1350" b="1" dirty="0">
                <a:solidFill>
                  <a:srgbClr val="7A0019"/>
                </a:solidFill>
                <a:latin typeface="Montserrat" pitchFamily="34" charset="0"/>
                <a:ea typeface="Montserrat" pitchFamily="34" charset="-122"/>
                <a:cs typeface="Montserrat" pitchFamily="34" charset="-120"/>
              </a:rPr>
              <a:t>Confirmed bad is separate:  </a:t>
            </a:r>
            <a:r>
              <a:rPr lang="en-US" sz="1350" dirty="0">
                <a:solidFill>
                  <a:srgbClr val="1F1A1B"/>
                </a:solidFill>
                <a:latin typeface="Montserrat" pitchFamily="34" charset="0"/>
                <a:ea typeface="Montserrat" pitchFamily="34" charset="-122"/>
                <a:cs typeface="Montserrat" pitchFamily="34" charset="-120"/>
              </a:rPr>
              <a:t>malware, phishing, and command-and-control are malicious categories and are already blocked in the default profile.</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65760"/>
            <a:ext cx="11155680" cy="658368"/>
          </a:xfrm>
          <a:prstGeom prst="rect">
            <a:avLst/>
          </a:prstGeom>
          <a:noFill/>
          <a:ln/>
        </p:spPr>
        <p:txBody>
          <a:bodyPr wrap="square" rtlCol="0"/>
          <a:lstStyle/>
          <a:p>
            <a:pPr marL="0" indent="0" algn="l">
              <a:buNone/>
            </a:pPr>
            <a:r>
              <a:rPr lang="en-US" sz="2500" b="1" dirty="0">
                <a:solidFill>
                  <a:srgbClr val="7A0019"/>
                </a:solidFill>
                <a:latin typeface="Poppins" pitchFamily="34" charset="0"/>
                <a:ea typeface="Poppins" pitchFamily="34" charset="-122"/>
                <a:cs typeface="Poppins" pitchFamily="34" charset="-120"/>
              </a:rPr>
              <a:t>Two Ways to Use a URL Category</a:t>
            </a:r>
            <a:endParaRPr lang="en-US" sz="2500" dirty="0"/>
          </a:p>
        </p:txBody>
      </p:sp>
      <p:sp>
        <p:nvSpPr>
          <p:cNvPr id="3" name="Shape 1"/>
          <p:cNvSpPr/>
          <p:nvPr/>
        </p:nvSpPr>
        <p:spPr>
          <a:xfrm>
            <a:off x="521208" y="1042416"/>
            <a:ext cx="914400" cy="54864"/>
          </a:xfrm>
          <a:prstGeom prst="rect">
            <a:avLst/>
          </a:prstGeom>
          <a:solidFill>
            <a:srgbClr val="FDB71A"/>
          </a:solidFill>
          <a:ln/>
        </p:spPr>
        <p:txBody>
          <a:bodyPr/>
          <a:lstStyle/>
          <a:p>
            <a:endParaRPr lang="en-US"/>
          </a:p>
        </p:txBody>
      </p:sp>
      <p:sp>
        <p:nvSpPr>
          <p:cNvPr id="4" name="Text 2"/>
          <p:cNvSpPr/>
          <p:nvPr/>
        </p:nvSpPr>
        <p:spPr>
          <a:xfrm>
            <a:off x="502920" y="6437376"/>
            <a:ext cx="8229600" cy="274320"/>
          </a:xfrm>
          <a:prstGeom prst="rect">
            <a:avLst/>
          </a:prstGeom>
          <a:noFill/>
          <a:ln/>
        </p:spPr>
        <p:txBody>
          <a:bodyPr wrap="square" lIns="0" tIns="0" rIns="0" bIns="0" rtlCol="0" anchor="ctr"/>
          <a:lstStyle/>
          <a:p>
            <a:pPr marL="0" indent="0">
              <a:buNone/>
            </a:pPr>
            <a:r>
              <a:rPr lang="en-US" sz="900" dirty="0">
                <a:solidFill>
                  <a:srgbClr val="5A5A5A"/>
                </a:solidFill>
                <a:latin typeface="Montserrat" pitchFamily="34" charset="0"/>
                <a:ea typeface="Montserrat" pitchFamily="34" charset="-122"/>
                <a:cs typeface="Montserrat" pitchFamily="34" charset="-120"/>
              </a:rPr>
              <a:t>Information Security 2 · Unit 10 · Web Content Filtering</a:t>
            </a:r>
            <a:endParaRPr lang="en-US" sz="900" dirty="0"/>
          </a:p>
        </p:txBody>
      </p:sp>
      <p:sp>
        <p:nvSpPr>
          <p:cNvPr id="5" name="Text 3"/>
          <p:cNvSpPr/>
          <p:nvPr/>
        </p:nvSpPr>
        <p:spPr>
          <a:xfrm>
            <a:off x="11247120" y="6437376"/>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Montserrat" pitchFamily="34" charset="0"/>
                <a:ea typeface="Montserrat" pitchFamily="34" charset="-122"/>
                <a:cs typeface="Montserrat" pitchFamily="34" charset="-120"/>
              </a:rPr>
              <a:t>7</a:t>
            </a:r>
            <a:endParaRPr lang="en-US" sz="900" dirty="0"/>
          </a:p>
        </p:txBody>
      </p:sp>
      <p:sp>
        <p:nvSpPr>
          <p:cNvPr id="7" name="Text 4"/>
          <p:cNvSpPr/>
          <p:nvPr/>
        </p:nvSpPr>
        <p:spPr>
          <a:xfrm>
            <a:off x="548640" y="1371600"/>
            <a:ext cx="10972800" cy="365760"/>
          </a:xfrm>
          <a:prstGeom prst="rect">
            <a:avLst/>
          </a:prstGeom>
          <a:noFill/>
          <a:ln/>
        </p:spPr>
        <p:txBody>
          <a:bodyPr wrap="square" lIns="0" tIns="0" rIns="0" bIns="0" rtlCol="0" anchor="t"/>
          <a:lstStyle/>
          <a:p>
            <a:pPr marL="0" indent="0">
              <a:buNone/>
            </a:pPr>
            <a:r>
              <a:rPr lang="en-US" sz="1400" dirty="0">
                <a:solidFill>
                  <a:srgbClr val="5A5A5A"/>
                </a:solidFill>
                <a:latin typeface="Montserrat" pitchFamily="34" charset="0"/>
                <a:ea typeface="Montserrat" pitchFamily="34" charset="-122"/>
                <a:cs typeface="Montserrat" pitchFamily="34" charset="-120"/>
              </a:rPr>
              <a:t>You can block a category in the rule itself, or in a profile attached to an allow rule.</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2743200"/>
        </p:xfrm>
        <a:graphic>
          <a:graphicData uri="http://schemas.openxmlformats.org/drawingml/2006/table">
            <a:tbl>
              <a:tblPr/>
              <a:tblGrid>
                <a:gridCol w="283464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548640">
                <a:tc>
                  <a:txBody>
                    <a:bodyPr/>
                    <a:lstStyle/>
                    <a:p>
                      <a:pPr marL="0" indent="0">
                        <a:buNone/>
                      </a:pPr>
                      <a:endParaRPr lang="en-US" sz="1200" dirty="0"/>
                    </a:p>
                  </a:txBody>
                  <a:tcPr marL="76200" marR="76200" marT="38100" marB="38100" anchor="ctr">
                    <a:lnL w="0" cap="flat" cmpd="sng" algn="ctr">
                      <a:noFill/>
                    </a:lnL>
                    <a:lnR w="0" cap="flat" cmpd="sng" algn="ctr">
                      <a:noFill/>
                    </a:lnR>
                    <a:lnT w="12700" cap="flat" cmpd="sng" algn="ctr">
                      <a:solidFill>
                        <a:srgbClr val="D9D2D4"/>
                      </a:solidFill>
                      <a:prstDash val="solid"/>
                      <a:round/>
                      <a:headEnd type="none" w="med" len="med"/>
                      <a:tailEnd type="none" w="med" len="med"/>
                    </a:lnT>
                    <a:lnB w="0" cap="flat" cmpd="sng" algn="ctr">
                      <a:noFill/>
                    </a:lnB>
                    <a:solidFill>
                      <a:srgbClr val="7A0019"/>
                    </a:solidFill>
                  </a:tcPr>
                </a:tc>
                <a:tc>
                  <a:txBody>
                    <a:bodyPr/>
                    <a:lstStyle/>
                    <a:p>
                      <a:pPr marL="0" indent="0">
                        <a:buNone/>
                      </a:pPr>
                      <a:r>
                        <a:rPr lang="en-US" sz="1250" b="1" dirty="0">
                          <a:solidFill>
                            <a:srgbClr val="FFFFFF"/>
                          </a:solidFill>
                          <a:latin typeface="Poppins" pitchFamily="34" charset="0"/>
                          <a:ea typeface="Poppins" pitchFamily="34" charset="-122"/>
                          <a:cs typeface="Poppins" pitchFamily="34" charset="-120"/>
                        </a:rPr>
                        <a:t>URL category in a rule</a:t>
                      </a:r>
                      <a:endParaRPr lang="en-US" sz="1200" dirty="0"/>
                    </a:p>
                  </a:txBody>
                  <a:tcPr marL="76200" marR="76200" marT="38100" marB="38100" anchor="ctr">
                    <a:lnL w="0" cap="flat" cmpd="sng" algn="ctr">
                      <a:noFill/>
                    </a:lnL>
                    <a:lnR w="0" cap="flat" cmpd="sng" algn="ctr">
                      <a:noFill/>
                    </a:lnR>
                    <a:lnT w="12700" cap="flat" cmpd="sng" algn="ctr">
                      <a:solidFill>
                        <a:srgbClr val="D9D2D4"/>
                      </a:solidFill>
                      <a:prstDash val="solid"/>
                      <a:round/>
                      <a:headEnd type="none" w="med" len="med"/>
                      <a:tailEnd type="none" w="med" len="med"/>
                    </a:lnT>
                    <a:lnB w="0" cap="flat" cmpd="sng" algn="ctr">
                      <a:noFill/>
                    </a:lnB>
                    <a:solidFill>
                      <a:srgbClr val="7A0019"/>
                    </a:solidFill>
                  </a:tcPr>
                </a:tc>
                <a:tc>
                  <a:txBody>
                    <a:bodyPr/>
                    <a:lstStyle/>
                    <a:p>
                      <a:pPr marL="0" indent="0">
                        <a:buNone/>
                      </a:pPr>
                      <a:r>
                        <a:rPr lang="en-US" sz="1250" b="1" dirty="0">
                          <a:solidFill>
                            <a:srgbClr val="FFFFFF"/>
                          </a:solidFill>
                          <a:latin typeface="Poppins" pitchFamily="34" charset="0"/>
                          <a:ea typeface="Poppins" pitchFamily="34" charset="-122"/>
                          <a:cs typeface="Poppins" pitchFamily="34" charset="-120"/>
                        </a:rPr>
                        <a:t>URL Filtering Profile</a:t>
                      </a:r>
                      <a:endParaRPr lang="en-US" sz="1200" dirty="0"/>
                    </a:p>
                  </a:txBody>
                  <a:tcPr marL="76200" marR="76200" marT="38100" marB="38100" anchor="ctr">
                    <a:lnL w="0" cap="flat" cmpd="sng" algn="ctr">
                      <a:noFill/>
                    </a:lnL>
                    <a:lnR w="0" cap="flat" cmpd="sng" algn="ctr">
                      <a:noFill/>
                    </a:lnR>
                    <a:lnT w="12700" cap="flat" cmpd="sng" algn="ctr">
                      <a:solidFill>
                        <a:srgbClr val="D9D2D4"/>
                      </a:solidFill>
                      <a:prstDash val="solid"/>
                      <a:round/>
                      <a:headEnd type="none" w="med" len="med"/>
                      <a:tailEnd type="none" w="med" len="med"/>
                    </a:lnT>
                    <a:lnB w="0" cap="flat" cmpd="sng" algn="ctr">
                      <a:noFill/>
                    </a:lnB>
                    <a:solidFill>
                      <a:srgbClr val="7A0019"/>
                    </a:solidFill>
                  </a:tcPr>
                </a:tc>
                <a:extLst>
                  <a:ext uri="{0D108BD9-81ED-4DB2-BD59-A6C34878D82A}">
                    <a16:rowId xmlns:a16="http://schemas.microsoft.com/office/drawing/2014/main" val="10000"/>
                  </a:ext>
                </a:extLst>
              </a:tr>
              <a:tr h="548640">
                <a:tc>
                  <a:txBody>
                    <a:bodyPr/>
                    <a:lstStyle/>
                    <a:p>
                      <a:pPr marL="0" indent="0">
                        <a:buNone/>
                      </a:pPr>
                      <a:r>
                        <a:rPr lang="en-US" sz="1300" b="1" dirty="0">
                          <a:solidFill>
                            <a:srgbClr val="7A0019"/>
                          </a:solidFill>
                          <a:latin typeface="Montserrat" pitchFamily="34" charset="0"/>
                          <a:ea typeface="Montserrat" pitchFamily="34" charset="-122"/>
                          <a:cs typeface="Montserrat" pitchFamily="34" charset="-120"/>
                        </a:rPr>
                        <a:t>Where</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BF1F3"/>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Service/URL Category tab of a deny rule</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FFFFF"/>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Objects &gt; Security Profiles &gt; URL Filtering</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300" b="1" dirty="0">
                          <a:solidFill>
                            <a:srgbClr val="7A0019"/>
                          </a:solidFill>
                          <a:latin typeface="Montserrat" pitchFamily="34" charset="0"/>
                          <a:ea typeface="Montserrat" pitchFamily="34" charset="-122"/>
                          <a:cs typeface="Montserrat" pitchFamily="34" charset="-120"/>
                        </a:rPr>
                        <a:t>How it acts</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BF1F3"/>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Rule action decides, all or nothing</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AF6F7"/>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Separate action per category</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AF6F7"/>
                    </a:solidFill>
                  </a:tcPr>
                </a:tc>
                <a:extLst>
                  <a:ext uri="{0D108BD9-81ED-4DB2-BD59-A6C34878D82A}">
                    <a16:rowId xmlns:a16="http://schemas.microsoft.com/office/drawing/2014/main" val="10002"/>
                  </a:ext>
                </a:extLst>
              </a:tr>
              <a:tr h="548640">
                <a:tc>
                  <a:txBody>
                    <a:bodyPr/>
                    <a:lstStyle/>
                    <a:p>
                      <a:pPr marL="0" indent="0">
                        <a:buNone/>
                      </a:pPr>
                      <a:r>
                        <a:rPr lang="en-US" sz="1300" b="1" dirty="0">
                          <a:solidFill>
                            <a:srgbClr val="7A0019"/>
                          </a:solidFill>
                          <a:latin typeface="Montserrat" pitchFamily="34" charset="0"/>
                          <a:ea typeface="Montserrat" pitchFamily="34" charset="-122"/>
                          <a:cs typeface="Montserrat" pitchFamily="34" charset="-120"/>
                        </a:rPr>
                        <a:t>Block page</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BF1F3"/>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"Application Blocked"</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FFFFF"/>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"Web Page Blocked"</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300" b="1" dirty="0">
                          <a:solidFill>
                            <a:srgbClr val="7A0019"/>
                          </a:solidFill>
                          <a:latin typeface="Montserrat" pitchFamily="34" charset="0"/>
                          <a:ea typeface="Montserrat" pitchFamily="34" charset="-122"/>
                          <a:cs typeface="Montserrat" pitchFamily="34" charset="-120"/>
                        </a:rPr>
                        <a:t>Logging</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BF1F3"/>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Only the blocked sessions</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AF6F7"/>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Any category set to alert or stricter</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AF6F7"/>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68680" y="2148840"/>
            <a:ext cx="5486400" cy="365760"/>
          </a:xfrm>
          <a:prstGeom prst="rect">
            <a:avLst/>
          </a:prstGeom>
          <a:noFill/>
          <a:ln/>
        </p:spPr>
        <p:txBody>
          <a:bodyPr wrap="square" lIns="0" tIns="0" rIns="0" bIns="0" rtlCol="0" anchor="ctr"/>
          <a:lstStyle/>
          <a:p>
            <a:pPr marL="0" indent="0">
              <a:buNone/>
            </a:pPr>
            <a:r>
              <a:rPr lang="en-US" sz="1600" b="1" kern="0" spc="300" dirty="0">
                <a:solidFill>
                  <a:srgbClr val="FDB71A"/>
                </a:solidFill>
                <a:latin typeface="Poppins" pitchFamily="34" charset="0"/>
                <a:ea typeface="Poppins" pitchFamily="34" charset="-122"/>
                <a:cs typeface="Poppins" pitchFamily="34" charset="-120"/>
              </a:rPr>
              <a:t>LESSON 2</a:t>
            </a:r>
            <a:endParaRPr lang="en-US" sz="1600" dirty="0"/>
          </a:p>
        </p:txBody>
      </p:sp>
      <p:sp>
        <p:nvSpPr>
          <p:cNvPr id="3" name="Text 0"/>
          <p:cNvSpPr>
            <a:spLocks noGrp="1"/>
          </p:cNvSpPr>
          <p:nvPr>
            <p:ph type="title" idx="100" hasCustomPrompt="1"/>
          </p:nvPr>
        </p:nvSpPr>
        <p:spPr>
          <a:xfrm>
            <a:off x="822960" y="2743200"/>
            <a:ext cx="8778240" cy="1371600"/>
          </a:xfrm>
          <a:prstGeom prst="rect">
            <a:avLst/>
          </a:prstGeom>
          <a:noFill/>
          <a:ln/>
        </p:spPr>
        <p:txBody>
          <a:bodyPr wrap="square" rtlCol="0"/>
          <a:lstStyle/>
          <a:p>
            <a:pPr marL="0" indent="0" algn="l">
              <a:buNone/>
            </a:pPr>
            <a:r>
              <a:rPr lang="en-US" sz="3800" b="1" dirty="0">
                <a:solidFill>
                  <a:srgbClr val="FFFFFF"/>
                </a:solidFill>
                <a:latin typeface="Poppins" pitchFamily="34" charset="0"/>
                <a:ea typeface="Poppins" pitchFamily="34" charset="-122"/>
                <a:cs typeface="Poppins" pitchFamily="34" charset="-120"/>
              </a:rPr>
              <a:t>Building URL Filtering Profiles</a:t>
            </a:r>
            <a:endParaRPr lang="en-US" sz="3800" dirty="0"/>
          </a:p>
        </p:txBody>
      </p:sp>
      <p:sp>
        <p:nvSpPr>
          <p:cNvPr id="4" name="Shape 2"/>
          <p:cNvSpPr/>
          <p:nvPr/>
        </p:nvSpPr>
        <p:spPr>
          <a:xfrm>
            <a:off x="868680" y="4069080"/>
            <a:ext cx="1463040" cy="54864"/>
          </a:xfrm>
          <a:prstGeom prst="rect">
            <a:avLst/>
          </a:prstGeom>
          <a:solidFill>
            <a:srgbClr val="FDB71A"/>
          </a:solidFill>
          <a:ln/>
        </p:spPr>
        <p:txBody>
          <a:bodyPr/>
          <a:lstStyle/>
          <a:p>
            <a:endParaRPr lang="en-US"/>
          </a:p>
        </p:txBody>
      </p:sp>
      <p:sp>
        <p:nvSpPr>
          <p:cNvPr id="5" name="Shape 3"/>
          <p:cNvSpPr/>
          <p:nvPr/>
        </p:nvSpPr>
        <p:spPr>
          <a:xfrm>
            <a:off x="9784080" y="960120"/>
            <a:ext cx="1554480" cy="1554480"/>
          </a:xfrm>
          <a:prstGeom prst="ellipse">
            <a:avLst/>
          </a:prstGeom>
          <a:solidFill>
            <a:srgbClr val="FDB71A"/>
          </a:solidFill>
          <a:ln/>
        </p:spPr>
        <p:txBody>
          <a:bodyPr/>
          <a:lstStyle/>
          <a:p>
            <a:endParaRPr lang="en-US"/>
          </a:p>
        </p:txBody>
      </p:sp>
      <p:pic>
        <p:nvPicPr>
          <p:cNvPr id="6" name="Image 0" descr="Building URL Filtering Profiles lesson icon"/>
          <p:cNvPicPr>
            <a:picLocks noChangeAspect="1"/>
          </p:cNvPicPr>
          <p:nvPr/>
        </p:nvPicPr>
        <p:blipFill>
          <a:blip r:embed="rId3"/>
          <a:stretch>
            <a:fillRect/>
          </a:stretch>
        </p:blipFill>
        <p:spPr>
          <a:xfrm>
            <a:off x="10158984" y="1335024"/>
            <a:ext cx="804672" cy="804672"/>
          </a:xfrm>
          <a:prstGeom prst="rect">
            <a:avLst/>
          </a:prstGeom>
        </p:spPr>
      </p:pic>
      <p:sp>
        <p:nvSpPr>
          <p:cNvPr id="7" name="Text 4"/>
          <p:cNvSpPr/>
          <p:nvPr/>
        </p:nvSpPr>
        <p:spPr>
          <a:xfrm>
            <a:off x="868680" y="6309360"/>
            <a:ext cx="8229600" cy="274320"/>
          </a:xfrm>
          <a:prstGeom prst="rect">
            <a:avLst/>
          </a:prstGeom>
          <a:noFill/>
          <a:ln/>
        </p:spPr>
        <p:txBody>
          <a:bodyPr wrap="square" lIns="0" tIns="0" rIns="0" bIns="0" rtlCol="0" anchor="ctr"/>
          <a:lstStyle/>
          <a:p>
            <a:pPr marL="0" indent="0">
              <a:buNone/>
            </a:pPr>
            <a:r>
              <a:rPr lang="en-US" sz="1000" dirty="0">
                <a:solidFill>
                  <a:srgbClr val="F3E7EA"/>
                </a:solidFill>
                <a:latin typeface="Montserrat" pitchFamily="34" charset="0"/>
                <a:ea typeface="Montserrat" pitchFamily="34" charset="-122"/>
                <a:cs typeface="Montserrat" pitchFamily="34" charset="-120"/>
              </a:rPr>
              <a:t>Information Security 2 · Unit 10 · Web Content Filtering</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65760"/>
            <a:ext cx="11155680" cy="658368"/>
          </a:xfrm>
          <a:prstGeom prst="rect">
            <a:avLst/>
          </a:prstGeom>
          <a:noFill/>
          <a:ln/>
        </p:spPr>
        <p:txBody>
          <a:bodyPr wrap="square" rtlCol="0"/>
          <a:lstStyle/>
          <a:p>
            <a:pPr marL="0" indent="0" algn="l">
              <a:buNone/>
            </a:pPr>
            <a:r>
              <a:rPr lang="en-US" sz="2500" b="1" dirty="0">
                <a:solidFill>
                  <a:srgbClr val="7A0019"/>
                </a:solidFill>
                <a:latin typeface="Poppins" pitchFamily="34" charset="0"/>
                <a:ea typeface="Poppins" pitchFamily="34" charset="-122"/>
                <a:cs typeface="Poppins" pitchFamily="34" charset="-120"/>
              </a:rPr>
              <a:t>The URL Filtering Profile</a:t>
            </a:r>
            <a:endParaRPr lang="en-US" sz="2500" dirty="0"/>
          </a:p>
        </p:txBody>
      </p:sp>
      <p:sp>
        <p:nvSpPr>
          <p:cNvPr id="3" name="Shape 1"/>
          <p:cNvSpPr/>
          <p:nvPr/>
        </p:nvSpPr>
        <p:spPr>
          <a:xfrm>
            <a:off x="521208" y="1042416"/>
            <a:ext cx="914400" cy="54864"/>
          </a:xfrm>
          <a:prstGeom prst="rect">
            <a:avLst/>
          </a:prstGeom>
          <a:solidFill>
            <a:srgbClr val="FDB71A"/>
          </a:solidFill>
          <a:ln/>
        </p:spPr>
        <p:txBody>
          <a:bodyPr/>
          <a:lstStyle/>
          <a:p>
            <a:endParaRPr lang="en-US"/>
          </a:p>
        </p:txBody>
      </p:sp>
      <p:sp>
        <p:nvSpPr>
          <p:cNvPr id="4" name="Text 2"/>
          <p:cNvSpPr/>
          <p:nvPr/>
        </p:nvSpPr>
        <p:spPr>
          <a:xfrm>
            <a:off x="502920" y="6437376"/>
            <a:ext cx="8229600" cy="274320"/>
          </a:xfrm>
          <a:prstGeom prst="rect">
            <a:avLst/>
          </a:prstGeom>
          <a:noFill/>
          <a:ln/>
        </p:spPr>
        <p:txBody>
          <a:bodyPr wrap="square" lIns="0" tIns="0" rIns="0" bIns="0" rtlCol="0" anchor="ctr"/>
          <a:lstStyle/>
          <a:p>
            <a:pPr marL="0" indent="0">
              <a:buNone/>
            </a:pPr>
            <a:r>
              <a:rPr lang="en-US" sz="900" dirty="0">
                <a:solidFill>
                  <a:srgbClr val="5A5A5A"/>
                </a:solidFill>
                <a:latin typeface="Montserrat" pitchFamily="34" charset="0"/>
                <a:ea typeface="Montserrat" pitchFamily="34" charset="-122"/>
                <a:cs typeface="Montserrat" pitchFamily="34" charset="-120"/>
              </a:rPr>
              <a:t>Information Security 2 · Unit 10 · Web Content Filtering</a:t>
            </a:r>
            <a:endParaRPr lang="en-US" sz="900" dirty="0"/>
          </a:p>
        </p:txBody>
      </p:sp>
      <p:sp>
        <p:nvSpPr>
          <p:cNvPr id="5" name="Text 3"/>
          <p:cNvSpPr/>
          <p:nvPr/>
        </p:nvSpPr>
        <p:spPr>
          <a:xfrm>
            <a:off x="11247120" y="6437376"/>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Montserrat" pitchFamily="34" charset="0"/>
                <a:ea typeface="Montserrat" pitchFamily="34" charset="-122"/>
                <a:cs typeface="Montserrat" pitchFamily="34" charset="-120"/>
              </a:rPr>
              <a:t>9</a:t>
            </a:r>
            <a:endParaRPr lang="en-US" sz="900" dirty="0"/>
          </a:p>
        </p:txBody>
      </p:sp>
      <p:sp>
        <p:nvSpPr>
          <p:cNvPr id="7" name="Text 4"/>
          <p:cNvSpPr/>
          <p:nvPr/>
        </p:nvSpPr>
        <p:spPr>
          <a:xfrm>
            <a:off x="548640" y="1371600"/>
            <a:ext cx="10972800" cy="365760"/>
          </a:xfrm>
          <a:prstGeom prst="rect">
            <a:avLst/>
          </a:prstGeom>
          <a:noFill/>
          <a:ln/>
        </p:spPr>
        <p:txBody>
          <a:bodyPr wrap="square" lIns="0" tIns="0" rIns="0" bIns="0" rtlCol="0" anchor="t"/>
          <a:lstStyle/>
          <a:p>
            <a:pPr marL="0" indent="0">
              <a:buNone/>
            </a:pPr>
            <a:r>
              <a:rPr lang="en-US" sz="1300" i="1" dirty="0">
                <a:solidFill>
                  <a:srgbClr val="5E0013"/>
                </a:solidFill>
                <a:latin typeface="Courier New" pitchFamily="34" charset="0"/>
                <a:ea typeface="Courier New" pitchFamily="34" charset="-122"/>
                <a:cs typeface="Courier New" pitchFamily="34" charset="-120"/>
              </a:rPr>
              <a:t>Objects &gt; Security Profiles &gt; URL Filtering</a:t>
            </a:r>
            <a:endParaRPr lang="en-US" sz="1300" dirty="0"/>
          </a:p>
        </p:txBody>
      </p:sp>
      <p:sp>
        <p:nvSpPr>
          <p:cNvPr id="8" name="Shape 5"/>
          <p:cNvSpPr/>
          <p:nvPr/>
        </p:nvSpPr>
        <p:spPr>
          <a:xfrm>
            <a:off x="521208" y="1801368"/>
            <a:ext cx="6089904" cy="3322716"/>
          </a:xfrm>
          <a:prstGeom prst="rect">
            <a:avLst/>
          </a:prstGeom>
          <a:solidFill>
            <a:srgbClr val="FFFFFF"/>
          </a:solidFill>
          <a:ln w="12700">
            <a:solidFill>
              <a:srgbClr val="D9D2D4"/>
            </a:solidFill>
            <a:prstDash val="solid"/>
          </a:ln>
        </p:spPr>
        <p:txBody>
          <a:bodyPr/>
          <a:lstStyle/>
          <a:p>
            <a:endParaRPr lang="en-US"/>
          </a:p>
        </p:txBody>
      </p:sp>
      <p:pic>
        <p:nvPicPr>
          <p:cNvPr id="9" name="Image 0" descr="Read-only default URL Filtering Profile showing the Categories tab with site access and user credential submission actions per category"/>
          <p:cNvPicPr>
            <a:picLocks noChangeAspect="1"/>
          </p:cNvPicPr>
          <p:nvPr/>
        </p:nvPicPr>
        <p:blipFill>
          <a:blip r:embed="rId3"/>
          <a:stretch>
            <a:fillRect/>
          </a:stretch>
        </p:blipFill>
        <p:spPr>
          <a:xfrm>
            <a:off x="548640" y="1828800"/>
            <a:ext cx="6035040" cy="3267852"/>
          </a:xfrm>
          <a:prstGeom prst="rect">
            <a:avLst/>
          </a:prstGeom>
        </p:spPr>
      </p:pic>
      <p:sp>
        <p:nvSpPr>
          <p:cNvPr id="10" name="Text 6"/>
          <p:cNvSpPr/>
          <p:nvPr/>
        </p:nvSpPr>
        <p:spPr>
          <a:xfrm>
            <a:off x="6949440" y="1828800"/>
            <a:ext cx="4754880" cy="3383280"/>
          </a:xfrm>
          <a:prstGeom prst="rect">
            <a:avLst/>
          </a:prstGeom>
          <a:noFill/>
          <a:ln/>
        </p:spPr>
        <p:txBody>
          <a:bodyPr wrap="square" lIns="0" tIns="0" rIns="0" bIns="0" rtlCol="0" anchor="t"/>
          <a:lstStyle/>
          <a:p>
            <a:pPr marL="177800" indent="-177800">
              <a:spcAft>
                <a:spcPts val="1200"/>
              </a:spcAft>
              <a:buSzPct val="100000"/>
              <a:buChar char="•"/>
            </a:pPr>
            <a:r>
              <a:rPr lang="en-US" sz="1400" dirty="0">
                <a:solidFill>
                  <a:srgbClr val="1F1A1B"/>
                </a:solidFill>
                <a:latin typeface="Montserrat" pitchFamily="34" charset="0"/>
                <a:ea typeface="Montserrat" pitchFamily="34" charset="-122"/>
                <a:cs typeface="Montserrat" pitchFamily="34" charset="-120"/>
              </a:rPr>
              <a:t>The </a:t>
            </a:r>
            <a:r>
              <a:rPr lang="en-US" sz="1400" dirty="0">
                <a:solidFill>
                  <a:srgbClr val="5E0013"/>
                </a:solidFill>
                <a:latin typeface="Courier New" pitchFamily="34" charset="0"/>
                <a:ea typeface="Courier New" pitchFamily="34" charset="-122"/>
                <a:cs typeface="Courier New" pitchFamily="34" charset="-120"/>
              </a:rPr>
              <a:t>default</a:t>
            </a:r>
            <a:r>
              <a:rPr lang="en-US" sz="1400" dirty="0">
                <a:solidFill>
                  <a:srgbClr val="1F1A1B"/>
                </a:solidFill>
                <a:latin typeface="Montserrat" pitchFamily="34" charset="0"/>
                <a:ea typeface="Montserrat" pitchFamily="34" charset="-122"/>
                <a:cs typeface="Montserrat" pitchFamily="34" charset="-120"/>
              </a:rPr>
              <a:t> profile is </a:t>
            </a:r>
            <a:r>
              <a:rPr lang="en-US" sz="1400" b="1" dirty="0">
                <a:solidFill>
                  <a:srgbClr val="7A0019"/>
                </a:solidFill>
                <a:latin typeface="Montserrat" pitchFamily="34" charset="0"/>
                <a:ea typeface="Montserrat" pitchFamily="34" charset="-122"/>
                <a:cs typeface="Montserrat" pitchFamily="34" charset="-120"/>
              </a:rPr>
              <a:t>read-only</a:t>
            </a:r>
            <a:r>
              <a:rPr lang="en-US" sz="1400" dirty="0">
                <a:solidFill>
                  <a:srgbClr val="1F1A1B"/>
                </a:solidFill>
                <a:latin typeface="Montserrat" pitchFamily="34" charset="0"/>
                <a:ea typeface="Montserrat" pitchFamily="34" charset="-122"/>
                <a:cs typeface="Montserrat" pitchFamily="34" charset="-120"/>
              </a:rPr>
              <a:t> and blocks malicious and adult categories.</a:t>
            </a:r>
            <a:endParaRPr lang="en-US" sz="1400" dirty="0"/>
          </a:p>
          <a:p>
            <a:pPr marL="177800" indent="-177800">
              <a:spcAft>
                <a:spcPts val="1200"/>
              </a:spcAft>
              <a:buSzPct val="100000"/>
              <a:buChar char="•"/>
            </a:pPr>
            <a:r>
              <a:rPr lang="en-US" sz="1400" b="1" dirty="0">
                <a:solidFill>
                  <a:srgbClr val="7A0019"/>
                </a:solidFill>
                <a:latin typeface="Montserrat" pitchFamily="34" charset="0"/>
                <a:ea typeface="Montserrat" pitchFamily="34" charset="-122"/>
                <a:cs typeface="Montserrat" pitchFamily="34" charset="-120"/>
              </a:rPr>
              <a:t>Clone</a:t>
            </a:r>
            <a:r>
              <a:rPr lang="en-US" sz="1400" dirty="0">
                <a:solidFill>
                  <a:srgbClr val="1F1A1B"/>
                </a:solidFill>
                <a:latin typeface="Montserrat" pitchFamily="34" charset="0"/>
                <a:ea typeface="Montserrat" pitchFamily="34" charset="-122"/>
                <a:cs typeface="Montserrat" pitchFamily="34" charset="-120"/>
              </a:rPr>
              <a:t> the default, or </a:t>
            </a:r>
            <a:r>
              <a:rPr lang="en-US" sz="1400" b="1" dirty="0">
                <a:solidFill>
                  <a:srgbClr val="7A0019"/>
                </a:solidFill>
                <a:latin typeface="Montserrat" pitchFamily="34" charset="0"/>
                <a:ea typeface="Montserrat" pitchFamily="34" charset="-122"/>
                <a:cs typeface="Montserrat" pitchFamily="34" charset="-120"/>
              </a:rPr>
              <a:t>Add</a:t>
            </a:r>
            <a:r>
              <a:rPr lang="en-US" sz="1400" dirty="0">
                <a:solidFill>
                  <a:srgbClr val="1F1A1B"/>
                </a:solidFill>
                <a:latin typeface="Montserrat" pitchFamily="34" charset="0"/>
                <a:ea typeface="Montserrat" pitchFamily="34" charset="-122"/>
                <a:cs typeface="Montserrat" pitchFamily="34" charset="-120"/>
              </a:rPr>
              <a:t> a new profile. A new profile starts at allow for everything.</a:t>
            </a:r>
            <a:endParaRPr lang="en-US" sz="1400" dirty="0"/>
          </a:p>
          <a:p>
            <a:pPr marL="177800" indent="-177800">
              <a:spcAft>
                <a:spcPts val="1200"/>
              </a:spcAft>
              <a:buSzPct val="100000"/>
              <a:buChar char="•"/>
            </a:pPr>
            <a:r>
              <a:rPr lang="en-US" sz="1400" dirty="0">
                <a:solidFill>
                  <a:srgbClr val="1F1A1B"/>
                </a:solidFill>
                <a:latin typeface="Montserrat" pitchFamily="34" charset="0"/>
                <a:ea typeface="Montserrat" pitchFamily="34" charset="-122"/>
                <a:cs typeface="Montserrat" pitchFamily="34" charset="-120"/>
              </a:rPr>
              <a:t>Use </a:t>
            </a:r>
            <a:r>
              <a:rPr lang="en-US" sz="1400" b="1" dirty="0">
                <a:solidFill>
                  <a:srgbClr val="1F1A1B"/>
                </a:solidFill>
                <a:latin typeface="Montserrat" pitchFamily="34" charset="0"/>
                <a:ea typeface="Montserrat" pitchFamily="34" charset="-122"/>
                <a:cs typeface="Montserrat" pitchFamily="34" charset="-120"/>
              </a:rPr>
              <a:t>Set All Actions</a:t>
            </a:r>
            <a:r>
              <a:rPr lang="en-US" sz="1400" dirty="0">
                <a:solidFill>
                  <a:srgbClr val="1F1A1B"/>
                </a:solidFill>
                <a:latin typeface="Montserrat" pitchFamily="34" charset="0"/>
                <a:ea typeface="Montserrat" pitchFamily="34" charset="-122"/>
                <a:cs typeface="Montserrat" pitchFamily="34" charset="-120"/>
              </a:rPr>
              <a:t> on the Site Access header to change every row at once.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65760"/>
            <a:ext cx="11155680" cy="658368"/>
          </a:xfrm>
          <a:prstGeom prst="rect">
            <a:avLst/>
          </a:prstGeom>
          <a:noFill/>
          <a:ln/>
        </p:spPr>
        <p:txBody>
          <a:bodyPr wrap="square" rtlCol="0"/>
          <a:lstStyle/>
          <a:p>
            <a:pPr marL="0" indent="0" algn="l">
              <a:buNone/>
            </a:pPr>
            <a:r>
              <a:rPr lang="en-US" sz="2500" b="1" dirty="0">
                <a:solidFill>
                  <a:srgbClr val="7A0019"/>
                </a:solidFill>
                <a:latin typeface="Poppins" pitchFamily="34" charset="0"/>
                <a:ea typeface="Poppins" pitchFamily="34" charset="-122"/>
                <a:cs typeface="Poppins" pitchFamily="34" charset="-120"/>
              </a:rPr>
              <a:t>Site Access Actions</a:t>
            </a:r>
            <a:endParaRPr lang="en-US" sz="2500" dirty="0"/>
          </a:p>
        </p:txBody>
      </p:sp>
      <p:sp>
        <p:nvSpPr>
          <p:cNvPr id="3" name="Shape 1"/>
          <p:cNvSpPr/>
          <p:nvPr/>
        </p:nvSpPr>
        <p:spPr>
          <a:xfrm>
            <a:off x="521208" y="1042416"/>
            <a:ext cx="914400" cy="54864"/>
          </a:xfrm>
          <a:prstGeom prst="rect">
            <a:avLst/>
          </a:prstGeom>
          <a:solidFill>
            <a:srgbClr val="FDB71A"/>
          </a:solidFill>
          <a:ln/>
        </p:spPr>
        <p:txBody>
          <a:bodyPr/>
          <a:lstStyle/>
          <a:p>
            <a:endParaRPr lang="en-US"/>
          </a:p>
        </p:txBody>
      </p:sp>
      <p:sp>
        <p:nvSpPr>
          <p:cNvPr id="4" name="Text 2"/>
          <p:cNvSpPr/>
          <p:nvPr/>
        </p:nvSpPr>
        <p:spPr>
          <a:xfrm>
            <a:off x="502920" y="6437376"/>
            <a:ext cx="8229600" cy="274320"/>
          </a:xfrm>
          <a:prstGeom prst="rect">
            <a:avLst/>
          </a:prstGeom>
          <a:noFill/>
          <a:ln/>
        </p:spPr>
        <p:txBody>
          <a:bodyPr wrap="square" lIns="0" tIns="0" rIns="0" bIns="0" rtlCol="0" anchor="ctr"/>
          <a:lstStyle/>
          <a:p>
            <a:pPr marL="0" indent="0">
              <a:buNone/>
            </a:pPr>
            <a:r>
              <a:rPr lang="en-US" sz="900" dirty="0">
                <a:solidFill>
                  <a:srgbClr val="5A5A5A"/>
                </a:solidFill>
                <a:latin typeface="Montserrat" pitchFamily="34" charset="0"/>
                <a:ea typeface="Montserrat" pitchFamily="34" charset="-122"/>
                <a:cs typeface="Montserrat" pitchFamily="34" charset="-120"/>
              </a:rPr>
              <a:t>Information Security 2 · Unit 10 · Web Content Filtering</a:t>
            </a:r>
            <a:endParaRPr lang="en-US" sz="900" dirty="0"/>
          </a:p>
        </p:txBody>
      </p:sp>
      <p:sp>
        <p:nvSpPr>
          <p:cNvPr id="5" name="Text 3"/>
          <p:cNvSpPr/>
          <p:nvPr/>
        </p:nvSpPr>
        <p:spPr>
          <a:xfrm>
            <a:off x="11247120" y="6437376"/>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Montserrat" pitchFamily="34" charset="0"/>
                <a:ea typeface="Montserrat" pitchFamily="34" charset="-122"/>
                <a:cs typeface="Montserrat" pitchFamily="34" charset="-120"/>
              </a:rPr>
              <a:t>10</a:t>
            </a:r>
            <a:endParaRPr lang="en-US" sz="900" dirty="0"/>
          </a:p>
        </p:txBody>
      </p:sp>
      <p:sp>
        <p:nvSpPr>
          <p:cNvPr id="7" name="Text 4"/>
          <p:cNvSpPr/>
          <p:nvPr/>
        </p:nvSpPr>
        <p:spPr>
          <a:xfrm>
            <a:off x="548640" y="1371600"/>
            <a:ext cx="10972800" cy="365760"/>
          </a:xfrm>
          <a:prstGeom prst="rect">
            <a:avLst/>
          </a:prstGeom>
          <a:noFill/>
          <a:ln/>
        </p:spPr>
        <p:txBody>
          <a:bodyPr wrap="square" lIns="0" tIns="0" rIns="0" bIns="0" rtlCol="0" anchor="t"/>
          <a:lstStyle/>
          <a:p>
            <a:pPr marL="0" indent="0">
              <a:buNone/>
            </a:pPr>
            <a:r>
              <a:rPr lang="en-US" sz="1400" dirty="0">
                <a:solidFill>
                  <a:srgbClr val="5A5A5A"/>
                </a:solidFill>
                <a:latin typeface="Montserrat" pitchFamily="34" charset="0"/>
                <a:ea typeface="Montserrat" pitchFamily="34" charset="-122"/>
                <a:cs typeface="Montserrat" pitchFamily="34" charset="-120"/>
              </a:rPr>
              <a:t>Each category in the profile gets one action:</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2852928"/>
        </p:xfrm>
        <a:graphic>
          <a:graphicData uri="http://schemas.openxmlformats.org/drawingml/2006/table">
            <a:tbl>
              <a:tblPr/>
              <a:tblGrid>
                <a:gridCol w="1828800">
                  <a:extLst>
                    <a:ext uri="{9D8B030D-6E8A-4147-A177-3AD203B41FA5}">
                      <a16:colId xmlns:a16="http://schemas.microsoft.com/office/drawing/2014/main" val="20000"/>
                    </a:ext>
                  </a:extLst>
                </a:gridCol>
                <a:gridCol w="603504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475488">
                <a:tc>
                  <a:txBody>
                    <a:bodyPr/>
                    <a:lstStyle/>
                    <a:p>
                      <a:pPr marL="0" indent="0">
                        <a:buNone/>
                      </a:pPr>
                      <a:r>
                        <a:rPr lang="en-US" sz="1250" b="1" dirty="0">
                          <a:solidFill>
                            <a:srgbClr val="FFFFFF"/>
                          </a:solidFill>
                          <a:latin typeface="Poppins" pitchFamily="34" charset="0"/>
                          <a:ea typeface="Poppins" pitchFamily="34" charset="-122"/>
                          <a:cs typeface="Poppins" pitchFamily="34" charset="-120"/>
                        </a:rPr>
                        <a:t>Action</a:t>
                      </a:r>
                      <a:endParaRPr lang="en-US" sz="1200" dirty="0"/>
                    </a:p>
                  </a:txBody>
                  <a:tcPr marL="76200" marR="76200" marT="38100" marB="38100" anchor="ctr">
                    <a:lnL w="0" cap="flat" cmpd="sng" algn="ctr">
                      <a:noFill/>
                    </a:lnL>
                    <a:lnR w="0" cap="flat" cmpd="sng" algn="ctr">
                      <a:noFill/>
                    </a:lnR>
                    <a:lnT w="12700" cap="flat" cmpd="sng" algn="ctr">
                      <a:solidFill>
                        <a:srgbClr val="D9D2D4"/>
                      </a:solidFill>
                      <a:prstDash val="solid"/>
                      <a:round/>
                      <a:headEnd type="none" w="med" len="med"/>
                      <a:tailEnd type="none" w="med" len="med"/>
                    </a:lnT>
                    <a:lnB w="0" cap="flat" cmpd="sng" algn="ctr">
                      <a:noFill/>
                    </a:lnB>
                    <a:solidFill>
                      <a:srgbClr val="7A0019"/>
                    </a:solidFill>
                  </a:tcPr>
                </a:tc>
                <a:tc>
                  <a:txBody>
                    <a:bodyPr/>
                    <a:lstStyle/>
                    <a:p>
                      <a:pPr marL="0" indent="0">
                        <a:buNone/>
                      </a:pPr>
                      <a:r>
                        <a:rPr lang="en-US" sz="1250" b="1" dirty="0">
                          <a:solidFill>
                            <a:srgbClr val="FFFFFF"/>
                          </a:solidFill>
                          <a:latin typeface="Poppins" pitchFamily="34" charset="0"/>
                          <a:ea typeface="Poppins" pitchFamily="34" charset="-122"/>
                          <a:cs typeface="Poppins" pitchFamily="34" charset="-120"/>
                        </a:rPr>
                        <a:t>What the user sees</a:t>
                      </a:r>
                      <a:endParaRPr lang="en-US" sz="1200" dirty="0"/>
                    </a:p>
                  </a:txBody>
                  <a:tcPr marL="76200" marR="76200" marT="38100" marB="38100" anchor="ctr">
                    <a:lnL w="0" cap="flat" cmpd="sng" algn="ctr">
                      <a:noFill/>
                    </a:lnL>
                    <a:lnR w="0" cap="flat" cmpd="sng" algn="ctr">
                      <a:noFill/>
                    </a:lnR>
                    <a:lnT w="12700" cap="flat" cmpd="sng" algn="ctr">
                      <a:solidFill>
                        <a:srgbClr val="D9D2D4"/>
                      </a:solidFill>
                      <a:prstDash val="solid"/>
                      <a:round/>
                      <a:headEnd type="none" w="med" len="med"/>
                      <a:tailEnd type="none" w="med" len="med"/>
                    </a:lnT>
                    <a:lnB w="0" cap="flat" cmpd="sng" algn="ctr">
                      <a:noFill/>
                    </a:lnB>
                    <a:solidFill>
                      <a:srgbClr val="7A0019"/>
                    </a:solidFill>
                  </a:tcPr>
                </a:tc>
                <a:tc>
                  <a:txBody>
                    <a:bodyPr/>
                    <a:lstStyle/>
                    <a:p>
                      <a:pPr marL="0" indent="0">
                        <a:buNone/>
                      </a:pPr>
                      <a:r>
                        <a:rPr lang="en-US" sz="1250" b="1" dirty="0">
                          <a:solidFill>
                            <a:srgbClr val="FFFFFF"/>
                          </a:solidFill>
                          <a:latin typeface="Poppins" pitchFamily="34" charset="0"/>
                          <a:ea typeface="Poppins" pitchFamily="34" charset="-122"/>
                          <a:cs typeface="Poppins" pitchFamily="34" charset="-120"/>
                        </a:rPr>
                        <a:t>Logged?</a:t>
                      </a:r>
                      <a:endParaRPr lang="en-US" sz="1200" dirty="0"/>
                    </a:p>
                  </a:txBody>
                  <a:tcPr marL="76200" marR="76200" marT="38100" marB="38100" anchor="ctr">
                    <a:lnL w="0" cap="flat" cmpd="sng" algn="ctr">
                      <a:noFill/>
                    </a:lnL>
                    <a:lnR w="0" cap="flat" cmpd="sng" algn="ctr">
                      <a:noFill/>
                    </a:lnR>
                    <a:lnT w="12700" cap="flat" cmpd="sng" algn="ctr">
                      <a:solidFill>
                        <a:srgbClr val="D9D2D4"/>
                      </a:solidFill>
                      <a:prstDash val="solid"/>
                      <a:round/>
                      <a:headEnd type="none" w="med" len="med"/>
                      <a:tailEnd type="none" w="med" len="med"/>
                    </a:lnT>
                    <a:lnB w="0" cap="flat" cmpd="sng" algn="ctr">
                      <a:noFill/>
                    </a:lnB>
                    <a:solidFill>
                      <a:srgbClr val="7A0019"/>
                    </a:solidFill>
                  </a:tcPr>
                </a:tc>
                <a:extLst>
                  <a:ext uri="{0D108BD9-81ED-4DB2-BD59-A6C34878D82A}">
                    <a16:rowId xmlns:a16="http://schemas.microsoft.com/office/drawing/2014/main" val="10000"/>
                  </a:ext>
                </a:extLst>
              </a:tr>
              <a:tr h="475488">
                <a:tc>
                  <a:txBody>
                    <a:bodyPr/>
                    <a:lstStyle/>
                    <a:p>
                      <a:pPr marL="0" indent="0">
                        <a:buNone/>
                      </a:pPr>
                      <a:r>
                        <a:rPr lang="en-US" sz="1300" b="1" dirty="0">
                          <a:solidFill>
                            <a:srgbClr val="7A0019"/>
                          </a:solidFill>
                          <a:latin typeface="Montserrat" pitchFamily="34" charset="0"/>
                          <a:ea typeface="Montserrat" pitchFamily="34" charset="-122"/>
                          <a:cs typeface="Montserrat" pitchFamily="34" charset="-120"/>
                        </a:rPr>
                        <a:t>allow</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BF1F3"/>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The site loads</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FFFFF"/>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No</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300" b="1" dirty="0">
                          <a:solidFill>
                            <a:srgbClr val="7A0019"/>
                          </a:solidFill>
                          <a:latin typeface="Montserrat" pitchFamily="34" charset="0"/>
                          <a:ea typeface="Montserrat" pitchFamily="34" charset="-122"/>
                          <a:cs typeface="Montserrat" pitchFamily="34" charset="-120"/>
                        </a:rPr>
                        <a:t>alert</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BF1F3"/>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The site loads</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AF6F7"/>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Yes</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AF6F7"/>
                    </a:solidFill>
                  </a:tcPr>
                </a:tc>
                <a:extLst>
                  <a:ext uri="{0D108BD9-81ED-4DB2-BD59-A6C34878D82A}">
                    <a16:rowId xmlns:a16="http://schemas.microsoft.com/office/drawing/2014/main" val="10002"/>
                  </a:ext>
                </a:extLst>
              </a:tr>
              <a:tr h="475488">
                <a:tc>
                  <a:txBody>
                    <a:bodyPr/>
                    <a:lstStyle/>
                    <a:p>
                      <a:pPr marL="0" indent="0">
                        <a:buNone/>
                      </a:pPr>
                      <a:r>
                        <a:rPr lang="en-US" sz="1300" b="1" dirty="0">
                          <a:solidFill>
                            <a:srgbClr val="7A0019"/>
                          </a:solidFill>
                          <a:latin typeface="Montserrat" pitchFamily="34" charset="0"/>
                          <a:ea typeface="Montserrat" pitchFamily="34" charset="-122"/>
                          <a:cs typeface="Montserrat" pitchFamily="34" charset="-120"/>
                        </a:rPr>
                        <a:t>block</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BF1F3"/>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A block page</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FFFFF"/>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Yes</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300" b="1" dirty="0">
                          <a:solidFill>
                            <a:srgbClr val="7A0019"/>
                          </a:solidFill>
                          <a:latin typeface="Montserrat" pitchFamily="34" charset="0"/>
                          <a:ea typeface="Montserrat" pitchFamily="34" charset="-122"/>
                          <a:cs typeface="Montserrat" pitchFamily="34" charset="-120"/>
                        </a:rPr>
                        <a:t>continue</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BF1F3"/>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A warning page with a Continue button</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AF6F7"/>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Yes, block-continue then continue</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AF6F7"/>
                    </a:solidFill>
                  </a:tcPr>
                </a:tc>
                <a:extLst>
                  <a:ext uri="{0D108BD9-81ED-4DB2-BD59-A6C34878D82A}">
                    <a16:rowId xmlns:a16="http://schemas.microsoft.com/office/drawing/2014/main" val="10004"/>
                  </a:ext>
                </a:extLst>
              </a:tr>
              <a:tr h="475488">
                <a:tc>
                  <a:txBody>
                    <a:bodyPr/>
                    <a:lstStyle/>
                    <a:p>
                      <a:pPr marL="0" indent="0">
                        <a:buNone/>
                      </a:pPr>
                      <a:r>
                        <a:rPr lang="en-US" sz="1300" b="1" dirty="0">
                          <a:solidFill>
                            <a:srgbClr val="7A0019"/>
                          </a:solidFill>
                          <a:latin typeface="Montserrat" pitchFamily="34" charset="0"/>
                          <a:ea typeface="Montserrat" pitchFamily="34" charset="-122"/>
                          <a:cs typeface="Montserrat" pitchFamily="34" charset="-120"/>
                        </a:rPr>
                        <a:t>override</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BF1F3"/>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A page asking for the admin override password</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FFFFF"/>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Yes</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5"/>
                  </a:ext>
                </a:extLst>
              </a:tr>
            </a:tbl>
          </a:graphicData>
        </a:graphic>
      </p:graphicFrame>
      <p:sp>
        <p:nvSpPr>
          <p:cNvPr id="9" name="Text 5"/>
          <p:cNvSpPr/>
          <p:nvPr/>
        </p:nvSpPr>
        <p:spPr>
          <a:xfrm>
            <a:off x="548640" y="4709160"/>
            <a:ext cx="10972800" cy="365760"/>
          </a:xfrm>
          <a:prstGeom prst="rect">
            <a:avLst/>
          </a:prstGeom>
          <a:noFill/>
          <a:ln/>
        </p:spPr>
        <p:txBody>
          <a:bodyPr wrap="square" lIns="0" tIns="0" rIns="0" bIns="0" rtlCol="0" anchor="t"/>
          <a:lstStyle/>
          <a:p>
            <a:pPr marL="0" indent="0">
              <a:buNone/>
            </a:pPr>
            <a:r>
              <a:rPr lang="en-US" sz="1250" i="1" dirty="0">
                <a:solidFill>
                  <a:srgbClr val="5E0013"/>
                </a:solidFill>
                <a:latin typeface="Courier New" pitchFamily="34" charset="0"/>
                <a:ea typeface="Courier New" pitchFamily="34" charset="-122"/>
                <a:cs typeface="Courier New" pitchFamily="34" charset="-120"/>
              </a:rPr>
              <a:t>none</a:t>
            </a:r>
            <a:r>
              <a:rPr lang="en-US" sz="1250" i="1" dirty="0">
                <a:solidFill>
                  <a:srgbClr val="5A5A5A"/>
                </a:solidFill>
                <a:latin typeface="Montserrat" pitchFamily="34" charset="0"/>
                <a:ea typeface="Montserrat" pitchFamily="34" charset="-122"/>
                <a:cs typeface="Montserrat" pitchFamily="34" charset="-120"/>
              </a:rPr>
              <a:t> appears only on custom categories and lets the site inherit its PAN-DB category instead.</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65760"/>
            <a:ext cx="11155680" cy="658368"/>
          </a:xfrm>
          <a:prstGeom prst="rect">
            <a:avLst/>
          </a:prstGeom>
          <a:noFill/>
          <a:ln/>
        </p:spPr>
        <p:txBody>
          <a:bodyPr wrap="square" rtlCol="0"/>
          <a:lstStyle/>
          <a:p>
            <a:pPr marL="0" indent="0" algn="l">
              <a:buNone/>
            </a:pPr>
            <a:r>
              <a:rPr lang="en-US" sz="2500" b="1" dirty="0">
                <a:solidFill>
                  <a:srgbClr val="7A0019"/>
                </a:solidFill>
                <a:latin typeface="Poppins" pitchFamily="34" charset="0"/>
                <a:ea typeface="Poppins" pitchFamily="34" charset="-122"/>
                <a:cs typeface="Poppins" pitchFamily="34" charset="-120"/>
              </a:rPr>
              <a:t>Custom URL Categories</a:t>
            </a:r>
            <a:endParaRPr lang="en-US" sz="2500" dirty="0"/>
          </a:p>
        </p:txBody>
      </p:sp>
      <p:sp>
        <p:nvSpPr>
          <p:cNvPr id="3" name="Shape 1"/>
          <p:cNvSpPr/>
          <p:nvPr/>
        </p:nvSpPr>
        <p:spPr>
          <a:xfrm>
            <a:off x="521208" y="1042416"/>
            <a:ext cx="914400" cy="54864"/>
          </a:xfrm>
          <a:prstGeom prst="rect">
            <a:avLst/>
          </a:prstGeom>
          <a:solidFill>
            <a:srgbClr val="FDB71A"/>
          </a:solidFill>
          <a:ln/>
        </p:spPr>
        <p:txBody>
          <a:bodyPr/>
          <a:lstStyle/>
          <a:p>
            <a:endParaRPr lang="en-US"/>
          </a:p>
        </p:txBody>
      </p:sp>
      <p:sp>
        <p:nvSpPr>
          <p:cNvPr id="4" name="Text 2"/>
          <p:cNvSpPr/>
          <p:nvPr/>
        </p:nvSpPr>
        <p:spPr>
          <a:xfrm>
            <a:off x="502920" y="6437376"/>
            <a:ext cx="8229600" cy="274320"/>
          </a:xfrm>
          <a:prstGeom prst="rect">
            <a:avLst/>
          </a:prstGeom>
          <a:noFill/>
          <a:ln/>
        </p:spPr>
        <p:txBody>
          <a:bodyPr wrap="square" lIns="0" tIns="0" rIns="0" bIns="0" rtlCol="0" anchor="ctr"/>
          <a:lstStyle/>
          <a:p>
            <a:pPr marL="0" indent="0">
              <a:buNone/>
            </a:pPr>
            <a:r>
              <a:rPr lang="en-US" sz="900" dirty="0">
                <a:solidFill>
                  <a:srgbClr val="5A5A5A"/>
                </a:solidFill>
                <a:latin typeface="Montserrat" pitchFamily="34" charset="0"/>
                <a:ea typeface="Montserrat" pitchFamily="34" charset="-122"/>
                <a:cs typeface="Montserrat" pitchFamily="34" charset="-120"/>
              </a:rPr>
              <a:t>Information Security 2 · Unit 10 · Web Content Filtering</a:t>
            </a:r>
            <a:endParaRPr lang="en-US" sz="900" dirty="0"/>
          </a:p>
        </p:txBody>
      </p:sp>
      <p:sp>
        <p:nvSpPr>
          <p:cNvPr id="5" name="Text 3"/>
          <p:cNvSpPr/>
          <p:nvPr/>
        </p:nvSpPr>
        <p:spPr>
          <a:xfrm>
            <a:off x="11247120" y="6437376"/>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Montserrat" pitchFamily="34" charset="0"/>
                <a:ea typeface="Montserrat" pitchFamily="34" charset="-122"/>
                <a:cs typeface="Montserrat" pitchFamily="34" charset="-120"/>
              </a:rPr>
              <a:t>11</a:t>
            </a:r>
            <a:endParaRPr lang="en-US" sz="900" dirty="0"/>
          </a:p>
        </p:txBody>
      </p:sp>
      <p:sp>
        <p:nvSpPr>
          <p:cNvPr id="7" name="Text 4"/>
          <p:cNvSpPr/>
          <p:nvPr/>
        </p:nvSpPr>
        <p:spPr>
          <a:xfrm>
            <a:off x="548640" y="1371600"/>
            <a:ext cx="10972800" cy="365760"/>
          </a:xfrm>
          <a:prstGeom prst="rect">
            <a:avLst/>
          </a:prstGeom>
          <a:noFill/>
          <a:ln/>
        </p:spPr>
        <p:txBody>
          <a:bodyPr wrap="square" lIns="0" tIns="0" rIns="0" bIns="0" rtlCol="0" anchor="t"/>
          <a:lstStyle/>
          <a:p>
            <a:pPr marL="0" indent="0">
              <a:buNone/>
            </a:pPr>
            <a:r>
              <a:rPr lang="en-US" sz="1300" i="1" dirty="0">
                <a:solidFill>
                  <a:srgbClr val="5E0013"/>
                </a:solidFill>
                <a:latin typeface="Courier New" pitchFamily="34" charset="0"/>
                <a:ea typeface="Courier New" pitchFamily="34" charset="-122"/>
                <a:cs typeface="Courier New" pitchFamily="34" charset="-120"/>
              </a:rPr>
              <a:t>Objects &gt; Custom Objects &gt; URL Category &gt; Add</a:t>
            </a:r>
            <a:endParaRPr lang="en-US" sz="1300" dirty="0"/>
          </a:p>
        </p:txBody>
      </p:sp>
      <p:sp>
        <p:nvSpPr>
          <p:cNvPr id="8" name="Shape 5"/>
          <p:cNvSpPr/>
          <p:nvPr/>
        </p:nvSpPr>
        <p:spPr>
          <a:xfrm>
            <a:off x="1199236" y="1755648"/>
            <a:ext cx="4093767" cy="3209544"/>
          </a:xfrm>
          <a:prstGeom prst="rect">
            <a:avLst/>
          </a:prstGeom>
          <a:solidFill>
            <a:srgbClr val="FFFFFF"/>
          </a:solidFill>
          <a:ln w="12700">
            <a:solidFill>
              <a:srgbClr val="D9D2D4"/>
            </a:solidFill>
            <a:prstDash val="solid"/>
          </a:ln>
        </p:spPr>
        <p:txBody>
          <a:bodyPr/>
          <a:lstStyle/>
          <a:p>
            <a:endParaRPr lang="en-US"/>
          </a:p>
        </p:txBody>
      </p:sp>
      <p:pic>
        <p:nvPicPr>
          <p:cNvPr id="9" name="Image 0" descr="Custom URL Category of type URL List named Match-Shopping-URL-List containing three wildcard shopping sites"/>
          <p:cNvPicPr>
            <a:picLocks noChangeAspect="1"/>
          </p:cNvPicPr>
          <p:nvPr/>
        </p:nvPicPr>
        <p:blipFill>
          <a:blip r:embed="rId3"/>
          <a:stretch>
            <a:fillRect/>
          </a:stretch>
        </p:blipFill>
        <p:spPr>
          <a:xfrm>
            <a:off x="1226668" y="1783080"/>
            <a:ext cx="4038903" cy="3154680"/>
          </a:xfrm>
          <a:prstGeom prst="rect">
            <a:avLst/>
          </a:prstGeom>
        </p:spPr>
      </p:pic>
      <p:sp>
        <p:nvSpPr>
          <p:cNvPr id="10" name="Shape 6"/>
          <p:cNvSpPr/>
          <p:nvPr/>
        </p:nvSpPr>
        <p:spPr>
          <a:xfrm>
            <a:off x="7404536" y="1755648"/>
            <a:ext cx="3204607" cy="3209544"/>
          </a:xfrm>
          <a:prstGeom prst="rect">
            <a:avLst/>
          </a:prstGeom>
          <a:solidFill>
            <a:srgbClr val="FFFFFF"/>
          </a:solidFill>
          <a:ln w="12700">
            <a:solidFill>
              <a:srgbClr val="D9D2D4"/>
            </a:solidFill>
            <a:prstDash val="solid"/>
          </a:ln>
        </p:spPr>
        <p:txBody>
          <a:bodyPr/>
          <a:lstStyle/>
          <a:p>
            <a:endParaRPr lang="en-US"/>
          </a:p>
        </p:txBody>
      </p:sp>
      <p:pic>
        <p:nvPicPr>
          <p:cNvPr id="11" name="Image 1" descr="Custom URL Category of type Category Match named Marketing-Department listing low, medium, and high risk plus newly registered domain"/>
          <p:cNvPicPr>
            <a:picLocks noChangeAspect="1"/>
          </p:cNvPicPr>
          <p:nvPr/>
        </p:nvPicPr>
        <p:blipFill>
          <a:blip r:embed="rId4"/>
          <a:stretch>
            <a:fillRect/>
          </a:stretch>
        </p:blipFill>
        <p:spPr>
          <a:xfrm>
            <a:off x="7431968" y="1783080"/>
            <a:ext cx="3149743" cy="3154680"/>
          </a:xfrm>
          <a:prstGeom prst="rect">
            <a:avLst/>
          </a:prstGeom>
        </p:spPr>
      </p:pic>
      <p:sp>
        <p:nvSpPr>
          <p:cNvPr id="12" name="Text 7"/>
          <p:cNvSpPr/>
          <p:nvPr/>
        </p:nvSpPr>
        <p:spPr>
          <a:xfrm>
            <a:off x="548640" y="5074920"/>
            <a:ext cx="10972800" cy="822960"/>
          </a:xfrm>
          <a:prstGeom prst="rect">
            <a:avLst/>
          </a:prstGeom>
          <a:noFill/>
          <a:ln/>
        </p:spPr>
        <p:txBody>
          <a:bodyPr wrap="square" lIns="0" tIns="0" rIns="0" bIns="0" rtlCol="0" anchor="t"/>
          <a:lstStyle/>
          <a:p>
            <a:pPr marL="177800" indent="-177800">
              <a:spcAft>
                <a:spcPts val="400"/>
              </a:spcAft>
              <a:buSzPct val="100000"/>
              <a:buChar char="•"/>
            </a:pPr>
            <a:r>
              <a:rPr lang="en-US" sz="1350" b="1" dirty="0">
                <a:solidFill>
                  <a:srgbClr val="7A0019"/>
                </a:solidFill>
                <a:latin typeface="Montserrat" pitchFamily="34" charset="0"/>
                <a:ea typeface="Montserrat" pitchFamily="34" charset="-122"/>
                <a:cs typeface="Montserrat" pitchFamily="34" charset="-120"/>
              </a:rPr>
              <a:t>URL List</a:t>
            </a:r>
            <a:r>
              <a:rPr lang="en-US" sz="1350" dirty="0">
                <a:solidFill>
                  <a:srgbClr val="1F1A1B"/>
                </a:solidFill>
                <a:latin typeface="Montserrat" pitchFamily="34" charset="0"/>
                <a:ea typeface="Montserrat" pitchFamily="34" charset="-122"/>
                <a:cs typeface="Montserrat" pitchFamily="34" charset="-120"/>
              </a:rPr>
              <a:t>: specific sites, with wildcards such as </a:t>
            </a:r>
            <a:r>
              <a:rPr lang="en-US" sz="1350" dirty="0">
                <a:solidFill>
                  <a:srgbClr val="5E0013"/>
                </a:solidFill>
                <a:latin typeface="Courier New" pitchFamily="34" charset="0"/>
                <a:ea typeface="Courier New" pitchFamily="34" charset="-122"/>
                <a:cs typeface="Courier New" pitchFamily="34" charset="-120"/>
              </a:rPr>
              <a:t>*.nbcnews.com</a:t>
            </a:r>
            <a:r>
              <a:rPr lang="en-US" sz="1350" dirty="0">
                <a:solidFill>
                  <a:srgbClr val="1F1A1B"/>
                </a:solidFill>
                <a:latin typeface="Montserrat" pitchFamily="34" charset="0"/>
                <a:ea typeface="Montserrat" pitchFamily="34" charset="-122"/>
                <a:cs typeface="Montserrat" pitchFamily="34" charset="-120"/>
              </a:rPr>
              <a:t>.</a:t>
            </a:r>
            <a:endParaRPr lang="en-US" sz="1350" dirty="0"/>
          </a:p>
          <a:p>
            <a:pPr marL="177800" indent="-177800">
              <a:spcAft>
                <a:spcPts val="400"/>
              </a:spcAft>
              <a:buSzPct val="100000"/>
              <a:buChar char="•"/>
            </a:pPr>
            <a:r>
              <a:rPr lang="en-US" sz="1350" b="1" dirty="0">
                <a:solidFill>
                  <a:srgbClr val="7A0019"/>
                </a:solidFill>
                <a:latin typeface="Montserrat" pitchFamily="34" charset="0"/>
                <a:ea typeface="Montserrat" pitchFamily="34" charset="-122"/>
                <a:cs typeface="Montserrat" pitchFamily="34" charset="-120"/>
              </a:rPr>
              <a:t>Category Match</a:t>
            </a:r>
            <a:r>
              <a:rPr lang="en-US" sz="1350" dirty="0">
                <a:solidFill>
                  <a:srgbClr val="1F1A1B"/>
                </a:solidFill>
                <a:latin typeface="Montserrat" pitchFamily="34" charset="0"/>
                <a:ea typeface="Montserrat" pitchFamily="34" charset="-122"/>
                <a:cs typeface="Montserrat" pitchFamily="34" charset="-120"/>
              </a:rPr>
              <a:t>: a site must belong to every listed category.</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65760"/>
            <a:ext cx="11155680" cy="658368"/>
          </a:xfrm>
          <a:prstGeom prst="rect">
            <a:avLst/>
          </a:prstGeom>
          <a:noFill/>
          <a:ln/>
        </p:spPr>
        <p:txBody>
          <a:bodyPr wrap="square" rtlCol="0"/>
          <a:lstStyle/>
          <a:p>
            <a:pPr marL="0" indent="0" algn="l">
              <a:buNone/>
            </a:pPr>
            <a:r>
              <a:rPr lang="en-US" sz="2500" b="1" dirty="0">
                <a:solidFill>
                  <a:srgbClr val="7A0019"/>
                </a:solidFill>
                <a:latin typeface="Poppins" pitchFamily="34" charset="0"/>
                <a:ea typeface="Poppins" pitchFamily="34" charset="-122"/>
                <a:cs typeface="Poppins" pitchFamily="34" charset="-120"/>
              </a:rPr>
              <a:t>External Dynamic Lists</a:t>
            </a:r>
            <a:endParaRPr lang="en-US" sz="2500" dirty="0"/>
          </a:p>
        </p:txBody>
      </p:sp>
      <p:sp>
        <p:nvSpPr>
          <p:cNvPr id="3" name="Shape 1"/>
          <p:cNvSpPr/>
          <p:nvPr/>
        </p:nvSpPr>
        <p:spPr>
          <a:xfrm>
            <a:off x="521208" y="1042416"/>
            <a:ext cx="914400" cy="54864"/>
          </a:xfrm>
          <a:prstGeom prst="rect">
            <a:avLst/>
          </a:prstGeom>
          <a:solidFill>
            <a:srgbClr val="FDB71A"/>
          </a:solidFill>
          <a:ln/>
        </p:spPr>
        <p:txBody>
          <a:bodyPr/>
          <a:lstStyle/>
          <a:p>
            <a:endParaRPr lang="en-US"/>
          </a:p>
        </p:txBody>
      </p:sp>
      <p:sp>
        <p:nvSpPr>
          <p:cNvPr id="4" name="Text 2"/>
          <p:cNvSpPr/>
          <p:nvPr/>
        </p:nvSpPr>
        <p:spPr>
          <a:xfrm>
            <a:off x="502920" y="6437376"/>
            <a:ext cx="8229600" cy="274320"/>
          </a:xfrm>
          <a:prstGeom prst="rect">
            <a:avLst/>
          </a:prstGeom>
          <a:noFill/>
          <a:ln/>
        </p:spPr>
        <p:txBody>
          <a:bodyPr wrap="square" lIns="0" tIns="0" rIns="0" bIns="0" rtlCol="0" anchor="ctr"/>
          <a:lstStyle/>
          <a:p>
            <a:pPr marL="0" indent="0">
              <a:buNone/>
            </a:pPr>
            <a:r>
              <a:rPr lang="en-US" sz="900" dirty="0">
                <a:solidFill>
                  <a:srgbClr val="5A5A5A"/>
                </a:solidFill>
                <a:latin typeface="Montserrat" pitchFamily="34" charset="0"/>
                <a:ea typeface="Montserrat" pitchFamily="34" charset="-122"/>
                <a:cs typeface="Montserrat" pitchFamily="34" charset="-120"/>
              </a:rPr>
              <a:t>Information Security 2 · Unit 10 · Web Content Filtering</a:t>
            </a:r>
            <a:endParaRPr lang="en-US" sz="900" dirty="0"/>
          </a:p>
        </p:txBody>
      </p:sp>
      <p:sp>
        <p:nvSpPr>
          <p:cNvPr id="5" name="Text 3"/>
          <p:cNvSpPr/>
          <p:nvPr/>
        </p:nvSpPr>
        <p:spPr>
          <a:xfrm>
            <a:off x="11247120" y="6437376"/>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Montserrat" pitchFamily="34" charset="0"/>
                <a:ea typeface="Montserrat" pitchFamily="34" charset="-122"/>
                <a:cs typeface="Montserrat" pitchFamily="34" charset="-120"/>
              </a:rPr>
              <a:t>12</a:t>
            </a:r>
            <a:endParaRPr lang="en-US" sz="900" dirty="0"/>
          </a:p>
        </p:txBody>
      </p:sp>
      <p:sp>
        <p:nvSpPr>
          <p:cNvPr id="7" name="Text 4"/>
          <p:cNvSpPr/>
          <p:nvPr/>
        </p:nvSpPr>
        <p:spPr>
          <a:xfrm>
            <a:off x="548640" y="1371600"/>
            <a:ext cx="10972800" cy="365760"/>
          </a:xfrm>
          <a:prstGeom prst="rect">
            <a:avLst/>
          </a:prstGeom>
          <a:noFill/>
          <a:ln/>
        </p:spPr>
        <p:txBody>
          <a:bodyPr wrap="square" lIns="0" tIns="0" rIns="0" bIns="0" rtlCol="0" anchor="t"/>
          <a:lstStyle/>
          <a:p>
            <a:pPr marL="0" indent="0">
              <a:buNone/>
            </a:pPr>
            <a:r>
              <a:rPr lang="en-US" sz="1400" dirty="0">
                <a:solidFill>
                  <a:srgbClr val="5A5A5A"/>
                </a:solidFill>
                <a:latin typeface="Montserrat" pitchFamily="34" charset="0"/>
                <a:ea typeface="Montserrat" pitchFamily="34" charset="-122"/>
                <a:cs typeface="Montserrat" pitchFamily="34" charset="-120"/>
              </a:rPr>
              <a:t>Keep a block list on a web server, and the firewall pulls updates on its own.</a:t>
            </a:r>
            <a:endParaRPr lang="en-US" sz="1400" dirty="0"/>
          </a:p>
        </p:txBody>
      </p:sp>
      <p:sp>
        <p:nvSpPr>
          <p:cNvPr id="8" name="Text 5"/>
          <p:cNvSpPr/>
          <p:nvPr/>
        </p:nvSpPr>
        <p:spPr>
          <a:xfrm>
            <a:off x="548640" y="1828800"/>
            <a:ext cx="6766560" cy="3291840"/>
          </a:xfrm>
          <a:prstGeom prst="rect">
            <a:avLst/>
          </a:prstGeom>
          <a:noFill/>
          <a:ln/>
        </p:spPr>
        <p:txBody>
          <a:bodyPr wrap="square" lIns="0" tIns="0" rIns="0" bIns="0" rtlCol="0" anchor="t"/>
          <a:lstStyle/>
          <a:p>
            <a:pPr marL="177800" indent="-177800">
              <a:spcAft>
                <a:spcPts val="1200"/>
              </a:spcAft>
              <a:buSzPct val="100000"/>
              <a:buChar char="•"/>
            </a:pPr>
            <a:r>
              <a:rPr lang="en-US" sz="1450" dirty="0">
                <a:solidFill>
                  <a:srgbClr val="1F1A1B"/>
                </a:solidFill>
                <a:latin typeface="Montserrat" pitchFamily="34" charset="0"/>
                <a:ea typeface="Montserrat" pitchFamily="34" charset="-122"/>
                <a:cs typeface="Montserrat" pitchFamily="34" charset="-120"/>
              </a:rPr>
              <a:t>An </a:t>
            </a:r>
            <a:r>
              <a:rPr lang="en-US" sz="1450" b="1" dirty="0">
                <a:solidFill>
                  <a:srgbClr val="7A0019"/>
                </a:solidFill>
                <a:latin typeface="Montserrat" pitchFamily="34" charset="0"/>
                <a:ea typeface="Montserrat" pitchFamily="34" charset="-122"/>
                <a:cs typeface="Montserrat" pitchFamily="34" charset="-120"/>
              </a:rPr>
              <a:t>External Dynamic List (EDL)</a:t>
            </a:r>
            <a:r>
              <a:rPr lang="en-US" sz="1450" dirty="0">
                <a:solidFill>
                  <a:srgbClr val="1F1A1B"/>
                </a:solidFill>
                <a:latin typeface="Montserrat" pitchFamily="34" charset="0"/>
                <a:ea typeface="Montserrat" pitchFamily="34" charset="-122"/>
                <a:cs typeface="Montserrat" pitchFamily="34" charset="-120"/>
              </a:rPr>
              <a:t> is a text file of entries, one per line, reached over HTTP or HTTPS.</a:t>
            </a:r>
            <a:endParaRPr lang="en-US" sz="1450" dirty="0"/>
          </a:p>
          <a:p>
            <a:pPr marL="177800" indent="-177800">
              <a:spcAft>
                <a:spcPts val="1200"/>
              </a:spcAft>
              <a:buSzPct val="100000"/>
              <a:buChar char="•"/>
            </a:pPr>
            <a:r>
              <a:rPr lang="en-US" sz="1450" dirty="0">
                <a:solidFill>
                  <a:srgbClr val="1F1A1B"/>
                </a:solidFill>
                <a:latin typeface="Montserrat" pitchFamily="34" charset="0"/>
                <a:ea typeface="Montserrat" pitchFamily="34" charset="-122"/>
                <a:cs typeface="Montserrat" pitchFamily="34" charset="-120"/>
              </a:rPr>
              <a:t>Type </a:t>
            </a:r>
            <a:r>
              <a:rPr lang="en-US" sz="1450" dirty="0">
                <a:solidFill>
                  <a:srgbClr val="5E0013"/>
                </a:solidFill>
                <a:latin typeface="Courier New" pitchFamily="34" charset="0"/>
                <a:ea typeface="Courier New" pitchFamily="34" charset="-122"/>
                <a:cs typeface="Courier New" pitchFamily="34" charset="-120"/>
              </a:rPr>
              <a:t>URL List</a:t>
            </a:r>
            <a:r>
              <a:rPr lang="en-US" sz="1450" dirty="0">
                <a:solidFill>
                  <a:srgbClr val="1F1A1B"/>
                </a:solidFill>
                <a:latin typeface="Montserrat" pitchFamily="34" charset="0"/>
                <a:ea typeface="Montserrat" pitchFamily="34" charset="-122"/>
                <a:cs typeface="Montserrat" pitchFamily="34" charset="-120"/>
              </a:rPr>
              <a:t> appears in profiles and rules just like a category, marked with </a:t>
            </a:r>
            <a:r>
              <a:rPr lang="en-US" sz="1450" dirty="0">
                <a:solidFill>
                  <a:srgbClr val="5E0013"/>
                </a:solidFill>
                <a:latin typeface="Courier New" pitchFamily="34" charset="0"/>
                <a:ea typeface="Courier New" pitchFamily="34" charset="-122"/>
                <a:cs typeface="Courier New" pitchFamily="34" charset="-120"/>
              </a:rPr>
              <a:t>+</a:t>
            </a:r>
            <a:r>
              <a:rPr lang="en-US" sz="1450" dirty="0">
                <a:solidFill>
                  <a:srgbClr val="1F1A1B"/>
                </a:solidFill>
                <a:latin typeface="Montserrat" pitchFamily="34" charset="0"/>
                <a:ea typeface="Montserrat" pitchFamily="34" charset="-122"/>
                <a:cs typeface="Montserrat" pitchFamily="34" charset="-120"/>
              </a:rPr>
              <a:t>.</a:t>
            </a:r>
            <a:endParaRPr lang="en-US" sz="1450" dirty="0"/>
          </a:p>
          <a:p>
            <a:pPr marL="177800" indent="-177800">
              <a:spcAft>
                <a:spcPts val="1200"/>
              </a:spcAft>
              <a:buSzPct val="100000"/>
              <a:buChar char="•"/>
            </a:pPr>
            <a:r>
              <a:rPr lang="en-US" sz="1450" dirty="0">
                <a:solidFill>
                  <a:srgbClr val="1F1A1B"/>
                </a:solidFill>
                <a:latin typeface="Montserrat" pitchFamily="34" charset="0"/>
                <a:ea typeface="Montserrat" pitchFamily="34" charset="-122"/>
                <a:cs typeface="Montserrat" pitchFamily="34" charset="-120"/>
              </a:rPr>
              <a:t>After the first commit, list changes need </a:t>
            </a:r>
            <a:r>
              <a:rPr lang="en-US" sz="1450" b="1" dirty="0">
                <a:solidFill>
                  <a:srgbClr val="7A0019"/>
                </a:solidFill>
                <a:latin typeface="Montserrat" pitchFamily="34" charset="0"/>
                <a:ea typeface="Montserrat" pitchFamily="34" charset="-122"/>
                <a:cs typeface="Montserrat" pitchFamily="34" charset="-120"/>
              </a:rPr>
              <a:t>no further commit</a:t>
            </a:r>
            <a:r>
              <a:rPr lang="en-US" sz="1450" dirty="0">
                <a:solidFill>
                  <a:srgbClr val="1F1A1B"/>
                </a:solidFill>
                <a:latin typeface="Montserrat" pitchFamily="34" charset="0"/>
                <a:ea typeface="Montserrat" pitchFamily="34" charset="-122"/>
                <a:cs typeface="Montserrat" pitchFamily="34" charset="-120"/>
              </a:rPr>
              <a:t>.</a:t>
            </a:r>
            <a:endParaRPr lang="en-US" sz="1450" dirty="0"/>
          </a:p>
          <a:p>
            <a:pPr marL="177800" indent="-177800">
              <a:spcAft>
                <a:spcPts val="1200"/>
              </a:spcAft>
              <a:buSzPct val="100000"/>
              <a:buChar char="•"/>
            </a:pPr>
            <a:r>
              <a:rPr lang="en-US" sz="1450" dirty="0">
                <a:solidFill>
                  <a:srgbClr val="1F1A1B"/>
                </a:solidFill>
                <a:latin typeface="Montserrat" pitchFamily="34" charset="0"/>
                <a:ea typeface="Montserrat" pitchFamily="34" charset="-122"/>
                <a:cs typeface="Montserrat" pitchFamily="34" charset="-120"/>
              </a:rPr>
              <a:t>Use </a:t>
            </a:r>
            <a:r>
              <a:rPr lang="en-US" sz="1450" b="1" dirty="0">
                <a:solidFill>
                  <a:srgbClr val="1F1A1B"/>
                </a:solidFill>
                <a:latin typeface="Montserrat" pitchFamily="34" charset="0"/>
                <a:ea typeface="Montserrat" pitchFamily="34" charset="-122"/>
                <a:cs typeface="Montserrat" pitchFamily="34" charset="-120"/>
              </a:rPr>
              <a:t>Test Source URL</a:t>
            </a:r>
            <a:r>
              <a:rPr lang="en-US" sz="1450" dirty="0">
                <a:solidFill>
                  <a:srgbClr val="1F1A1B"/>
                </a:solidFill>
                <a:latin typeface="Montserrat" pitchFamily="34" charset="0"/>
                <a:ea typeface="Montserrat" pitchFamily="34" charset="-122"/>
                <a:cs typeface="Montserrat" pitchFamily="34" charset="-120"/>
              </a:rPr>
              <a:t> to confirm the firewall can reach the file.</a:t>
            </a:r>
            <a:endParaRPr lang="en-US" sz="1450" dirty="0"/>
          </a:p>
        </p:txBody>
      </p:sp>
      <p:sp>
        <p:nvSpPr>
          <p:cNvPr id="9" name="Shape 6"/>
          <p:cNvSpPr/>
          <p:nvPr/>
        </p:nvSpPr>
        <p:spPr>
          <a:xfrm>
            <a:off x="7589520" y="1554480"/>
            <a:ext cx="4069080" cy="3291840"/>
          </a:xfrm>
          <a:prstGeom prst="roundRect">
            <a:avLst>
              <a:gd name="adj" fmla="val 556"/>
            </a:avLst>
          </a:prstGeom>
          <a:solidFill>
            <a:srgbClr val="FBF1F3"/>
          </a:solidFill>
          <a:ln/>
          <a:effectLst>
            <a:outerShdw blurRad="88900" dist="38100" dir="5400000" algn="bl" rotWithShape="0">
              <a:srgbClr val="000000">
                <a:alpha val="15000"/>
              </a:srgbClr>
            </a:outerShdw>
          </a:effectLst>
        </p:spPr>
        <p:txBody>
          <a:bodyPr/>
          <a:lstStyle/>
          <a:p>
            <a:endParaRPr lang="en-US"/>
          </a:p>
        </p:txBody>
      </p:sp>
      <p:sp>
        <p:nvSpPr>
          <p:cNvPr id="10" name="Shape 7"/>
          <p:cNvSpPr/>
          <p:nvPr/>
        </p:nvSpPr>
        <p:spPr>
          <a:xfrm>
            <a:off x="7909560" y="1828800"/>
            <a:ext cx="640080" cy="640080"/>
          </a:xfrm>
          <a:prstGeom prst="ellipse">
            <a:avLst/>
          </a:prstGeom>
          <a:solidFill>
            <a:srgbClr val="7A0019"/>
          </a:solidFill>
          <a:ln/>
        </p:spPr>
        <p:txBody>
          <a:bodyPr/>
          <a:lstStyle/>
          <a:p>
            <a:endParaRPr lang="en-US"/>
          </a:p>
        </p:txBody>
      </p:sp>
      <p:pic>
        <p:nvPicPr>
          <p:cNvPr id="11" name="Image 0" descr="Lab 9 EDL icon"/>
          <p:cNvPicPr>
            <a:picLocks noChangeAspect="1"/>
          </p:cNvPicPr>
          <p:nvPr/>
        </p:nvPicPr>
        <p:blipFill>
          <a:blip r:embed="rId3"/>
          <a:stretch>
            <a:fillRect/>
          </a:stretch>
        </p:blipFill>
        <p:spPr>
          <a:xfrm>
            <a:off x="8065008" y="1984248"/>
            <a:ext cx="329184" cy="329184"/>
          </a:xfrm>
          <a:prstGeom prst="rect">
            <a:avLst/>
          </a:prstGeom>
        </p:spPr>
      </p:pic>
      <p:sp>
        <p:nvSpPr>
          <p:cNvPr id="12" name="Text 8"/>
          <p:cNvSpPr/>
          <p:nvPr/>
        </p:nvSpPr>
        <p:spPr>
          <a:xfrm>
            <a:off x="8686800" y="1874520"/>
            <a:ext cx="2743200" cy="548640"/>
          </a:xfrm>
          <a:prstGeom prst="rect">
            <a:avLst/>
          </a:prstGeom>
          <a:noFill/>
          <a:ln/>
        </p:spPr>
        <p:txBody>
          <a:bodyPr wrap="square" lIns="0" tIns="0" rIns="0" bIns="0" rtlCol="0" anchor="t"/>
          <a:lstStyle/>
          <a:p>
            <a:pPr marL="0" indent="0">
              <a:buNone/>
            </a:pPr>
            <a:r>
              <a:rPr lang="en-US" sz="1350" b="1" dirty="0">
                <a:solidFill>
                  <a:srgbClr val="7A0019"/>
                </a:solidFill>
                <a:latin typeface="Poppins" pitchFamily="34" charset="0"/>
                <a:ea typeface="Poppins" pitchFamily="34" charset="-122"/>
                <a:cs typeface="Poppins" pitchFamily="34" charset="-120"/>
              </a:rPr>
              <a:t>Lab 9 EDL</a:t>
            </a:r>
            <a:endParaRPr lang="en-US" sz="1350" dirty="0"/>
          </a:p>
        </p:txBody>
      </p:sp>
      <p:sp>
        <p:nvSpPr>
          <p:cNvPr id="13" name="Text 9"/>
          <p:cNvSpPr/>
          <p:nvPr/>
        </p:nvSpPr>
        <p:spPr>
          <a:xfrm>
            <a:off x="7818120" y="2697480"/>
            <a:ext cx="3611880" cy="1874520"/>
          </a:xfrm>
          <a:prstGeom prst="rect">
            <a:avLst/>
          </a:prstGeom>
          <a:noFill/>
          <a:ln/>
        </p:spPr>
        <p:txBody>
          <a:bodyPr wrap="square" lIns="0" tIns="0" rIns="0" bIns="0" rtlCol="0" anchor="t"/>
          <a:lstStyle/>
          <a:p>
            <a:pPr marL="0" indent="0">
              <a:spcAft>
                <a:spcPts val="800"/>
              </a:spcAft>
              <a:buNone/>
            </a:pPr>
            <a:r>
              <a:rPr lang="en-US" sz="1300" dirty="0">
                <a:solidFill>
                  <a:srgbClr val="5E0013"/>
                </a:solidFill>
                <a:latin typeface="Courier New" pitchFamily="34" charset="0"/>
                <a:ea typeface="Courier New" pitchFamily="34" charset="-122"/>
                <a:cs typeface="Courier New" pitchFamily="34" charset="-120"/>
              </a:rPr>
              <a:t>Objects &gt; External Dynamic Lists</a:t>
            </a:r>
            <a:endParaRPr lang="en-US" sz="1300" dirty="0"/>
          </a:p>
          <a:p>
            <a:pPr marL="0" indent="0">
              <a:spcAft>
                <a:spcPts val="800"/>
              </a:spcAft>
              <a:buNone/>
            </a:pPr>
            <a:r>
              <a:rPr lang="en-US" sz="1300" dirty="0">
                <a:solidFill>
                  <a:srgbClr val="1F1A1B"/>
                </a:solidFill>
                <a:latin typeface="Montserrat" pitchFamily="34" charset="0"/>
                <a:ea typeface="Montserrat" pitchFamily="34" charset="-122"/>
                <a:cs typeface="Montserrat" pitchFamily="34" charset="-120"/>
              </a:rPr>
              <a:t>Name: </a:t>
            </a:r>
            <a:r>
              <a:rPr lang="en-US" sz="1300" dirty="0">
                <a:solidFill>
                  <a:srgbClr val="5E0013"/>
                </a:solidFill>
                <a:latin typeface="Courier New" pitchFamily="34" charset="0"/>
                <a:ea typeface="Courier New" pitchFamily="34" charset="-122"/>
                <a:cs typeface="Courier New" pitchFamily="34" charset="-120"/>
              </a:rPr>
              <a:t>malicious-urls-edl</a:t>
            </a:r>
            <a:endParaRPr lang="en-US" sz="1300" dirty="0"/>
          </a:p>
          <a:p>
            <a:pPr marL="0" indent="0">
              <a:spcAft>
                <a:spcPts val="800"/>
              </a:spcAft>
              <a:buNone/>
            </a:pPr>
            <a:r>
              <a:rPr lang="en-US" sz="1300" dirty="0">
                <a:solidFill>
                  <a:srgbClr val="1F1A1B"/>
                </a:solidFill>
                <a:latin typeface="Montserrat" pitchFamily="34" charset="0"/>
                <a:ea typeface="Montserrat" pitchFamily="34" charset="-122"/>
                <a:cs typeface="Montserrat" pitchFamily="34" charset="-120"/>
              </a:rPr>
              <a:t>Type: URL List</a:t>
            </a:r>
            <a:endParaRPr lang="en-US" sz="1300" dirty="0"/>
          </a:p>
          <a:p>
            <a:pPr marL="0" indent="0">
              <a:spcAft>
                <a:spcPts val="800"/>
              </a:spcAft>
              <a:buNone/>
            </a:pPr>
            <a:r>
              <a:rPr lang="en-US" sz="1300" dirty="0">
                <a:solidFill>
                  <a:srgbClr val="1F1A1B"/>
                </a:solidFill>
                <a:latin typeface="Montserrat" pitchFamily="34" charset="0"/>
                <a:ea typeface="Montserrat" pitchFamily="34" charset="-122"/>
                <a:cs typeface="Montserrat" pitchFamily="34" charset="-120"/>
              </a:rPr>
              <a:t>Updates: every five minutes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65760"/>
            <a:ext cx="11155680" cy="658368"/>
          </a:xfrm>
          <a:prstGeom prst="rect">
            <a:avLst/>
          </a:prstGeom>
          <a:noFill/>
          <a:ln/>
        </p:spPr>
        <p:txBody>
          <a:bodyPr wrap="square" rtlCol="0"/>
          <a:lstStyle/>
          <a:p>
            <a:pPr marL="0" indent="0" algn="l">
              <a:buNone/>
            </a:pPr>
            <a:r>
              <a:rPr lang="en-US" sz="2500" b="1" dirty="0">
                <a:solidFill>
                  <a:srgbClr val="7A0019"/>
                </a:solidFill>
                <a:latin typeface="Poppins" pitchFamily="34" charset="0"/>
                <a:ea typeface="Poppins" pitchFamily="34" charset="-122"/>
                <a:cs typeface="Poppins" pitchFamily="34" charset="-120"/>
              </a:rPr>
              <a:t>Response Pages</a:t>
            </a:r>
            <a:endParaRPr lang="en-US" sz="2500" dirty="0"/>
          </a:p>
        </p:txBody>
      </p:sp>
      <p:sp>
        <p:nvSpPr>
          <p:cNvPr id="3" name="Shape 1"/>
          <p:cNvSpPr/>
          <p:nvPr/>
        </p:nvSpPr>
        <p:spPr>
          <a:xfrm>
            <a:off x="521208" y="1042416"/>
            <a:ext cx="914400" cy="54864"/>
          </a:xfrm>
          <a:prstGeom prst="rect">
            <a:avLst/>
          </a:prstGeom>
          <a:solidFill>
            <a:srgbClr val="FDB71A"/>
          </a:solidFill>
          <a:ln/>
        </p:spPr>
        <p:txBody>
          <a:bodyPr/>
          <a:lstStyle/>
          <a:p>
            <a:endParaRPr lang="en-US"/>
          </a:p>
        </p:txBody>
      </p:sp>
      <p:sp>
        <p:nvSpPr>
          <p:cNvPr id="4" name="Text 2"/>
          <p:cNvSpPr/>
          <p:nvPr/>
        </p:nvSpPr>
        <p:spPr>
          <a:xfrm>
            <a:off x="502920" y="6437376"/>
            <a:ext cx="8229600" cy="274320"/>
          </a:xfrm>
          <a:prstGeom prst="rect">
            <a:avLst/>
          </a:prstGeom>
          <a:noFill/>
          <a:ln/>
        </p:spPr>
        <p:txBody>
          <a:bodyPr wrap="square" lIns="0" tIns="0" rIns="0" bIns="0" rtlCol="0" anchor="ctr"/>
          <a:lstStyle/>
          <a:p>
            <a:pPr marL="0" indent="0">
              <a:buNone/>
            </a:pPr>
            <a:r>
              <a:rPr lang="en-US" sz="900" dirty="0">
                <a:solidFill>
                  <a:srgbClr val="5A5A5A"/>
                </a:solidFill>
                <a:latin typeface="Montserrat" pitchFamily="34" charset="0"/>
                <a:ea typeface="Montserrat" pitchFamily="34" charset="-122"/>
                <a:cs typeface="Montserrat" pitchFamily="34" charset="-120"/>
              </a:rPr>
              <a:t>Information Security 2 · Unit 10 · Web Content Filtering</a:t>
            </a:r>
            <a:endParaRPr lang="en-US" sz="900" dirty="0"/>
          </a:p>
        </p:txBody>
      </p:sp>
      <p:sp>
        <p:nvSpPr>
          <p:cNvPr id="5" name="Text 3"/>
          <p:cNvSpPr/>
          <p:nvPr/>
        </p:nvSpPr>
        <p:spPr>
          <a:xfrm>
            <a:off x="11247120" y="6437376"/>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Montserrat" pitchFamily="34" charset="0"/>
                <a:ea typeface="Montserrat" pitchFamily="34" charset="-122"/>
                <a:cs typeface="Montserrat" pitchFamily="34" charset="-120"/>
              </a:rPr>
              <a:t>13</a:t>
            </a:r>
            <a:endParaRPr lang="en-US" sz="900" dirty="0"/>
          </a:p>
        </p:txBody>
      </p:sp>
      <p:sp>
        <p:nvSpPr>
          <p:cNvPr id="7" name="Text 4"/>
          <p:cNvSpPr/>
          <p:nvPr/>
        </p:nvSpPr>
        <p:spPr>
          <a:xfrm>
            <a:off x="548640" y="1371600"/>
            <a:ext cx="10972800" cy="365760"/>
          </a:xfrm>
          <a:prstGeom prst="rect">
            <a:avLst/>
          </a:prstGeom>
          <a:noFill/>
          <a:ln/>
        </p:spPr>
        <p:txBody>
          <a:bodyPr wrap="square" lIns="0" tIns="0" rIns="0" bIns="0" rtlCol="0" anchor="t"/>
          <a:lstStyle/>
          <a:p>
            <a:pPr marL="0" indent="0">
              <a:buNone/>
            </a:pPr>
            <a:r>
              <a:rPr lang="en-US" sz="1400" dirty="0">
                <a:solidFill>
                  <a:srgbClr val="5A5A5A"/>
                </a:solidFill>
                <a:latin typeface="Montserrat" pitchFamily="34" charset="0"/>
                <a:ea typeface="Montserrat" pitchFamily="34" charset="-122"/>
                <a:cs typeface="Montserrat" pitchFamily="34" charset="-120"/>
              </a:rPr>
              <a:t>Block, continue, and override each present a different page to the user.</a:t>
            </a:r>
            <a:endParaRPr lang="en-US" sz="1400" dirty="0"/>
          </a:p>
        </p:txBody>
      </p:sp>
      <p:sp>
        <p:nvSpPr>
          <p:cNvPr id="8" name="Shape 5"/>
          <p:cNvSpPr/>
          <p:nvPr/>
        </p:nvSpPr>
        <p:spPr>
          <a:xfrm>
            <a:off x="521208" y="1801368"/>
            <a:ext cx="3621024" cy="1826978"/>
          </a:xfrm>
          <a:prstGeom prst="rect">
            <a:avLst/>
          </a:prstGeom>
          <a:solidFill>
            <a:srgbClr val="FFFFFF"/>
          </a:solidFill>
          <a:ln w="12700">
            <a:solidFill>
              <a:srgbClr val="D9D2D4"/>
            </a:solidFill>
            <a:prstDash val="solid"/>
          </a:ln>
        </p:spPr>
        <p:txBody>
          <a:bodyPr/>
          <a:lstStyle/>
          <a:p>
            <a:endParaRPr lang="en-US"/>
          </a:p>
        </p:txBody>
      </p:sp>
      <p:pic>
        <p:nvPicPr>
          <p:cNvPr id="9" name="Image 0" descr="Web Page Blocked response page for a gambling site showing user IP, URL, and category"/>
          <p:cNvPicPr>
            <a:picLocks noChangeAspect="1"/>
          </p:cNvPicPr>
          <p:nvPr/>
        </p:nvPicPr>
        <p:blipFill>
          <a:blip r:embed="rId3"/>
          <a:stretch>
            <a:fillRect/>
          </a:stretch>
        </p:blipFill>
        <p:spPr>
          <a:xfrm>
            <a:off x="548640" y="1828800"/>
            <a:ext cx="3566160" cy="1772114"/>
          </a:xfrm>
          <a:prstGeom prst="rect">
            <a:avLst/>
          </a:prstGeom>
        </p:spPr>
      </p:pic>
      <p:sp>
        <p:nvSpPr>
          <p:cNvPr id="10" name="Shape 6"/>
          <p:cNvSpPr/>
          <p:nvPr/>
        </p:nvSpPr>
        <p:spPr>
          <a:xfrm>
            <a:off x="4288536" y="1801368"/>
            <a:ext cx="3621024" cy="2046007"/>
          </a:xfrm>
          <a:prstGeom prst="rect">
            <a:avLst/>
          </a:prstGeom>
          <a:solidFill>
            <a:srgbClr val="FFFFFF"/>
          </a:solidFill>
          <a:ln w="12700">
            <a:solidFill>
              <a:srgbClr val="D9D2D4"/>
            </a:solidFill>
            <a:prstDash val="solid"/>
          </a:ln>
        </p:spPr>
        <p:txBody>
          <a:bodyPr/>
          <a:lstStyle/>
          <a:p>
            <a:endParaRPr lang="en-US"/>
          </a:p>
        </p:txBody>
      </p:sp>
      <p:pic>
        <p:nvPicPr>
          <p:cNvPr id="11" name="Image 1" descr="Continue response page for hacker9.com in the hacking category with a Continue button"/>
          <p:cNvPicPr>
            <a:picLocks noChangeAspect="1"/>
          </p:cNvPicPr>
          <p:nvPr/>
        </p:nvPicPr>
        <p:blipFill>
          <a:blip r:embed="rId4"/>
          <a:stretch>
            <a:fillRect/>
          </a:stretch>
        </p:blipFill>
        <p:spPr>
          <a:xfrm>
            <a:off x="4315968" y="1828800"/>
            <a:ext cx="3566160" cy="1991143"/>
          </a:xfrm>
          <a:prstGeom prst="rect">
            <a:avLst/>
          </a:prstGeom>
        </p:spPr>
      </p:pic>
      <p:sp>
        <p:nvSpPr>
          <p:cNvPr id="12" name="Shape 7"/>
          <p:cNvSpPr/>
          <p:nvPr/>
        </p:nvSpPr>
        <p:spPr>
          <a:xfrm>
            <a:off x="8055864" y="1801368"/>
            <a:ext cx="3621024" cy="2096457"/>
          </a:xfrm>
          <a:prstGeom prst="rect">
            <a:avLst/>
          </a:prstGeom>
          <a:solidFill>
            <a:srgbClr val="FFFFFF"/>
          </a:solidFill>
          <a:ln w="12700">
            <a:solidFill>
              <a:srgbClr val="D9D2D4"/>
            </a:solidFill>
            <a:prstDash val="solid"/>
          </a:ln>
        </p:spPr>
        <p:txBody>
          <a:bodyPr/>
          <a:lstStyle/>
          <a:p>
            <a:endParaRPr lang="en-US"/>
          </a:p>
        </p:txBody>
      </p:sp>
      <p:pic>
        <p:nvPicPr>
          <p:cNvPr id="13" name="Image 2" descr="Override response page for hidester.com asking for the administrator override password"/>
          <p:cNvPicPr>
            <a:picLocks noChangeAspect="1"/>
          </p:cNvPicPr>
          <p:nvPr/>
        </p:nvPicPr>
        <p:blipFill>
          <a:blip r:embed="rId5"/>
          <a:stretch>
            <a:fillRect/>
          </a:stretch>
        </p:blipFill>
        <p:spPr>
          <a:xfrm>
            <a:off x="8083296" y="1828800"/>
            <a:ext cx="3566160" cy="2041593"/>
          </a:xfrm>
          <a:prstGeom prst="rect">
            <a:avLst/>
          </a:prstGeom>
        </p:spPr>
      </p:pic>
      <p:sp>
        <p:nvSpPr>
          <p:cNvPr id="14" name="Text 8"/>
          <p:cNvSpPr/>
          <p:nvPr/>
        </p:nvSpPr>
        <p:spPr>
          <a:xfrm>
            <a:off x="548640" y="3710642"/>
            <a:ext cx="3566160" cy="320040"/>
          </a:xfrm>
          <a:prstGeom prst="rect">
            <a:avLst/>
          </a:prstGeom>
          <a:noFill/>
          <a:ln/>
        </p:spPr>
        <p:txBody>
          <a:bodyPr wrap="square" lIns="0" tIns="0" rIns="0" bIns="0" rtlCol="0" anchor="ctr"/>
          <a:lstStyle/>
          <a:p>
            <a:pPr marL="0" indent="0" algn="ctr">
              <a:buNone/>
            </a:pPr>
            <a:r>
              <a:rPr lang="en-US" sz="1300" b="1" dirty="0">
                <a:solidFill>
                  <a:srgbClr val="5E0013"/>
                </a:solidFill>
                <a:latin typeface="Courier New" pitchFamily="34" charset="0"/>
                <a:ea typeface="Courier New" pitchFamily="34" charset="-122"/>
                <a:cs typeface="Courier New" pitchFamily="34" charset="-120"/>
              </a:rPr>
              <a:t>block</a:t>
            </a:r>
            <a:endParaRPr lang="en-US" sz="1300" dirty="0"/>
          </a:p>
        </p:txBody>
      </p:sp>
      <p:sp>
        <p:nvSpPr>
          <p:cNvPr id="15" name="Text 9"/>
          <p:cNvSpPr/>
          <p:nvPr/>
        </p:nvSpPr>
        <p:spPr>
          <a:xfrm>
            <a:off x="4315968" y="3710642"/>
            <a:ext cx="3566160" cy="320040"/>
          </a:xfrm>
          <a:prstGeom prst="rect">
            <a:avLst/>
          </a:prstGeom>
          <a:noFill/>
          <a:ln/>
        </p:spPr>
        <p:txBody>
          <a:bodyPr wrap="square" lIns="0" tIns="0" rIns="0" bIns="0" rtlCol="0" anchor="ctr"/>
          <a:lstStyle/>
          <a:p>
            <a:pPr marL="0" indent="0" algn="ctr">
              <a:buNone/>
            </a:pPr>
            <a:r>
              <a:rPr lang="en-US" sz="1300" b="1" dirty="0">
                <a:solidFill>
                  <a:srgbClr val="5E0013"/>
                </a:solidFill>
                <a:latin typeface="Courier New" pitchFamily="34" charset="0"/>
                <a:ea typeface="Courier New" pitchFamily="34" charset="-122"/>
                <a:cs typeface="Courier New" pitchFamily="34" charset="-120"/>
              </a:rPr>
              <a:t>continue</a:t>
            </a:r>
            <a:endParaRPr lang="en-US" sz="1300" dirty="0"/>
          </a:p>
        </p:txBody>
      </p:sp>
      <p:sp>
        <p:nvSpPr>
          <p:cNvPr id="16" name="Text 10"/>
          <p:cNvSpPr/>
          <p:nvPr/>
        </p:nvSpPr>
        <p:spPr>
          <a:xfrm>
            <a:off x="8083296" y="3710642"/>
            <a:ext cx="3566160" cy="320040"/>
          </a:xfrm>
          <a:prstGeom prst="rect">
            <a:avLst/>
          </a:prstGeom>
          <a:noFill/>
          <a:ln/>
        </p:spPr>
        <p:txBody>
          <a:bodyPr wrap="square" lIns="0" tIns="0" rIns="0" bIns="0" rtlCol="0" anchor="ctr"/>
          <a:lstStyle/>
          <a:p>
            <a:pPr marL="0" indent="0" algn="ctr">
              <a:buNone/>
            </a:pPr>
            <a:r>
              <a:rPr lang="en-US" sz="1300" b="1" dirty="0">
                <a:solidFill>
                  <a:srgbClr val="5E0013"/>
                </a:solidFill>
                <a:latin typeface="Courier New" pitchFamily="34" charset="0"/>
                <a:ea typeface="Courier New" pitchFamily="34" charset="-122"/>
                <a:cs typeface="Courier New" pitchFamily="34" charset="-120"/>
              </a:rPr>
              <a:t>override</a:t>
            </a:r>
            <a:endParaRPr lang="en-US" sz="1300" dirty="0"/>
          </a:p>
        </p:txBody>
      </p:sp>
      <p:sp>
        <p:nvSpPr>
          <p:cNvPr id="17" name="Text 11"/>
          <p:cNvSpPr/>
          <p:nvPr/>
        </p:nvSpPr>
        <p:spPr>
          <a:xfrm>
            <a:off x="548640" y="5074920"/>
            <a:ext cx="10972800" cy="365760"/>
          </a:xfrm>
          <a:prstGeom prst="rect">
            <a:avLst/>
          </a:prstGeom>
          <a:noFill/>
          <a:ln/>
        </p:spPr>
        <p:txBody>
          <a:bodyPr wrap="square" lIns="0" tIns="0" rIns="0" bIns="0" rtlCol="0" anchor="t"/>
          <a:lstStyle/>
          <a:p>
            <a:pPr marL="0" indent="0">
              <a:buNone/>
            </a:pPr>
            <a:r>
              <a:rPr lang="en-US" sz="1200" i="1" dirty="0">
                <a:solidFill>
                  <a:srgbClr val="5A5A5A"/>
                </a:solidFill>
                <a:latin typeface="Montserrat" pitchFamily="34" charset="0"/>
                <a:ea typeface="Montserrat" pitchFamily="34" charset="-122"/>
                <a:cs typeface="Montserrat" pitchFamily="34" charset="-120"/>
              </a:rPr>
              <a:t>Customize the pages at Device &gt; Response Pages. Layer 3 interfaces need Response Pages allowed in their Interface Management Profile.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65760"/>
            <a:ext cx="11155680" cy="658368"/>
          </a:xfrm>
          <a:prstGeom prst="rect">
            <a:avLst/>
          </a:prstGeom>
          <a:noFill/>
          <a:ln/>
        </p:spPr>
        <p:txBody>
          <a:bodyPr wrap="square" rtlCol="0"/>
          <a:lstStyle/>
          <a:p>
            <a:pPr marL="0" indent="0" algn="l">
              <a:buNone/>
            </a:pPr>
            <a:r>
              <a:rPr lang="en-US" sz="2500" b="1" dirty="0">
                <a:solidFill>
                  <a:srgbClr val="7A0019"/>
                </a:solidFill>
                <a:latin typeface="Poppins" pitchFamily="34" charset="0"/>
                <a:ea typeface="Poppins" pitchFamily="34" charset="-122"/>
                <a:cs typeface="Poppins" pitchFamily="34" charset="-120"/>
              </a:rPr>
              <a:t>Profile Settings and Inline Categorization</a:t>
            </a:r>
            <a:endParaRPr lang="en-US" sz="2500" dirty="0"/>
          </a:p>
        </p:txBody>
      </p:sp>
      <p:sp>
        <p:nvSpPr>
          <p:cNvPr id="3" name="Shape 1"/>
          <p:cNvSpPr/>
          <p:nvPr/>
        </p:nvSpPr>
        <p:spPr>
          <a:xfrm>
            <a:off x="521208" y="1042416"/>
            <a:ext cx="914400" cy="54864"/>
          </a:xfrm>
          <a:prstGeom prst="rect">
            <a:avLst/>
          </a:prstGeom>
          <a:solidFill>
            <a:srgbClr val="FDB71A"/>
          </a:solidFill>
          <a:ln/>
        </p:spPr>
        <p:txBody>
          <a:bodyPr/>
          <a:lstStyle/>
          <a:p>
            <a:endParaRPr lang="en-US"/>
          </a:p>
        </p:txBody>
      </p:sp>
      <p:sp>
        <p:nvSpPr>
          <p:cNvPr id="4" name="Text 2"/>
          <p:cNvSpPr/>
          <p:nvPr/>
        </p:nvSpPr>
        <p:spPr>
          <a:xfrm>
            <a:off x="502920" y="6437376"/>
            <a:ext cx="8229600" cy="274320"/>
          </a:xfrm>
          <a:prstGeom prst="rect">
            <a:avLst/>
          </a:prstGeom>
          <a:noFill/>
          <a:ln/>
        </p:spPr>
        <p:txBody>
          <a:bodyPr wrap="square" lIns="0" tIns="0" rIns="0" bIns="0" rtlCol="0" anchor="ctr"/>
          <a:lstStyle/>
          <a:p>
            <a:pPr marL="0" indent="0">
              <a:buNone/>
            </a:pPr>
            <a:r>
              <a:rPr lang="en-US" sz="900" dirty="0">
                <a:solidFill>
                  <a:srgbClr val="5A5A5A"/>
                </a:solidFill>
                <a:latin typeface="Montserrat" pitchFamily="34" charset="0"/>
                <a:ea typeface="Montserrat" pitchFamily="34" charset="-122"/>
                <a:cs typeface="Montserrat" pitchFamily="34" charset="-120"/>
              </a:rPr>
              <a:t>Information Security 2 · Unit 10 · Web Content Filtering</a:t>
            </a:r>
            <a:endParaRPr lang="en-US" sz="900" dirty="0"/>
          </a:p>
        </p:txBody>
      </p:sp>
      <p:sp>
        <p:nvSpPr>
          <p:cNvPr id="5" name="Text 3"/>
          <p:cNvSpPr/>
          <p:nvPr/>
        </p:nvSpPr>
        <p:spPr>
          <a:xfrm>
            <a:off x="11247120" y="6437376"/>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Montserrat" pitchFamily="34" charset="0"/>
                <a:ea typeface="Montserrat" pitchFamily="34" charset="-122"/>
                <a:cs typeface="Montserrat" pitchFamily="34" charset="-120"/>
              </a:rPr>
              <a:t>14</a:t>
            </a:r>
            <a:endParaRPr lang="en-US" sz="900" dirty="0"/>
          </a:p>
        </p:txBody>
      </p:sp>
      <p:sp>
        <p:nvSpPr>
          <p:cNvPr id="7" name="Text 4"/>
          <p:cNvSpPr/>
          <p:nvPr/>
        </p:nvSpPr>
        <p:spPr>
          <a:xfrm>
            <a:off x="548640" y="1325880"/>
            <a:ext cx="5394960" cy="320040"/>
          </a:xfrm>
          <a:prstGeom prst="rect">
            <a:avLst/>
          </a:prstGeom>
          <a:noFill/>
          <a:ln/>
        </p:spPr>
        <p:txBody>
          <a:bodyPr wrap="square" lIns="0" tIns="0" rIns="0" bIns="0" rtlCol="0" anchor="t"/>
          <a:lstStyle/>
          <a:p>
            <a:pPr marL="0" indent="0">
              <a:buNone/>
            </a:pPr>
            <a:r>
              <a:rPr lang="en-US" sz="1500" b="1" dirty="0">
                <a:solidFill>
                  <a:srgbClr val="7A0019"/>
                </a:solidFill>
                <a:latin typeface="Poppins" pitchFamily="34" charset="0"/>
                <a:ea typeface="Poppins" pitchFamily="34" charset="-122"/>
                <a:cs typeface="Poppins" pitchFamily="34" charset="-120"/>
              </a:rPr>
              <a:t>URL Filtering Settings tab</a:t>
            </a:r>
            <a:endParaRPr lang="en-US" sz="1500" dirty="0"/>
          </a:p>
        </p:txBody>
      </p:sp>
      <p:sp>
        <p:nvSpPr>
          <p:cNvPr id="8" name="Text 5"/>
          <p:cNvSpPr/>
          <p:nvPr/>
        </p:nvSpPr>
        <p:spPr>
          <a:xfrm>
            <a:off x="548640" y="1737360"/>
            <a:ext cx="5394960" cy="457200"/>
          </a:xfrm>
          <a:prstGeom prst="rect">
            <a:avLst/>
          </a:prstGeom>
          <a:noFill/>
          <a:ln/>
        </p:spPr>
        <p:txBody>
          <a:bodyPr wrap="square" lIns="0" tIns="0" rIns="0" bIns="0" rtlCol="0" anchor="t"/>
          <a:lstStyle/>
          <a:p>
            <a:pPr marL="0" indent="0">
              <a:buNone/>
            </a:pPr>
            <a:endParaRPr lang="en-US" dirty="0"/>
          </a:p>
        </p:txBody>
      </p:sp>
      <p:sp>
        <p:nvSpPr>
          <p:cNvPr id="9" name="Text 6"/>
          <p:cNvSpPr/>
          <p:nvPr/>
        </p:nvSpPr>
        <p:spPr>
          <a:xfrm>
            <a:off x="6309360" y="1325880"/>
            <a:ext cx="5394960" cy="320040"/>
          </a:xfrm>
          <a:prstGeom prst="rect">
            <a:avLst/>
          </a:prstGeom>
          <a:noFill/>
          <a:ln/>
        </p:spPr>
        <p:txBody>
          <a:bodyPr wrap="square" lIns="0" tIns="0" rIns="0" bIns="0" rtlCol="0" anchor="t"/>
          <a:lstStyle/>
          <a:p>
            <a:pPr marL="0" indent="0">
              <a:buNone/>
            </a:pPr>
            <a:r>
              <a:rPr lang="en-US" sz="1500" b="1" dirty="0">
                <a:solidFill>
                  <a:srgbClr val="7A0019"/>
                </a:solidFill>
                <a:latin typeface="Poppins" pitchFamily="34" charset="0"/>
                <a:ea typeface="Poppins" pitchFamily="34" charset="-122"/>
                <a:cs typeface="Poppins" pitchFamily="34" charset="-120"/>
              </a:rPr>
              <a:t>Inline Categorization tab</a:t>
            </a:r>
            <a:endParaRPr lang="en-US" sz="1500" dirty="0"/>
          </a:p>
        </p:txBody>
      </p:sp>
      <p:sp>
        <p:nvSpPr>
          <p:cNvPr id="10" name="Text 7"/>
          <p:cNvSpPr/>
          <p:nvPr/>
        </p:nvSpPr>
        <p:spPr>
          <a:xfrm>
            <a:off x="6309360" y="1737360"/>
            <a:ext cx="5394960" cy="457200"/>
          </a:xfrm>
          <a:prstGeom prst="rect">
            <a:avLst/>
          </a:prstGeom>
          <a:noFill/>
          <a:ln/>
        </p:spPr>
        <p:txBody>
          <a:bodyPr wrap="square" lIns="0" tIns="0" rIns="0" bIns="0" rtlCol="0" anchor="t"/>
          <a:lstStyle/>
          <a:p>
            <a:pPr marL="0" indent="0">
              <a:buNone/>
            </a:pPr>
            <a:endParaRPr lang="en-US" dirty="0"/>
          </a:p>
        </p:txBody>
      </p:sp>
      <p:sp>
        <p:nvSpPr>
          <p:cNvPr id="11" name="Shape 8"/>
          <p:cNvSpPr/>
          <p:nvPr/>
        </p:nvSpPr>
        <p:spPr>
          <a:xfrm>
            <a:off x="521208" y="1801368"/>
            <a:ext cx="5449824" cy="1942603"/>
          </a:xfrm>
          <a:prstGeom prst="rect">
            <a:avLst/>
          </a:prstGeom>
          <a:solidFill>
            <a:srgbClr val="FFFFFF"/>
          </a:solidFill>
          <a:ln w="12700">
            <a:solidFill>
              <a:srgbClr val="D9D2D4"/>
            </a:solidFill>
            <a:prstDash val="solid"/>
          </a:ln>
        </p:spPr>
        <p:txBody>
          <a:bodyPr/>
          <a:lstStyle/>
          <a:p>
            <a:endParaRPr lang="en-US"/>
          </a:p>
        </p:txBody>
      </p:sp>
      <p:pic>
        <p:nvPicPr>
          <p:cNvPr id="12" name="Image 0" descr="URL Filtering Settings tab with Log container page only and Safe Search Enforcement checked and header logging options"/>
          <p:cNvPicPr>
            <a:picLocks noChangeAspect="1"/>
          </p:cNvPicPr>
          <p:nvPr/>
        </p:nvPicPr>
        <p:blipFill>
          <a:blip r:embed="rId3"/>
          <a:stretch>
            <a:fillRect/>
          </a:stretch>
        </p:blipFill>
        <p:spPr>
          <a:xfrm>
            <a:off x="548640" y="1828800"/>
            <a:ext cx="5394960" cy="1887739"/>
          </a:xfrm>
          <a:prstGeom prst="rect">
            <a:avLst/>
          </a:prstGeom>
        </p:spPr>
      </p:pic>
      <p:sp>
        <p:nvSpPr>
          <p:cNvPr id="13" name="Shape 9"/>
          <p:cNvSpPr/>
          <p:nvPr/>
        </p:nvSpPr>
        <p:spPr>
          <a:xfrm>
            <a:off x="7080825" y="1801368"/>
            <a:ext cx="3852030" cy="1975104"/>
          </a:xfrm>
          <a:prstGeom prst="rect">
            <a:avLst/>
          </a:prstGeom>
          <a:solidFill>
            <a:srgbClr val="FFFFFF"/>
          </a:solidFill>
          <a:ln w="12700">
            <a:solidFill>
              <a:srgbClr val="D9D2D4"/>
            </a:solidFill>
            <a:prstDash val="solid"/>
          </a:ln>
        </p:spPr>
        <p:txBody>
          <a:bodyPr/>
          <a:lstStyle/>
          <a:p>
            <a:endParaRPr lang="en-US"/>
          </a:p>
        </p:txBody>
      </p:sp>
      <p:pic>
        <p:nvPicPr>
          <p:cNvPr id="14" name="Image 1" descr="Inline Categorization tab with local and cloud inline categorization enabled and an exceptions list"/>
          <p:cNvPicPr>
            <a:picLocks noChangeAspect="1"/>
          </p:cNvPicPr>
          <p:nvPr/>
        </p:nvPicPr>
        <p:blipFill>
          <a:blip r:embed="rId4"/>
          <a:stretch>
            <a:fillRect/>
          </a:stretch>
        </p:blipFill>
        <p:spPr>
          <a:xfrm>
            <a:off x="7108257" y="1828800"/>
            <a:ext cx="3797166" cy="1920240"/>
          </a:xfrm>
          <a:prstGeom prst="rect">
            <a:avLst/>
          </a:prstGeom>
        </p:spPr>
      </p:pic>
      <p:sp>
        <p:nvSpPr>
          <p:cNvPr id="15" name="Text 10"/>
          <p:cNvSpPr/>
          <p:nvPr/>
        </p:nvSpPr>
        <p:spPr>
          <a:xfrm>
            <a:off x="548640" y="4069080"/>
            <a:ext cx="5394960" cy="1463040"/>
          </a:xfrm>
          <a:prstGeom prst="rect">
            <a:avLst/>
          </a:prstGeom>
          <a:noFill/>
          <a:ln/>
        </p:spPr>
        <p:txBody>
          <a:bodyPr wrap="square" lIns="0" tIns="0" rIns="0" bIns="0" rtlCol="0" anchor="t"/>
          <a:lstStyle/>
          <a:p>
            <a:pPr marL="177800" indent="-177800">
              <a:spcAft>
                <a:spcPts val="600"/>
              </a:spcAft>
              <a:buSzPct val="100000"/>
              <a:buChar char="•"/>
            </a:pPr>
            <a:r>
              <a:rPr lang="en-US" sz="1350" b="1" dirty="0">
                <a:solidFill>
                  <a:srgbClr val="7A0019"/>
                </a:solidFill>
                <a:latin typeface="Montserrat" pitchFamily="34" charset="0"/>
                <a:ea typeface="Montserrat" pitchFamily="34" charset="-122"/>
                <a:cs typeface="Montserrat" pitchFamily="34" charset="-120"/>
              </a:rPr>
              <a:t>Safe Search Enforcement</a:t>
            </a:r>
            <a:r>
              <a:rPr lang="en-US" sz="1350" dirty="0">
                <a:solidFill>
                  <a:srgbClr val="1F1A1B"/>
                </a:solidFill>
                <a:latin typeface="Montserrat" pitchFamily="34" charset="0"/>
                <a:ea typeface="Montserrat" pitchFamily="34" charset="-122"/>
                <a:cs typeface="Montserrat" pitchFamily="34" charset="-120"/>
              </a:rPr>
              <a:t> blocks results unless the browser uses strict safe search.</a:t>
            </a:r>
            <a:endParaRPr lang="en-US" sz="1350" dirty="0"/>
          </a:p>
          <a:p>
            <a:pPr marL="177800" indent="-177800">
              <a:spcAft>
                <a:spcPts val="600"/>
              </a:spcAft>
              <a:buSzPct val="100000"/>
              <a:buChar char="•"/>
            </a:pPr>
            <a:r>
              <a:rPr lang="en-US" sz="1350" b="1" dirty="0">
                <a:solidFill>
                  <a:srgbClr val="7A0019"/>
                </a:solidFill>
                <a:latin typeface="Montserrat" pitchFamily="34" charset="0"/>
                <a:ea typeface="Montserrat" pitchFamily="34" charset="-122"/>
                <a:cs typeface="Montserrat" pitchFamily="34" charset="-120"/>
              </a:rPr>
              <a:t>Log container page only</a:t>
            </a:r>
            <a:r>
              <a:rPr lang="en-US" sz="1350" dirty="0">
                <a:solidFill>
                  <a:srgbClr val="1F1A1B"/>
                </a:solidFill>
                <a:latin typeface="Montserrat" pitchFamily="34" charset="0"/>
                <a:ea typeface="Montserrat" pitchFamily="34" charset="-122"/>
                <a:cs typeface="Montserrat" pitchFamily="34" charset="-120"/>
              </a:rPr>
              <a:t> keeps the log readable. Leave it on.</a:t>
            </a:r>
            <a:endParaRPr lang="en-US" sz="1350" dirty="0"/>
          </a:p>
        </p:txBody>
      </p:sp>
      <p:sp>
        <p:nvSpPr>
          <p:cNvPr id="16" name="Text 11"/>
          <p:cNvSpPr/>
          <p:nvPr/>
        </p:nvSpPr>
        <p:spPr>
          <a:xfrm>
            <a:off x="6309360" y="4069080"/>
            <a:ext cx="5394960" cy="1463040"/>
          </a:xfrm>
          <a:prstGeom prst="rect">
            <a:avLst/>
          </a:prstGeom>
          <a:noFill/>
          <a:ln/>
        </p:spPr>
        <p:txBody>
          <a:bodyPr wrap="square" lIns="0" tIns="0" rIns="0" bIns="0" rtlCol="0" anchor="t"/>
          <a:lstStyle/>
          <a:p>
            <a:pPr marL="177800" indent="-177800">
              <a:spcAft>
                <a:spcPts val="600"/>
              </a:spcAft>
              <a:buSzPct val="100000"/>
              <a:buChar char="•"/>
            </a:pPr>
            <a:r>
              <a:rPr lang="en-US" sz="1350" b="1" dirty="0">
                <a:solidFill>
                  <a:srgbClr val="7A0019"/>
                </a:solidFill>
                <a:latin typeface="Montserrat" pitchFamily="34" charset="0"/>
                <a:ea typeface="Montserrat" pitchFamily="34" charset="-122"/>
                <a:cs typeface="Montserrat" pitchFamily="34" charset="-120"/>
              </a:rPr>
              <a:t>Local</a:t>
            </a:r>
            <a:r>
              <a:rPr lang="en-US" sz="1350" dirty="0">
                <a:solidFill>
                  <a:srgbClr val="1F1A1B"/>
                </a:solidFill>
                <a:latin typeface="Montserrat" pitchFamily="34" charset="0"/>
                <a:ea typeface="Montserrat" pitchFamily="34" charset="-122"/>
                <a:cs typeface="Montserrat" pitchFamily="34" charset="-120"/>
              </a:rPr>
              <a:t> inline categorization runs ML on the firewall.</a:t>
            </a:r>
            <a:endParaRPr lang="en-US" sz="1350" dirty="0"/>
          </a:p>
          <a:p>
            <a:pPr marL="177800" indent="-177800">
              <a:spcAft>
                <a:spcPts val="600"/>
              </a:spcAft>
              <a:buSzPct val="100000"/>
              <a:buChar char="•"/>
            </a:pPr>
            <a:r>
              <a:rPr lang="en-US" sz="1350" b="1" dirty="0">
                <a:solidFill>
                  <a:srgbClr val="7A0019"/>
                </a:solidFill>
                <a:latin typeface="Montserrat" pitchFamily="34" charset="0"/>
                <a:ea typeface="Montserrat" pitchFamily="34" charset="-122"/>
                <a:cs typeface="Montserrat" pitchFamily="34" charset="-120"/>
              </a:rPr>
              <a:t>Cloud</a:t>
            </a:r>
            <a:r>
              <a:rPr lang="en-US" sz="1350" dirty="0">
                <a:solidFill>
                  <a:srgbClr val="1F1A1B"/>
                </a:solidFill>
                <a:latin typeface="Montserrat" pitchFamily="34" charset="0"/>
                <a:ea typeface="Montserrat" pitchFamily="34" charset="-122"/>
                <a:cs typeface="Montserrat" pitchFamily="34" charset="-120"/>
              </a:rPr>
              <a:t> inline categorization catches zero-day phishing pages.</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65760"/>
            <a:ext cx="11155680" cy="658368"/>
          </a:xfrm>
          <a:prstGeom prst="rect">
            <a:avLst/>
          </a:prstGeom>
          <a:noFill/>
          <a:ln/>
        </p:spPr>
        <p:txBody>
          <a:bodyPr wrap="square" rtlCol="0"/>
          <a:lstStyle/>
          <a:p>
            <a:pPr marL="0" indent="0" algn="l">
              <a:buNone/>
            </a:pPr>
            <a:r>
              <a:rPr lang="en-US" sz="2500" b="1" dirty="0">
                <a:solidFill>
                  <a:srgbClr val="7A0019"/>
                </a:solidFill>
                <a:latin typeface="Poppins" pitchFamily="34" charset="0"/>
                <a:ea typeface="Poppins" pitchFamily="34" charset="-122"/>
                <a:cs typeface="Poppins" pitchFamily="34" charset="-120"/>
              </a:rPr>
              <a:t>Attach the Profile to an Allow Rule</a:t>
            </a:r>
            <a:endParaRPr lang="en-US" sz="2500" dirty="0"/>
          </a:p>
        </p:txBody>
      </p:sp>
      <p:sp>
        <p:nvSpPr>
          <p:cNvPr id="3" name="Shape 1"/>
          <p:cNvSpPr/>
          <p:nvPr/>
        </p:nvSpPr>
        <p:spPr>
          <a:xfrm>
            <a:off x="521208" y="1042416"/>
            <a:ext cx="914400" cy="54864"/>
          </a:xfrm>
          <a:prstGeom prst="rect">
            <a:avLst/>
          </a:prstGeom>
          <a:solidFill>
            <a:srgbClr val="FDB71A"/>
          </a:solidFill>
          <a:ln/>
        </p:spPr>
        <p:txBody>
          <a:bodyPr/>
          <a:lstStyle/>
          <a:p>
            <a:endParaRPr lang="en-US"/>
          </a:p>
        </p:txBody>
      </p:sp>
      <p:sp>
        <p:nvSpPr>
          <p:cNvPr id="4" name="Text 2"/>
          <p:cNvSpPr/>
          <p:nvPr/>
        </p:nvSpPr>
        <p:spPr>
          <a:xfrm>
            <a:off x="502920" y="6437376"/>
            <a:ext cx="8229600" cy="274320"/>
          </a:xfrm>
          <a:prstGeom prst="rect">
            <a:avLst/>
          </a:prstGeom>
          <a:noFill/>
          <a:ln/>
        </p:spPr>
        <p:txBody>
          <a:bodyPr wrap="square" lIns="0" tIns="0" rIns="0" bIns="0" rtlCol="0" anchor="ctr"/>
          <a:lstStyle/>
          <a:p>
            <a:pPr marL="0" indent="0">
              <a:buNone/>
            </a:pPr>
            <a:r>
              <a:rPr lang="en-US" sz="900" dirty="0">
                <a:solidFill>
                  <a:srgbClr val="5A5A5A"/>
                </a:solidFill>
                <a:latin typeface="Montserrat" pitchFamily="34" charset="0"/>
                <a:ea typeface="Montserrat" pitchFamily="34" charset="-122"/>
                <a:cs typeface="Montserrat" pitchFamily="34" charset="-120"/>
              </a:rPr>
              <a:t>Information Security 2 · Unit 10 · Web Content Filtering</a:t>
            </a:r>
            <a:endParaRPr lang="en-US" sz="900" dirty="0"/>
          </a:p>
        </p:txBody>
      </p:sp>
      <p:sp>
        <p:nvSpPr>
          <p:cNvPr id="5" name="Text 3"/>
          <p:cNvSpPr/>
          <p:nvPr/>
        </p:nvSpPr>
        <p:spPr>
          <a:xfrm>
            <a:off x="11247120" y="6437376"/>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Montserrat" pitchFamily="34" charset="0"/>
                <a:ea typeface="Montserrat" pitchFamily="34" charset="-122"/>
                <a:cs typeface="Montserrat" pitchFamily="34" charset="-120"/>
              </a:rPr>
              <a:t>15</a:t>
            </a:r>
            <a:endParaRPr lang="en-US" sz="900" dirty="0"/>
          </a:p>
        </p:txBody>
      </p:sp>
      <p:sp>
        <p:nvSpPr>
          <p:cNvPr id="7" name="Text 4"/>
          <p:cNvSpPr/>
          <p:nvPr/>
        </p:nvSpPr>
        <p:spPr>
          <a:xfrm>
            <a:off x="548640" y="1371600"/>
            <a:ext cx="10972800" cy="365760"/>
          </a:xfrm>
          <a:prstGeom prst="rect">
            <a:avLst/>
          </a:prstGeom>
          <a:noFill/>
          <a:ln/>
        </p:spPr>
        <p:txBody>
          <a:bodyPr wrap="square" lIns="0" tIns="0" rIns="0" bIns="0" rtlCol="0" anchor="t"/>
          <a:lstStyle/>
          <a:p>
            <a:pPr marL="0" indent="0">
              <a:buNone/>
            </a:pPr>
            <a:r>
              <a:rPr lang="en-US" sz="1300" i="1" dirty="0">
                <a:solidFill>
                  <a:srgbClr val="5E0013"/>
                </a:solidFill>
                <a:latin typeface="Courier New" pitchFamily="34" charset="0"/>
                <a:ea typeface="Courier New" pitchFamily="34" charset="-122"/>
                <a:cs typeface="Courier New" pitchFamily="34" charset="-120"/>
              </a:rPr>
              <a:t>Policies &gt; Security &gt; rule &gt; Actions</a:t>
            </a:r>
            <a:endParaRPr lang="en-US" sz="1300" dirty="0"/>
          </a:p>
        </p:txBody>
      </p:sp>
      <p:sp>
        <p:nvSpPr>
          <p:cNvPr id="8" name="Shape 5"/>
          <p:cNvSpPr/>
          <p:nvPr/>
        </p:nvSpPr>
        <p:spPr>
          <a:xfrm>
            <a:off x="521208" y="1801368"/>
            <a:ext cx="4078224" cy="2991081"/>
          </a:xfrm>
          <a:prstGeom prst="rect">
            <a:avLst/>
          </a:prstGeom>
          <a:solidFill>
            <a:srgbClr val="FFFFFF"/>
          </a:solidFill>
          <a:ln w="12700">
            <a:solidFill>
              <a:srgbClr val="D9D2D4"/>
            </a:solidFill>
            <a:prstDash val="solid"/>
          </a:ln>
        </p:spPr>
        <p:txBody>
          <a:bodyPr/>
          <a:lstStyle/>
          <a:p>
            <a:endParaRPr lang="en-US"/>
          </a:p>
        </p:txBody>
      </p:sp>
      <p:pic>
        <p:nvPicPr>
          <p:cNvPr id="9" name="Image 0" descr="Security Policy Rule Actions tab with Profile Type set to Profiles and a URL Filtering profile selected"/>
          <p:cNvPicPr>
            <a:picLocks noChangeAspect="1"/>
          </p:cNvPicPr>
          <p:nvPr/>
        </p:nvPicPr>
        <p:blipFill>
          <a:blip r:embed="rId3"/>
          <a:stretch>
            <a:fillRect/>
          </a:stretch>
        </p:blipFill>
        <p:spPr>
          <a:xfrm>
            <a:off x="548640" y="1828800"/>
            <a:ext cx="4023360" cy="2936217"/>
          </a:xfrm>
          <a:prstGeom prst="rect">
            <a:avLst/>
          </a:prstGeom>
        </p:spPr>
      </p:pic>
      <p:sp>
        <p:nvSpPr>
          <p:cNvPr id="10" name="Shape 6"/>
          <p:cNvSpPr/>
          <p:nvPr/>
        </p:nvSpPr>
        <p:spPr>
          <a:xfrm>
            <a:off x="4818888" y="1801368"/>
            <a:ext cx="2798064" cy="801624"/>
          </a:xfrm>
          <a:prstGeom prst="rect">
            <a:avLst/>
          </a:prstGeom>
          <a:solidFill>
            <a:srgbClr val="FFFFFF"/>
          </a:solidFill>
          <a:ln w="12700">
            <a:solidFill>
              <a:srgbClr val="D9D2D4"/>
            </a:solidFill>
            <a:prstDash val="solid"/>
          </a:ln>
        </p:spPr>
        <p:txBody>
          <a:bodyPr/>
          <a:lstStyle/>
          <a:p>
            <a:endParaRPr lang="en-US"/>
          </a:p>
        </p:txBody>
      </p:sp>
      <p:pic>
        <p:nvPicPr>
          <p:cNvPr id="11" name="Image 1" descr="Profile Setting with Profile Type Group and Group Profile Corp-Profiles-Group"/>
          <p:cNvPicPr>
            <a:picLocks noChangeAspect="1"/>
          </p:cNvPicPr>
          <p:nvPr/>
        </p:nvPicPr>
        <p:blipFill>
          <a:blip r:embed="rId4"/>
          <a:stretch>
            <a:fillRect/>
          </a:stretch>
        </p:blipFill>
        <p:spPr>
          <a:xfrm>
            <a:off x="4846320" y="1828800"/>
            <a:ext cx="2743200" cy="746760"/>
          </a:xfrm>
          <a:prstGeom prst="rect">
            <a:avLst/>
          </a:prstGeom>
        </p:spPr>
      </p:pic>
      <p:sp>
        <p:nvSpPr>
          <p:cNvPr id="12" name="Text 7"/>
          <p:cNvSpPr/>
          <p:nvPr/>
        </p:nvSpPr>
        <p:spPr>
          <a:xfrm>
            <a:off x="4846320" y="3017520"/>
            <a:ext cx="6858000" cy="2468880"/>
          </a:xfrm>
          <a:prstGeom prst="rect">
            <a:avLst/>
          </a:prstGeom>
          <a:noFill/>
          <a:ln/>
        </p:spPr>
        <p:txBody>
          <a:bodyPr wrap="square" lIns="0" tIns="0" rIns="0" bIns="0" rtlCol="0" anchor="t"/>
          <a:lstStyle/>
          <a:p>
            <a:pPr marL="177800" indent="-177800">
              <a:spcAft>
                <a:spcPts val="1200"/>
              </a:spcAft>
              <a:buSzPct val="100000"/>
              <a:buChar char="•"/>
            </a:pPr>
            <a:r>
              <a:rPr lang="en-US" sz="1400" dirty="0">
                <a:solidFill>
                  <a:srgbClr val="1F1A1B"/>
                </a:solidFill>
                <a:latin typeface="Montserrat" pitchFamily="34" charset="0"/>
                <a:ea typeface="Montserrat" pitchFamily="34" charset="-122"/>
                <a:cs typeface="Montserrat" pitchFamily="34" charset="-120"/>
              </a:rPr>
              <a:t>Profile Type </a:t>
            </a:r>
            <a:r>
              <a:rPr lang="en-US" sz="1400" dirty="0">
                <a:solidFill>
                  <a:srgbClr val="5E0013"/>
                </a:solidFill>
                <a:latin typeface="Courier New" pitchFamily="34" charset="0"/>
                <a:ea typeface="Courier New" pitchFamily="34" charset="-122"/>
                <a:cs typeface="Courier New" pitchFamily="34" charset="-120"/>
              </a:rPr>
              <a:t>Profiles</a:t>
            </a:r>
            <a:r>
              <a:rPr lang="en-US" sz="1400" dirty="0">
                <a:solidFill>
                  <a:srgbClr val="1F1A1B"/>
                </a:solidFill>
                <a:latin typeface="Montserrat" pitchFamily="34" charset="0"/>
                <a:ea typeface="Montserrat" pitchFamily="34" charset="-122"/>
                <a:cs typeface="Montserrat" pitchFamily="34" charset="-120"/>
              </a:rPr>
              <a:t>: pick each profile individually.</a:t>
            </a:r>
            <a:endParaRPr lang="en-US" sz="1400" dirty="0"/>
          </a:p>
          <a:p>
            <a:pPr marL="177800" indent="-177800">
              <a:spcAft>
                <a:spcPts val="1200"/>
              </a:spcAft>
              <a:buSzPct val="100000"/>
              <a:buChar char="•"/>
            </a:pPr>
            <a:r>
              <a:rPr lang="en-US" sz="1400" dirty="0">
                <a:solidFill>
                  <a:srgbClr val="1F1A1B"/>
                </a:solidFill>
                <a:latin typeface="Montserrat" pitchFamily="34" charset="0"/>
                <a:ea typeface="Montserrat" pitchFamily="34" charset="-122"/>
                <a:cs typeface="Montserrat" pitchFamily="34" charset="-120"/>
              </a:rPr>
              <a:t>Profile Type </a:t>
            </a:r>
            <a:r>
              <a:rPr lang="en-US" sz="1400" dirty="0">
                <a:solidFill>
                  <a:srgbClr val="5E0013"/>
                </a:solidFill>
                <a:latin typeface="Courier New" pitchFamily="34" charset="0"/>
                <a:ea typeface="Courier New" pitchFamily="34" charset="-122"/>
                <a:cs typeface="Courier New" pitchFamily="34" charset="-120"/>
              </a:rPr>
              <a:t>Group</a:t>
            </a:r>
            <a:r>
              <a:rPr lang="en-US" sz="1400" dirty="0">
                <a:solidFill>
                  <a:srgbClr val="1F1A1B"/>
                </a:solidFill>
                <a:latin typeface="Montserrat" pitchFamily="34" charset="0"/>
                <a:ea typeface="Montserrat" pitchFamily="34" charset="-122"/>
                <a:cs typeface="Montserrat" pitchFamily="34" charset="-120"/>
              </a:rPr>
              <a:t>: attach a </a:t>
            </a:r>
            <a:r>
              <a:rPr lang="en-US" sz="1400" b="1" dirty="0">
                <a:solidFill>
                  <a:srgbClr val="7A0019"/>
                </a:solidFill>
                <a:latin typeface="Montserrat" pitchFamily="34" charset="0"/>
                <a:ea typeface="Montserrat" pitchFamily="34" charset="-122"/>
                <a:cs typeface="Montserrat" pitchFamily="34" charset="-120"/>
              </a:rPr>
              <a:t>Security Profile Group</a:t>
            </a:r>
            <a:r>
              <a:rPr lang="en-US" sz="1400" dirty="0">
                <a:solidFill>
                  <a:srgbClr val="1F1A1B"/>
                </a:solidFill>
                <a:latin typeface="Montserrat" pitchFamily="34" charset="0"/>
                <a:ea typeface="Montserrat" pitchFamily="34" charset="-122"/>
                <a:cs typeface="Montserrat" pitchFamily="34" charset="-120"/>
              </a:rPr>
              <a:t> that bundles them.</a:t>
            </a:r>
            <a:endParaRPr lang="en-US" sz="1400" dirty="0"/>
          </a:p>
          <a:p>
            <a:pPr marL="177800" indent="-177800">
              <a:spcAft>
                <a:spcPts val="1200"/>
              </a:spcAft>
              <a:buSzPct val="100000"/>
              <a:buChar char="•"/>
            </a:pPr>
            <a:r>
              <a:rPr lang="en-US" sz="1400" dirty="0">
                <a:solidFill>
                  <a:srgbClr val="1F1A1B"/>
                </a:solidFill>
                <a:latin typeface="Montserrat" pitchFamily="34" charset="0"/>
                <a:ea typeface="Montserrat" pitchFamily="34" charset="-122"/>
                <a:cs typeface="Montserrat" pitchFamily="34" charset="-120"/>
              </a:rPr>
              <a:t>Block at minimum: </a:t>
            </a:r>
            <a:r>
              <a:rPr lang="en-US" sz="1400" dirty="0">
                <a:solidFill>
                  <a:srgbClr val="5E0013"/>
                </a:solidFill>
                <a:latin typeface="Courier New" pitchFamily="34" charset="0"/>
                <a:ea typeface="Courier New" pitchFamily="34" charset="-122"/>
                <a:cs typeface="Courier New" pitchFamily="34" charset="-120"/>
              </a:rPr>
              <a:t>command-and-control</a:t>
            </a:r>
            <a:r>
              <a:rPr lang="en-US" sz="1400" dirty="0">
                <a:solidFill>
                  <a:srgbClr val="1F1A1B"/>
                </a:solidFill>
                <a:latin typeface="Montserrat" pitchFamily="34" charset="0"/>
                <a:ea typeface="Montserrat" pitchFamily="34" charset="-122"/>
                <a:cs typeface="Montserrat" pitchFamily="34" charset="-120"/>
              </a:rPr>
              <a:t>, </a:t>
            </a:r>
            <a:r>
              <a:rPr lang="en-US" sz="1400" dirty="0">
                <a:solidFill>
                  <a:srgbClr val="5E0013"/>
                </a:solidFill>
                <a:latin typeface="Courier New" pitchFamily="34" charset="0"/>
                <a:ea typeface="Courier New" pitchFamily="34" charset="-122"/>
                <a:cs typeface="Courier New" pitchFamily="34" charset="-120"/>
              </a:rPr>
              <a:t>malware</a:t>
            </a:r>
            <a:r>
              <a:rPr lang="en-US" sz="1400" dirty="0">
                <a:solidFill>
                  <a:srgbClr val="1F1A1B"/>
                </a:solidFill>
                <a:latin typeface="Montserrat" pitchFamily="34" charset="0"/>
                <a:ea typeface="Montserrat" pitchFamily="34" charset="-122"/>
                <a:cs typeface="Montserrat" pitchFamily="34" charset="-120"/>
              </a:rPr>
              <a:t>, </a:t>
            </a:r>
            <a:r>
              <a:rPr lang="en-US" sz="1400" dirty="0">
                <a:solidFill>
                  <a:srgbClr val="5E0013"/>
                </a:solidFill>
                <a:latin typeface="Courier New" pitchFamily="34" charset="0"/>
                <a:ea typeface="Courier New" pitchFamily="34" charset="-122"/>
                <a:cs typeface="Courier New" pitchFamily="34" charset="-120"/>
              </a:rPr>
              <a:t>phishing</a:t>
            </a:r>
            <a:r>
              <a:rPr lang="en-US" sz="1400" dirty="0">
                <a:solidFill>
                  <a:srgbClr val="1F1A1B"/>
                </a:solidFill>
                <a:latin typeface="Montserrat" pitchFamily="34" charset="0"/>
                <a:ea typeface="Montserrat" pitchFamily="34" charset="-122"/>
                <a:cs typeface="Montserrat" pitchFamily="34" charset="-120"/>
              </a:rPr>
              <a:t>, </a:t>
            </a:r>
            <a:r>
              <a:rPr lang="en-US" sz="1400" dirty="0">
                <a:solidFill>
                  <a:srgbClr val="5E0013"/>
                </a:solidFill>
                <a:latin typeface="Courier New" pitchFamily="34" charset="0"/>
                <a:ea typeface="Courier New" pitchFamily="34" charset="-122"/>
                <a:cs typeface="Courier New" pitchFamily="34" charset="-120"/>
              </a:rPr>
              <a:t>high-risk</a:t>
            </a:r>
            <a:r>
              <a:rPr lang="en-US" sz="1400" dirty="0">
                <a:solidFill>
                  <a:srgbClr val="1F1A1B"/>
                </a:solidFill>
                <a:latin typeface="Montserrat" pitchFamily="34" charset="0"/>
                <a:ea typeface="Montserrat" pitchFamily="34" charset="-122"/>
                <a:cs typeface="Montserrat" pitchFamily="34" charset="-120"/>
              </a:rPr>
              <a:t>, </a:t>
            </a:r>
            <a:r>
              <a:rPr lang="en-US" sz="1400" dirty="0">
                <a:solidFill>
                  <a:srgbClr val="5E0013"/>
                </a:solidFill>
                <a:latin typeface="Courier New" pitchFamily="34" charset="0"/>
                <a:ea typeface="Courier New" pitchFamily="34" charset="-122"/>
                <a:cs typeface="Courier New" pitchFamily="34" charset="-120"/>
              </a:rPr>
              <a:t>unknown</a:t>
            </a:r>
            <a:r>
              <a:rPr lang="en-US" sz="1400" dirty="0">
                <a:solidFill>
                  <a:srgbClr val="1F1A1B"/>
                </a:solidFill>
                <a:latin typeface="Montserrat" pitchFamily="34" charset="0"/>
                <a:ea typeface="Montserrat" pitchFamily="34" charset="-122"/>
                <a:cs typeface="Montserrat" pitchFamily="34" charset="-120"/>
              </a:rPr>
              <a:t>.</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868680" y="2148840"/>
            <a:ext cx="5486400" cy="365760"/>
          </a:xfrm>
          <a:prstGeom prst="rect">
            <a:avLst/>
          </a:prstGeom>
          <a:noFill/>
          <a:ln/>
        </p:spPr>
        <p:txBody>
          <a:bodyPr wrap="square" lIns="0" tIns="0" rIns="0" bIns="0" rtlCol="0" anchor="ctr"/>
          <a:lstStyle/>
          <a:p>
            <a:pPr marL="0" indent="0">
              <a:buNone/>
            </a:pPr>
            <a:r>
              <a:rPr lang="en-US" sz="1600" b="1" kern="0" spc="300" dirty="0">
                <a:solidFill>
                  <a:srgbClr val="FDB71A"/>
                </a:solidFill>
                <a:latin typeface="Poppins" pitchFamily="34" charset="0"/>
                <a:ea typeface="Poppins" pitchFamily="34" charset="-122"/>
                <a:cs typeface="Poppins" pitchFamily="34" charset="-120"/>
              </a:rPr>
              <a:t>LESSON 3</a:t>
            </a:r>
            <a:endParaRPr lang="en-US" sz="1600" dirty="0"/>
          </a:p>
        </p:txBody>
      </p:sp>
      <p:sp>
        <p:nvSpPr>
          <p:cNvPr id="3" name="Text 0"/>
          <p:cNvSpPr>
            <a:spLocks noGrp="1"/>
          </p:cNvSpPr>
          <p:nvPr>
            <p:ph type="title" idx="100" hasCustomPrompt="1"/>
          </p:nvPr>
        </p:nvSpPr>
        <p:spPr>
          <a:xfrm>
            <a:off x="822960" y="2743200"/>
            <a:ext cx="8778240" cy="1371600"/>
          </a:xfrm>
          <a:prstGeom prst="rect">
            <a:avLst/>
          </a:prstGeom>
          <a:noFill/>
          <a:ln/>
        </p:spPr>
        <p:txBody>
          <a:bodyPr wrap="square" rtlCol="0"/>
          <a:lstStyle/>
          <a:p>
            <a:pPr marL="0" indent="0" algn="l">
              <a:buNone/>
            </a:pPr>
            <a:r>
              <a:rPr lang="en-US" sz="3800" b="1" dirty="0">
                <a:solidFill>
                  <a:srgbClr val="FFFFFF"/>
                </a:solidFill>
                <a:latin typeface="Poppins" pitchFamily="34" charset="0"/>
                <a:ea typeface="Poppins" pitchFamily="34" charset="-122"/>
                <a:cs typeface="Poppins" pitchFamily="34" charset="-120"/>
              </a:rPr>
              <a:t>Usage Quotas and Time-Based Controls</a:t>
            </a:r>
            <a:endParaRPr lang="en-US" sz="3800" dirty="0"/>
          </a:p>
        </p:txBody>
      </p:sp>
      <p:sp>
        <p:nvSpPr>
          <p:cNvPr id="4" name="Shape 2"/>
          <p:cNvSpPr/>
          <p:nvPr/>
        </p:nvSpPr>
        <p:spPr>
          <a:xfrm>
            <a:off x="868680" y="4069080"/>
            <a:ext cx="1463040" cy="54864"/>
          </a:xfrm>
          <a:prstGeom prst="rect">
            <a:avLst/>
          </a:prstGeom>
          <a:solidFill>
            <a:srgbClr val="FDB71A"/>
          </a:solidFill>
          <a:ln/>
        </p:spPr>
        <p:txBody>
          <a:bodyPr/>
          <a:lstStyle/>
          <a:p>
            <a:endParaRPr lang="en-US"/>
          </a:p>
        </p:txBody>
      </p:sp>
      <p:sp>
        <p:nvSpPr>
          <p:cNvPr id="5" name="Shape 3"/>
          <p:cNvSpPr/>
          <p:nvPr/>
        </p:nvSpPr>
        <p:spPr>
          <a:xfrm>
            <a:off x="9784080" y="960120"/>
            <a:ext cx="1554480" cy="1554480"/>
          </a:xfrm>
          <a:prstGeom prst="ellipse">
            <a:avLst/>
          </a:prstGeom>
          <a:solidFill>
            <a:srgbClr val="FDB71A"/>
          </a:solidFill>
          <a:ln/>
        </p:spPr>
        <p:txBody>
          <a:bodyPr/>
          <a:lstStyle/>
          <a:p>
            <a:endParaRPr lang="en-US"/>
          </a:p>
        </p:txBody>
      </p:sp>
      <p:pic>
        <p:nvPicPr>
          <p:cNvPr id="6" name="Image 0" descr="Usage Quotas and Time-Based Controls lesson icon"/>
          <p:cNvPicPr>
            <a:picLocks noChangeAspect="1"/>
          </p:cNvPicPr>
          <p:nvPr/>
        </p:nvPicPr>
        <p:blipFill>
          <a:blip r:embed="rId3"/>
          <a:stretch>
            <a:fillRect/>
          </a:stretch>
        </p:blipFill>
        <p:spPr>
          <a:xfrm>
            <a:off x="10158984" y="1335024"/>
            <a:ext cx="804672" cy="804672"/>
          </a:xfrm>
          <a:prstGeom prst="rect">
            <a:avLst/>
          </a:prstGeom>
        </p:spPr>
      </p:pic>
      <p:sp>
        <p:nvSpPr>
          <p:cNvPr id="7" name="Text 4"/>
          <p:cNvSpPr/>
          <p:nvPr/>
        </p:nvSpPr>
        <p:spPr>
          <a:xfrm>
            <a:off x="868680" y="6309360"/>
            <a:ext cx="8229600" cy="274320"/>
          </a:xfrm>
          <a:prstGeom prst="rect">
            <a:avLst/>
          </a:prstGeom>
          <a:noFill/>
          <a:ln/>
        </p:spPr>
        <p:txBody>
          <a:bodyPr wrap="square" lIns="0" tIns="0" rIns="0" bIns="0" rtlCol="0" anchor="ctr"/>
          <a:lstStyle/>
          <a:p>
            <a:pPr marL="0" indent="0">
              <a:buNone/>
            </a:pPr>
            <a:r>
              <a:rPr lang="en-US" sz="1000" dirty="0">
                <a:solidFill>
                  <a:srgbClr val="F3E7EA"/>
                </a:solidFill>
                <a:latin typeface="Montserrat" pitchFamily="34" charset="0"/>
                <a:ea typeface="Montserrat" pitchFamily="34" charset="-122"/>
                <a:cs typeface="Montserrat" pitchFamily="34" charset="-120"/>
              </a:rPr>
              <a:t>Information Security 2 · Unit 10 · Web Content Filtering</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65760"/>
            <a:ext cx="11155680" cy="658368"/>
          </a:xfrm>
          <a:prstGeom prst="rect">
            <a:avLst/>
          </a:prstGeom>
          <a:noFill/>
          <a:ln/>
        </p:spPr>
        <p:txBody>
          <a:bodyPr wrap="square" rtlCol="0"/>
          <a:lstStyle/>
          <a:p>
            <a:pPr marL="0" indent="0" algn="l">
              <a:buNone/>
            </a:pPr>
            <a:r>
              <a:rPr lang="en-US" sz="2500" b="1" dirty="0">
                <a:solidFill>
                  <a:srgbClr val="7A0019"/>
                </a:solidFill>
                <a:latin typeface="Poppins" pitchFamily="34" charset="0"/>
                <a:ea typeface="Poppins" pitchFamily="34" charset="-122"/>
                <a:cs typeface="Poppins" pitchFamily="34" charset="-120"/>
              </a:rPr>
              <a:t>Quotas on a Palo Alto Firewall</a:t>
            </a:r>
            <a:endParaRPr lang="en-US" sz="2500" dirty="0"/>
          </a:p>
        </p:txBody>
      </p:sp>
      <p:sp>
        <p:nvSpPr>
          <p:cNvPr id="3" name="Shape 1"/>
          <p:cNvSpPr/>
          <p:nvPr/>
        </p:nvSpPr>
        <p:spPr>
          <a:xfrm>
            <a:off x="521208" y="1042416"/>
            <a:ext cx="914400" cy="54864"/>
          </a:xfrm>
          <a:prstGeom prst="rect">
            <a:avLst/>
          </a:prstGeom>
          <a:solidFill>
            <a:srgbClr val="FDB71A"/>
          </a:solidFill>
          <a:ln/>
        </p:spPr>
        <p:txBody>
          <a:bodyPr/>
          <a:lstStyle/>
          <a:p>
            <a:endParaRPr lang="en-US"/>
          </a:p>
        </p:txBody>
      </p:sp>
      <p:sp>
        <p:nvSpPr>
          <p:cNvPr id="4" name="Text 2"/>
          <p:cNvSpPr/>
          <p:nvPr/>
        </p:nvSpPr>
        <p:spPr>
          <a:xfrm>
            <a:off x="502920" y="6437376"/>
            <a:ext cx="8229600" cy="274320"/>
          </a:xfrm>
          <a:prstGeom prst="rect">
            <a:avLst/>
          </a:prstGeom>
          <a:noFill/>
          <a:ln/>
        </p:spPr>
        <p:txBody>
          <a:bodyPr wrap="square" lIns="0" tIns="0" rIns="0" bIns="0" rtlCol="0" anchor="ctr"/>
          <a:lstStyle/>
          <a:p>
            <a:pPr marL="0" indent="0">
              <a:buNone/>
            </a:pPr>
            <a:r>
              <a:rPr lang="en-US" sz="900" dirty="0">
                <a:solidFill>
                  <a:srgbClr val="5A5A5A"/>
                </a:solidFill>
                <a:latin typeface="Montserrat" pitchFamily="34" charset="0"/>
                <a:ea typeface="Montserrat" pitchFamily="34" charset="-122"/>
                <a:cs typeface="Montserrat" pitchFamily="34" charset="-120"/>
              </a:rPr>
              <a:t>Information Security 2 · Unit 10 · Web Content Filtering</a:t>
            </a:r>
            <a:endParaRPr lang="en-US" sz="900" dirty="0"/>
          </a:p>
        </p:txBody>
      </p:sp>
      <p:sp>
        <p:nvSpPr>
          <p:cNvPr id="5" name="Text 3"/>
          <p:cNvSpPr/>
          <p:nvPr/>
        </p:nvSpPr>
        <p:spPr>
          <a:xfrm>
            <a:off x="11247120" y="6437376"/>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Montserrat" pitchFamily="34" charset="0"/>
                <a:ea typeface="Montserrat" pitchFamily="34" charset="-122"/>
                <a:cs typeface="Montserrat" pitchFamily="34" charset="-120"/>
              </a:rPr>
              <a:t>17</a:t>
            </a:r>
            <a:endParaRPr lang="en-US" sz="900" dirty="0"/>
          </a:p>
        </p:txBody>
      </p:sp>
      <p:sp>
        <p:nvSpPr>
          <p:cNvPr id="7" name="Text 4"/>
          <p:cNvSpPr/>
          <p:nvPr/>
        </p:nvSpPr>
        <p:spPr>
          <a:xfrm>
            <a:off x="548640" y="1371600"/>
            <a:ext cx="10972800" cy="365760"/>
          </a:xfrm>
          <a:prstGeom prst="rect">
            <a:avLst/>
          </a:prstGeom>
          <a:noFill/>
          <a:ln/>
        </p:spPr>
        <p:txBody>
          <a:bodyPr wrap="square" lIns="0" tIns="0" rIns="0" bIns="0" rtlCol="0" anchor="t"/>
          <a:lstStyle/>
          <a:p>
            <a:pPr marL="0" indent="0">
              <a:buNone/>
            </a:pPr>
            <a:r>
              <a:rPr lang="en-US" sz="1400" dirty="0">
                <a:solidFill>
                  <a:srgbClr val="5A5A5A"/>
                </a:solidFill>
                <a:latin typeface="Montserrat" pitchFamily="34" charset="0"/>
                <a:ea typeface="Montserrat" pitchFamily="34" charset="-122"/>
                <a:cs typeface="Montserrat" pitchFamily="34" charset="-120"/>
              </a:rPr>
              <a:t>PAN-OS has no per-user minute counter. It controls usage with three tools instead:</a:t>
            </a:r>
            <a:endParaRPr lang="en-US" sz="1400" dirty="0"/>
          </a:p>
        </p:txBody>
      </p:sp>
      <p:sp>
        <p:nvSpPr>
          <p:cNvPr id="8" name="Shape 5"/>
          <p:cNvSpPr/>
          <p:nvPr/>
        </p:nvSpPr>
        <p:spPr>
          <a:xfrm>
            <a:off x="640080" y="1892808"/>
            <a:ext cx="640080" cy="640080"/>
          </a:xfrm>
          <a:prstGeom prst="ellipse">
            <a:avLst/>
          </a:prstGeom>
          <a:solidFill>
            <a:srgbClr val="FDB71A"/>
          </a:solidFill>
          <a:ln/>
        </p:spPr>
        <p:txBody>
          <a:bodyPr/>
          <a:lstStyle/>
          <a:p>
            <a:endParaRPr lang="en-US"/>
          </a:p>
        </p:txBody>
      </p:sp>
      <p:pic>
        <p:nvPicPr>
          <p:cNvPr id="9" name="Image 0" descr="Continue and override timeouts icon"/>
          <p:cNvPicPr>
            <a:picLocks noChangeAspect="1"/>
          </p:cNvPicPr>
          <p:nvPr/>
        </p:nvPicPr>
        <p:blipFill>
          <a:blip r:embed="rId3"/>
          <a:stretch>
            <a:fillRect/>
          </a:stretch>
        </p:blipFill>
        <p:spPr>
          <a:xfrm>
            <a:off x="795528" y="2048256"/>
            <a:ext cx="329184" cy="329184"/>
          </a:xfrm>
          <a:prstGeom prst="rect">
            <a:avLst/>
          </a:prstGeom>
        </p:spPr>
      </p:pic>
      <p:sp>
        <p:nvSpPr>
          <p:cNvPr id="10" name="Text 6"/>
          <p:cNvSpPr/>
          <p:nvPr/>
        </p:nvSpPr>
        <p:spPr>
          <a:xfrm>
            <a:off x="1508760" y="1874520"/>
            <a:ext cx="10058400" cy="329184"/>
          </a:xfrm>
          <a:prstGeom prst="rect">
            <a:avLst/>
          </a:prstGeom>
          <a:noFill/>
          <a:ln/>
        </p:spPr>
        <p:txBody>
          <a:bodyPr wrap="square" lIns="0" tIns="0" rIns="0" bIns="0" rtlCol="0" anchor="t"/>
          <a:lstStyle/>
          <a:p>
            <a:pPr marL="0" indent="0">
              <a:buNone/>
            </a:pPr>
            <a:r>
              <a:rPr lang="en-US" sz="1700" b="1" dirty="0">
                <a:solidFill>
                  <a:srgbClr val="7A0019"/>
                </a:solidFill>
                <a:latin typeface="Poppins" pitchFamily="34" charset="0"/>
                <a:ea typeface="Poppins" pitchFamily="34" charset="-122"/>
                <a:cs typeface="Poppins" pitchFamily="34" charset="-120"/>
              </a:rPr>
              <a:t>Continue and override timeouts</a:t>
            </a:r>
            <a:endParaRPr lang="en-US" sz="1700" dirty="0"/>
          </a:p>
        </p:txBody>
      </p:sp>
      <p:sp>
        <p:nvSpPr>
          <p:cNvPr id="11" name="Text 7"/>
          <p:cNvSpPr/>
          <p:nvPr/>
        </p:nvSpPr>
        <p:spPr>
          <a:xfrm>
            <a:off x="1508760" y="2203704"/>
            <a:ext cx="10058400" cy="365760"/>
          </a:xfrm>
          <a:prstGeom prst="rect">
            <a:avLst/>
          </a:prstGeom>
          <a:noFill/>
          <a:ln/>
        </p:spPr>
        <p:txBody>
          <a:bodyPr wrap="square" lIns="0" tIns="0" rIns="0" bIns="0" rtlCol="0" anchor="t"/>
          <a:lstStyle/>
          <a:p>
            <a:pPr marL="0" indent="0">
              <a:buNone/>
            </a:pPr>
            <a:r>
              <a:rPr lang="en-US" sz="1350" dirty="0">
                <a:solidFill>
                  <a:srgbClr val="1F1A1B"/>
                </a:solidFill>
                <a:latin typeface="Montserrat" pitchFamily="34" charset="0"/>
                <a:ea typeface="Montserrat" pitchFamily="34" charset="-122"/>
                <a:cs typeface="Montserrat" pitchFamily="34" charset="-120"/>
              </a:rPr>
              <a:t>Let a user in after a warning or password, then make them ask again.</a:t>
            </a:r>
            <a:endParaRPr lang="en-US" sz="1350" dirty="0"/>
          </a:p>
        </p:txBody>
      </p:sp>
      <p:sp>
        <p:nvSpPr>
          <p:cNvPr id="12" name="Shape 8"/>
          <p:cNvSpPr/>
          <p:nvPr/>
        </p:nvSpPr>
        <p:spPr>
          <a:xfrm>
            <a:off x="640080" y="2916936"/>
            <a:ext cx="640080" cy="640080"/>
          </a:xfrm>
          <a:prstGeom prst="ellipse">
            <a:avLst/>
          </a:prstGeom>
          <a:solidFill>
            <a:srgbClr val="FDB71A"/>
          </a:solidFill>
          <a:ln/>
        </p:spPr>
        <p:txBody>
          <a:bodyPr/>
          <a:lstStyle/>
          <a:p>
            <a:endParaRPr lang="en-US"/>
          </a:p>
        </p:txBody>
      </p:sp>
      <p:pic>
        <p:nvPicPr>
          <p:cNvPr id="13" name="Image 1" descr="Schedules on Security rules icon"/>
          <p:cNvPicPr>
            <a:picLocks noChangeAspect="1"/>
          </p:cNvPicPr>
          <p:nvPr/>
        </p:nvPicPr>
        <p:blipFill>
          <a:blip r:embed="rId4"/>
          <a:stretch>
            <a:fillRect/>
          </a:stretch>
        </p:blipFill>
        <p:spPr>
          <a:xfrm>
            <a:off x="795528" y="3072384"/>
            <a:ext cx="329184" cy="329184"/>
          </a:xfrm>
          <a:prstGeom prst="rect">
            <a:avLst/>
          </a:prstGeom>
        </p:spPr>
      </p:pic>
      <p:sp>
        <p:nvSpPr>
          <p:cNvPr id="14" name="Text 9"/>
          <p:cNvSpPr/>
          <p:nvPr/>
        </p:nvSpPr>
        <p:spPr>
          <a:xfrm>
            <a:off x="1508760" y="2898648"/>
            <a:ext cx="10058400" cy="329184"/>
          </a:xfrm>
          <a:prstGeom prst="rect">
            <a:avLst/>
          </a:prstGeom>
          <a:noFill/>
          <a:ln/>
        </p:spPr>
        <p:txBody>
          <a:bodyPr wrap="square" lIns="0" tIns="0" rIns="0" bIns="0" rtlCol="0" anchor="t"/>
          <a:lstStyle/>
          <a:p>
            <a:pPr marL="0" indent="0">
              <a:buNone/>
            </a:pPr>
            <a:r>
              <a:rPr lang="en-US" sz="1700" b="1" dirty="0">
                <a:solidFill>
                  <a:srgbClr val="7A0019"/>
                </a:solidFill>
                <a:latin typeface="Poppins" pitchFamily="34" charset="0"/>
                <a:ea typeface="Poppins" pitchFamily="34" charset="-122"/>
                <a:cs typeface="Poppins" pitchFamily="34" charset="-120"/>
              </a:rPr>
              <a:t>Schedules on Security rules</a:t>
            </a:r>
            <a:endParaRPr lang="en-US" sz="1700" dirty="0"/>
          </a:p>
        </p:txBody>
      </p:sp>
      <p:sp>
        <p:nvSpPr>
          <p:cNvPr id="15" name="Text 10"/>
          <p:cNvSpPr/>
          <p:nvPr/>
        </p:nvSpPr>
        <p:spPr>
          <a:xfrm>
            <a:off x="1508760" y="3227832"/>
            <a:ext cx="10058400" cy="365760"/>
          </a:xfrm>
          <a:prstGeom prst="rect">
            <a:avLst/>
          </a:prstGeom>
          <a:noFill/>
          <a:ln/>
        </p:spPr>
        <p:txBody>
          <a:bodyPr wrap="square" lIns="0" tIns="0" rIns="0" bIns="0" rtlCol="0" anchor="t"/>
          <a:lstStyle/>
          <a:p>
            <a:pPr marL="0" indent="0">
              <a:buNone/>
            </a:pPr>
            <a:r>
              <a:rPr lang="en-US" sz="1350" dirty="0">
                <a:solidFill>
                  <a:srgbClr val="1F1A1B"/>
                </a:solidFill>
                <a:latin typeface="Montserrat" pitchFamily="34" charset="0"/>
                <a:ea typeface="Montserrat" pitchFamily="34" charset="-122"/>
                <a:cs typeface="Montserrat" pitchFamily="34" charset="-120"/>
              </a:rPr>
              <a:t>Allow a category only during set hours, such as a lunch window.</a:t>
            </a:r>
            <a:endParaRPr lang="en-US" sz="1350" dirty="0"/>
          </a:p>
        </p:txBody>
      </p:sp>
      <p:sp>
        <p:nvSpPr>
          <p:cNvPr id="16" name="Shape 11"/>
          <p:cNvSpPr/>
          <p:nvPr/>
        </p:nvSpPr>
        <p:spPr>
          <a:xfrm>
            <a:off x="640080" y="3941064"/>
            <a:ext cx="640080" cy="640080"/>
          </a:xfrm>
          <a:prstGeom prst="ellipse">
            <a:avLst/>
          </a:prstGeom>
          <a:solidFill>
            <a:srgbClr val="FDB71A"/>
          </a:solidFill>
          <a:ln/>
        </p:spPr>
        <p:txBody>
          <a:bodyPr/>
          <a:lstStyle/>
          <a:p>
            <a:endParaRPr lang="en-US"/>
          </a:p>
        </p:txBody>
      </p:sp>
      <p:pic>
        <p:nvPicPr>
          <p:cNvPr id="17" name="Image 2" descr="QoS by URL category icon"/>
          <p:cNvPicPr>
            <a:picLocks noChangeAspect="1"/>
          </p:cNvPicPr>
          <p:nvPr/>
        </p:nvPicPr>
        <p:blipFill>
          <a:blip r:embed="rId5"/>
          <a:stretch>
            <a:fillRect/>
          </a:stretch>
        </p:blipFill>
        <p:spPr>
          <a:xfrm>
            <a:off x="795528" y="4096512"/>
            <a:ext cx="329184" cy="329184"/>
          </a:xfrm>
          <a:prstGeom prst="rect">
            <a:avLst/>
          </a:prstGeom>
        </p:spPr>
      </p:pic>
      <p:sp>
        <p:nvSpPr>
          <p:cNvPr id="18" name="Text 12"/>
          <p:cNvSpPr/>
          <p:nvPr/>
        </p:nvSpPr>
        <p:spPr>
          <a:xfrm>
            <a:off x="1508760" y="3922776"/>
            <a:ext cx="10058400" cy="329184"/>
          </a:xfrm>
          <a:prstGeom prst="rect">
            <a:avLst/>
          </a:prstGeom>
          <a:noFill/>
          <a:ln/>
        </p:spPr>
        <p:txBody>
          <a:bodyPr wrap="square" lIns="0" tIns="0" rIns="0" bIns="0" rtlCol="0" anchor="t"/>
          <a:lstStyle/>
          <a:p>
            <a:pPr marL="0" indent="0">
              <a:buNone/>
            </a:pPr>
            <a:r>
              <a:rPr lang="en-US" sz="1700" b="1" dirty="0">
                <a:solidFill>
                  <a:srgbClr val="7A0019"/>
                </a:solidFill>
                <a:latin typeface="Poppins" pitchFamily="34" charset="0"/>
                <a:ea typeface="Poppins" pitchFamily="34" charset="-122"/>
                <a:cs typeface="Poppins" pitchFamily="34" charset="-120"/>
              </a:rPr>
              <a:t>QoS by URL category</a:t>
            </a:r>
            <a:endParaRPr lang="en-US" sz="1700" dirty="0"/>
          </a:p>
        </p:txBody>
      </p:sp>
      <p:sp>
        <p:nvSpPr>
          <p:cNvPr id="19" name="Text 13"/>
          <p:cNvSpPr/>
          <p:nvPr/>
        </p:nvSpPr>
        <p:spPr>
          <a:xfrm>
            <a:off x="1508760" y="4251960"/>
            <a:ext cx="10058400" cy="365760"/>
          </a:xfrm>
          <a:prstGeom prst="rect">
            <a:avLst/>
          </a:prstGeom>
          <a:noFill/>
          <a:ln/>
        </p:spPr>
        <p:txBody>
          <a:bodyPr wrap="square" lIns="0" tIns="0" rIns="0" bIns="0" rtlCol="0" anchor="t"/>
          <a:lstStyle/>
          <a:p>
            <a:pPr marL="0" indent="0">
              <a:buNone/>
            </a:pPr>
            <a:r>
              <a:rPr lang="en-US" sz="1350" dirty="0">
                <a:solidFill>
                  <a:srgbClr val="1F1A1B"/>
                </a:solidFill>
                <a:latin typeface="Montserrat" pitchFamily="34" charset="0"/>
                <a:ea typeface="Montserrat" pitchFamily="34" charset="-122"/>
                <a:cs typeface="Montserrat" pitchFamily="34" charset="-120"/>
              </a:rPr>
              <a:t>Cap the bandwidth a category such as streaming-media can use.</a:t>
            </a:r>
            <a:endParaRPr lang="en-US" sz="1350" dirty="0"/>
          </a:p>
        </p:txBody>
      </p:sp>
      <p:sp>
        <p:nvSpPr>
          <p:cNvPr id="20" name="Text 14"/>
          <p:cNvSpPr/>
          <p:nvPr/>
        </p:nvSpPr>
        <p:spPr>
          <a:xfrm>
            <a:off x="548640" y="5120640"/>
            <a:ext cx="10972800" cy="365760"/>
          </a:xfrm>
          <a:prstGeom prst="rect">
            <a:avLst/>
          </a:prstGeom>
          <a:noFill/>
          <a:ln/>
        </p:spPr>
        <p:txBody>
          <a:bodyPr wrap="square" lIns="0" tIns="0" rIns="0" bIns="0" rtlCol="0" anchor="t"/>
          <a:lstStyle/>
          <a:p>
            <a:pPr marL="0" indent="0">
              <a:buNone/>
            </a:pPr>
            <a:r>
              <a:rPr lang="en-US" sz="1250" i="1" dirty="0">
                <a:solidFill>
                  <a:srgbClr val="5A5A5A"/>
                </a:solidFill>
                <a:latin typeface="Montserrat" pitchFamily="34" charset="0"/>
                <a:ea typeface="Montserrat" pitchFamily="34" charset="-122"/>
                <a:cs typeface="Montserrat" pitchFamily="34" charset="-120"/>
              </a:rPr>
              <a:t>Some web gateways sell true time quotas. Know which tool your platform gives you.</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65760"/>
            <a:ext cx="11155680" cy="658368"/>
          </a:xfrm>
          <a:prstGeom prst="rect">
            <a:avLst/>
          </a:prstGeom>
          <a:noFill/>
          <a:ln/>
        </p:spPr>
        <p:txBody>
          <a:bodyPr wrap="square" rtlCol="0"/>
          <a:lstStyle/>
          <a:p>
            <a:pPr marL="0" indent="0" algn="l">
              <a:buNone/>
            </a:pPr>
            <a:r>
              <a:rPr lang="en-US" sz="2500" b="1" dirty="0">
                <a:solidFill>
                  <a:srgbClr val="7A0019"/>
                </a:solidFill>
                <a:latin typeface="Poppins" pitchFamily="34" charset="0"/>
                <a:ea typeface="Poppins" pitchFamily="34" charset="-122"/>
                <a:cs typeface="Poppins" pitchFamily="34" charset="-120"/>
              </a:rPr>
              <a:t>Continue and Override Timeouts</a:t>
            </a:r>
            <a:endParaRPr lang="en-US" sz="2500" dirty="0"/>
          </a:p>
        </p:txBody>
      </p:sp>
      <p:sp>
        <p:nvSpPr>
          <p:cNvPr id="3" name="Shape 1"/>
          <p:cNvSpPr/>
          <p:nvPr/>
        </p:nvSpPr>
        <p:spPr>
          <a:xfrm>
            <a:off x="521208" y="1042416"/>
            <a:ext cx="914400" cy="54864"/>
          </a:xfrm>
          <a:prstGeom prst="rect">
            <a:avLst/>
          </a:prstGeom>
          <a:solidFill>
            <a:srgbClr val="FDB71A"/>
          </a:solidFill>
          <a:ln/>
        </p:spPr>
        <p:txBody>
          <a:bodyPr/>
          <a:lstStyle/>
          <a:p>
            <a:endParaRPr lang="en-US"/>
          </a:p>
        </p:txBody>
      </p:sp>
      <p:sp>
        <p:nvSpPr>
          <p:cNvPr id="4" name="Text 2"/>
          <p:cNvSpPr/>
          <p:nvPr/>
        </p:nvSpPr>
        <p:spPr>
          <a:xfrm>
            <a:off x="502920" y="6437376"/>
            <a:ext cx="8229600" cy="274320"/>
          </a:xfrm>
          <a:prstGeom prst="rect">
            <a:avLst/>
          </a:prstGeom>
          <a:noFill/>
          <a:ln/>
        </p:spPr>
        <p:txBody>
          <a:bodyPr wrap="square" lIns="0" tIns="0" rIns="0" bIns="0" rtlCol="0" anchor="ctr"/>
          <a:lstStyle/>
          <a:p>
            <a:pPr marL="0" indent="0">
              <a:buNone/>
            </a:pPr>
            <a:r>
              <a:rPr lang="en-US" sz="900" dirty="0">
                <a:solidFill>
                  <a:srgbClr val="5A5A5A"/>
                </a:solidFill>
                <a:latin typeface="Montserrat" pitchFamily="34" charset="0"/>
                <a:ea typeface="Montserrat" pitchFamily="34" charset="-122"/>
                <a:cs typeface="Montserrat" pitchFamily="34" charset="-120"/>
              </a:rPr>
              <a:t>Information Security 2 · Unit 10 · Web Content Filtering</a:t>
            </a:r>
            <a:endParaRPr lang="en-US" sz="900" dirty="0"/>
          </a:p>
        </p:txBody>
      </p:sp>
      <p:sp>
        <p:nvSpPr>
          <p:cNvPr id="5" name="Text 3"/>
          <p:cNvSpPr/>
          <p:nvPr/>
        </p:nvSpPr>
        <p:spPr>
          <a:xfrm>
            <a:off x="11247120" y="6437376"/>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Montserrat" pitchFamily="34" charset="0"/>
                <a:ea typeface="Montserrat" pitchFamily="34" charset="-122"/>
                <a:cs typeface="Montserrat" pitchFamily="34" charset="-120"/>
              </a:rPr>
              <a:t>18</a:t>
            </a:r>
            <a:endParaRPr lang="en-US" sz="900" dirty="0"/>
          </a:p>
        </p:txBody>
      </p:sp>
      <p:sp>
        <p:nvSpPr>
          <p:cNvPr id="7" name="Text 4"/>
          <p:cNvSpPr/>
          <p:nvPr/>
        </p:nvSpPr>
        <p:spPr>
          <a:xfrm>
            <a:off x="548640" y="1371600"/>
            <a:ext cx="10972800" cy="365760"/>
          </a:xfrm>
          <a:prstGeom prst="rect">
            <a:avLst/>
          </a:prstGeom>
          <a:noFill/>
          <a:ln/>
        </p:spPr>
        <p:txBody>
          <a:bodyPr wrap="square" lIns="0" tIns="0" rIns="0" bIns="0" rtlCol="0" anchor="t"/>
          <a:lstStyle/>
          <a:p>
            <a:pPr marL="0" indent="0">
              <a:buNone/>
            </a:pPr>
            <a:r>
              <a:rPr lang="en-US" sz="1300" i="1" dirty="0">
                <a:solidFill>
                  <a:srgbClr val="5E0013"/>
                </a:solidFill>
                <a:latin typeface="Courier New" pitchFamily="34" charset="0"/>
                <a:ea typeface="Courier New" pitchFamily="34" charset="-122"/>
                <a:cs typeface="Courier New" pitchFamily="34" charset="-120"/>
              </a:rPr>
              <a:t>Device &gt; Setup &gt; Content-ID</a:t>
            </a:r>
            <a:endParaRPr lang="en-US" sz="1300" dirty="0"/>
          </a:p>
        </p:txBody>
      </p:sp>
      <p:sp>
        <p:nvSpPr>
          <p:cNvPr id="8" name="Shape 5"/>
          <p:cNvSpPr/>
          <p:nvPr/>
        </p:nvSpPr>
        <p:spPr>
          <a:xfrm>
            <a:off x="521208" y="1801368"/>
            <a:ext cx="5449824" cy="2331218"/>
          </a:xfrm>
          <a:prstGeom prst="rect">
            <a:avLst/>
          </a:prstGeom>
          <a:solidFill>
            <a:srgbClr val="FFFFFF"/>
          </a:solidFill>
          <a:ln w="12700">
            <a:solidFill>
              <a:srgbClr val="D9D2D4"/>
            </a:solidFill>
            <a:prstDash val="solid"/>
          </a:ln>
        </p:spPr>
        <p:txBody>
          <a:bodyPr/>
          <a:lstStyle/>
          <a:p>
            <a:endParaRPr lang="en-US"/>
          </a:p>
        </p:txBody>
      </p:sp>
      <p:pic>
        <p:nvPicPr>
          <p:cNvPr id="9" name="Image 0" descr="URL Filtering settings with URL Continue Timeout 15, URL Admin Override Timeout 15, and URL Admin Lockout Timeout 30 minutes"/>
          <p:cNvPicPr>
            <a:picLocks noChangeAspect="1"/>
          </p:cNvPicPr>
          <p:nvPr/>
        </p:nvPicPr>
        <p:blipFill>
          <a:blip r:embed="rId3"/>
          <a:stretch>
            <a:fillRect/>
          </a:stretch>
        </p:blipFill>
        <p:spPr>
          <a:xfrm>
            <a:off x="548640" y="1828800"/>
            <a:ext cx="5394960" cy="2276354"/>
          </a:xfrm>
          <a:prstGeom prst="rect">
            <a:avLst/>
          </a:prstGeom>
        </p:spPr>
      </p:pic>
      <p:sp>
        <p:nvSpPr>
          <p:cNvPr id="10" name="Shape 6"/>
          <p:cNvSpPr/>
          <p:nvPr/>
        </p:nvSpPr>
        <p:spPr>
          <a:xfrm>
            <a:off x="6281928" y="1801368"/>
            <a:ext cx="5449824" cy="2333141"/>
          </a:xfrm>
          <a:prstGeom prst="rect">
            <a:avLst/>
          </a:prstGeom>
          <a:solidFill>
            <a:srgbClr val="FFFFFF"/>
          </a:solidFill>
          <a:ln w="12700">
            <a:solidFill>
              <a:srgbClr val="D9D2D4"/>
            </a:solidFill>
            <a:prstDash val="solid"/>
          </a:ln>
        </p:spPr>
        <p:txBody>
          <a:bodyPr/>
          <a:lstStyle/>
          <a:p>
            <a:endParaRPr lang="en-US"/>
          </a:p>
        </p:txBody>
      </p:sp>
      <p:pic>
        <p:nvPicPr>
          <p:cNvPr id="11" name="Image 1" descr="URL Admin Override dialog with password, SSL/TLS service profile, Redirect mode, and address"/>
          <p:cNvPicPr>
            <a:picLocks noChangeAspect="1"/>
          </p:cNvPicPr>
          <p:nvPr/>
        </p:nvPicPr>
        <p:blipFill>
          <a:blip r:embed="rId4"/>
          <a:stretch>
            <a:fillRect/>
          </a:stretch>
        </p:blipFill>
        <p:spPr>
          <a:xfrm>
            <a:off x="6309360" y="1828800"/>
            <a:ext cx="5394960" cy="2278277"/>
          </a:xfrm>
          <a:prstGeom prst="rect">
            <a:avLst/>
          </a:prstGeom>
        </p:spPr>
      </p:pic>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4343400"/>
          <a:ext cx="11064240" cy="1152144"/>
        </p:xfrm>
        <a:graphic>
          <a:graphicData uri="http://schemas.openxmlformats.org/drawingml/2006/table">
            <a:tbl>
              <a:tblPr/>
              <a:tblGrid>
                <a:gridCol w="36576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5577840">
                  <a:extLst>
                    <a:ext uri="{9D8B030D-6E8A-4147-A177-3AD203B41FA5}">
                      <a16:colId xmlns:a16="http://schemas.microsoft.com/office/drawing/2014/main" val="20002"/>
                    </a:ext>
                  </a:extLst>
                </a:gridCol>
              </a:tblGrid>
              <a:tr h="384048">
                <a:tc>
                  <a:txBody>
                    <a:bodyPr/>
                    <a:lstStyle/>
                    <a:p>
                      <a:pPr marL="0" indent="0">
                        <a:buNone/>
                      </a:pPr>
                      <a:r>
                        <a:rPr lang="en-US" sz="1250" b="1" dirty="0">
                          <a:solidFill>
                            <a:srgbClr val="FFFFFF"/>
                          </a:solidFill>
                          <a:latin typeface="Poppins" pitchFamily="34" charset="0"/>
                          <a:ea typeface="Poppins" pitchFamily="34" charset="-122"/>
                          <a:cs typeface="Poppins" pitchFamily="34" charset="-120"/>
                        </a:rPr>
                        <a:t>Timer</a:t>
                      </a:r>
                      <a:endParaRPr lang="en-US" sz="1200" dirty="0"/>
                    </a:p>
                  </a:txBody>
                  <a:tcPr marL="76200" marR="76200" marT="38100" marB="38100" anchor="ctr">
                    <a:lnL w="0" cap="flat" cmpd="sng" algn="ctr">
                      <a:noFill/>
                    </a:lnL>
                    <a:lnR w="0" cap="flat" cmpd="sng" algn="ctr">
                      <a:noFill/>
                    </a:lnR>
                    <a:lnT w="12700" cap="flat" cmpd="sng" algn="ctr">
                      <a:solidFill>
                        <a:srgbClr val="D9D2D4"/>
                      </a:solidFill>
                      <a:prstDash val="solid"/>
                      <a:round/>
                      <a:headEnd type="none" w="med" len="med"/>
                      <a:tailEnd type="none" w="med" len="med"/>
                    </a:lnT>
                    <a:lnB w="0" cap="flat" cmpd="sng" algn="ctr">
                      <a:noFill/>
                    </a:lnB>
                    <a:solidFill>
                      <a:srgbClr val="7A0019"/>
                    </a:solidFill>
                  </a:tcPr>
                </a:tc>
                <a:tc>
                  <a:txBody>
                    <a:bodyPr/>
                    <a:lstStyle/>
                    <a:p>
                      <a:pPr marL="0" indent="0">
                        <a:buNone/>
                      </a:pPr>
                      <a:r>
                        <a:rPr lang="en-US" sz="1250" b="1" dirty="0">
                          <a:solidFill>
                            <a:srgbClr val="FFFFFF"/>
                          </a:solidFill>
                          <a:latin typeface="Poppins" pitchFamily="34" charset="0"/>
                          <a:ea typeface="Poppins" pitchFamily="34" charset="-122"/>
                          <a:cs typeface="Poppins" pitchFamily="34" charset="-120"/>
                        </a:rPr>
                        <a:t>Default</a:t>
                      </a:r>
                      <a:endParaRPr lang="en-US" sz="1200" dirty="0"/>
                    </a:p>
                  </a:txBody>
                  <a:tcPr marL="76200" marR="76200" marT="38100" marB="38100" anchor="ctr">
                    <a:lnL w="0" cap="flat" cmpd="sng" algn="ctr">
                      <a:noFill/>
                    </a:lnL>
                    <a:lnR w="0" cap="flat" cmpd="sng" algn="ctr">
                      <a:noFill/>
                    </a:lnR>
                    <a:lnT w="12700" cap="flat" cmpd="sng" algn="ctr">
                      <a:solidFill>
                        <a:srgbClr val="D9D2D4"/>
                      </a:solidFill>
                      <a:prstDash val="solid"/>
                      <a:round/>
                      <a:headEnd type="none" w="med" len="med"/>
                      <a:tailEnd type="none" w="med" len="med"/>
                    </a:lnT>
                    <a:lnB w="0" cap="flat" cmpd="sng" algn="ctr">
                      <a:noFill/>
                    </a:lnB>
                    <a:solidFill>
                      <a:srgbClr val="7A0019"/>
                    </a:solidFill>
                  </a:tcPr>
                </a:tc>
                <a:tc>
                  <a:txBody>
                    <a:bodyPr/>
                    <a:lstStyle/>
                    <a:p>
                      <a:pPr marL="0" indent="0">
                        <a:buNone/>
                      </a:pPr>
                      <a:r>
                        <a:rPr lang="en-US" sz="1250" b="1" dirty="0">
                          <a:solidFill>
                            <a:srgbClr val="FFFFFF"/>
                          </a:solidFill>
                          <a:latin typeface="Poppins" pitchFamily="34" charset="0"/>
                          <a:ea typeface="Poppins" pitchFamily="34" charset="-122"/>
                          <a:cs typeface="Poppins" pitchFamily="34" charset="-120"/>
                        </a:rPr>
                        <a:t>Effect</a:t>
                      </a:r>
                      <a:endParaRPr lang="en-US" sz="1200" dirty="0"/>
                    </a:p>
                  </a:txBody>
                  <a:tcPr marL="76200" marR="76200" marT="38100" marB="38100" anchor="ctr">
                    <a:lnL w="0" cap="flat" cmpd="sng" algn="ctr">
                      <a:noFill/>
                    </a:lnL>
                    <a:lnR w="0" cap="flat" cmpd="sng" algn="ctr">
                      <a:noFill/>
                    </a:lnR>
                    <a:lnT w="12700" cap="flat" cmpd="sng" algn="ctr">
                      <a:solidFill>
                        <a:srgbClr val="D9D2D4"/>
                      </a:solidFill>
                      <a:prstDash val="solid"/>
                      <a:round/>
                      <a:headEnd type="none" w="med" len="med"/>
                      <a:tailEnd type="none" w="med" len="med"/>
                    </a:lnT>
                    <a:lnB w="0" cap="flat" cmpd="sng" algn="ctr">
                      <a:noFill/>
                    </a:lnB>
                    <a:solidFill>
                      <a:srgbClr val="7A0019"/>
                    </a:solidFill>
                  </a:tcPr>
                </a:tc>
                <a:extLst>
                  <a:ext uri="{0D108BD9-81ED-4DB2-BD59-A6C34878D82A}">
                    <a16:rowId xmlns:a16="http://schemas.microsoft.com/office/drawing/2014/main" val="10000"/>
                  </a:ext>
                </a:extLst>
              </a:tr>
              <a:tr h="384048">
                <a:tc>
                  <a:txBody>
                    <a:bodyPr/>
                    <a:lstStyle/>
                    <a:p>
                      <a:pPr marL="0" indent="0">
                        <a:buNone/>
                      </a:pPr>
                      <a:r>
                        <a:rPr lang="en-US" sz="1200" b="1" dirty="0">
                          <a:solidFill>
                            <a:srgbClr val="7A0019"/>
                          </a:solidFill>
                          <a:latin typeface="Montserrat" pitchFamily="34" charset="0"/>
                          <a:ea typeface="Montserrat" pitchFamily="34" charset="-122"/>
                          <a:cs typeface="Montserrat" pitchFamily="34" charset="-120"/>
                        </a:rPr>
                        <a:t>URL Continue Timeout</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BF1F3"/>
                    </a:solidFill>
                  </a:tcPr>
                </a:tc>
                <a:tc>
                  <a:txBody>
                    <a:bodyPr/>
                    <a:lstStyle/>
                    <a:p>
                      <a:pPr marL="0" indent="0">
                        <a:buNone/>
                      </a:pPr>
                      <a:r>
                        <a:rPr lang="en-US" sz="1200" dirty="0">
                          <a:solidFill>
                            <a:srgbClr val="1F1A1B"/>
                          </a:solidFill>
                          <a:latin typeface="Montserrat" pitchFamily="34" charset="0"/>
                          <a:ea typeface="Montserrat" pitchFamily="34" charset="-122"/>
                          <a:cs typeface="Montserrat" pitchFamily="34" charset="-120"/>
                        </a:rPr>
                        <a:t>15 min</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FFFFF"/>
                    </a:solidFill>
                  </a:tcPr>
                </a:tc>
                <a:tc>
                  <a:txBody>
                    <a:bodyPr/>
                    <a:lstStyle/>
                    <a:p>
                      <a:pPr marL="0" indent="0">
                        <a:buNone/>
                      </a:pPr>
                      <a:r>
                        <a:rPr lang="en-US" sz="1200" dirty="0">
                          <a:solidFill>
                            <a:srgbClr val="1F1A1B"/>
                          </a:solidFill>
                          <a:latin typeface="Montserrat" pitchFamily="34" charset="0"/>
                          <a:ea typeface="Montserrat" pitchFamily="34" charset="-122"/>
                          <a:cs typeface="Montserrat" pitchFamily="34" charset="-120"/>
                        </a:rPr>
                        <a:t>How long a click on Continue lasts for that category</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200" b="1" dirty="0">
                          <a:solidFill>
                            <a:srgbClr val="7A0019"/>
                          </a:solidFill>
                          <a:latin typeface="Montserrat" pitchFamily="34" charset="0"/>
                          <a:ea typeface="Montserrat" pitchFamily="34" charset="-122"/>
                          <a:cs typeface="Montserrat" pitchFamily="34" charset="-120"/>
                        </a:rPr>
                        <a:t>URL Admin Override / Lockout</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BF1F3"/>
                    </a:solidFill>
                  </a:tcPr>
                </a:tc>
                <a:tc>
                  <a:txBody>
                    <a:bodyPr/>
                    <a:lstStyle/>
                    <a:p>
                      <a:pPr marL="0" indent="0">
                        <a:buNone/>
                      </a:pPr>
                      <a:r>
                        <a:rPr lang="en-US" sz="1200" dirty="0">
                          <a:solidFill>
                            <a:srgbClr val="1F1A1B"/>
                          </a:solidFill>
                          <a:latin typeface="Montserrat" pitchFamily="34" charset="0"/>
                          <a:ea typeface="Montserrat" pitchFamily="34" charset="-122"/>
                          <a:cs typeface="Montserrat" pitchFamily="34" charset="-120"/>
                        </a:rPr>
                        <a:t>15 / 30 min</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AF6F7"/>
                    </a:solidFill>
                  </a:tcPr>
                </a:tc>
                <a:tc>
                  <a:txBody>
                    <a:bodyPr/>
                    <a:lstStyle/>
                    <a:p>
                      <a:pPr marL="0" indent="0">
                        <a:buNone/>
                      </a:pPr>
                      <a:r>
                        <a:rPr lang="en-US" sz="1200" dirty="0">
                          <a:solidFill>
                            <a:srgbClr val="1F1A1B"/>
                          </a:solidFill>
                          <a:latin typeface="Montserrat" pitchFamily="34" charset="0"/>
                          <a:ea typeface="Montserrat" pitchFamily="34" charset="-122"/>
                          <a:cs typeface="Montserrat" pitchFamily="34" charset="-120"/>
                        </a:rPr>
                        <a:t>Override lifetime; wait after three bad passwords</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AF6F7"/>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65760"/>
            <a:ext cx="11155680" cy="658368"/>
          </a:xfrm>
          <a:prstGeom prst="rect">
            <a:avLst/>
          </a:prstGeom>
          <a:noFill/>
          <a:ln/>
        </p:spPr>
        <p:txBody>
          <a:bodyPr wrap="square" rtlCol="0"/>
          <a:lstStyle/>
          <a:p>
            <a:pPr marL="0" indent="0" algn="l">
              <a:buNone/>
            </a:pPr>
            <a:r>
              <a:rPr lang="en-US" sz="2500" b="1" dirty="0">
                <a:solidFill>
                  <a:srgbClr val="7A0019"/>
                </a:solidFill>
                <a:latin typeface="Poppins" pitchFamily="34" charset="0"/>
                <a:ea typeface="Poppins" pitchFamily="34" charset="-122"/>
                <a:cs typeface="Poppins" pitchFamily="34" charset="-120"/>
              </a:rPr>
              <a:t>Schedule-Based Access</a:t>
            </a:r>
            <a:endParaRPr lang="en-US" sz="2500" dirty="0"/>
          </a:p>
        </p:txBody>
      </p:sp>
      <p:sp>
        <p:nvSpPr>
          <p:cNvPr id="3" name="Shape 1"/>
          <p:cNvSpPr/>
          <p:nvPr/>
        </p:nvSpPr>
        <p:spPr>
          <a:xfrm>
            <a:off x="521208" y="1042416"/>
            <a:ext cx="914400" cy="54864"/>
          </a:xfrm>
          <a:prstGeom prst="rect">
            <a:avLst/>
          </a:prstGeom>
          <a:solidFill>
            <a:srgbClr val="FDB71A"/>
          </a:solidFill>
          <a:ln/>
        </p:spPr>
        <p:txBody>
          <a:bodyPr/>
          <a:lstStyle/>
          <a:p>
            <a:endParaRPr lang="en-US"/>
          </a:p>
        </p:txBody>
      </p:sp>
      <p:sp>
        <p:nvSpPr>
          <p:cNvPr id="4" name="Text 2"/>
          <p:cNvSpPr/>
          <p:nvPr/>
        </p:nvSpPr>
        <p:spPr>
          <a:xfrm>
            <a:off x="502920" y="6437376"/>
            <a:ext cx="8229600" cy="274320"/>
          </a:xfrm>
          <a:prstGeom prst="rect">
            <a:avLst/>
          </a:prstGeom>
          <a:noFill/>
          <a:ln/>
        </p:spPr>
        <p:txBody>
          <a:bodyPr wrap="square" lIns="0" tIns="0" rIns="0" bIns="0" rtlCol="0" anchor="ctr"/>
          <a:lstStyle/>
          <a:p>
            <a:pPr marL="0" indent="0">
              <a:buNone/>
            </a:pPr>
            <a:r>
              <a:rPr lang="en-US" sz="900" dirty="0">
                <a:solidFill>
                  <a:srgbClr val="5A5A5A"/>
                </a:solidFill>
                <a:latin typeface="Montserrat" pitchFamily="34" charset="0"/>
                <a:ea typeface="Montserrat" pitchFamily="34" charset="-122"/>
                <a:cs typeface="Montserrat" pitchFamily="34" charset="-120"/>
              </a:rPr>
              <a:t>Information Security 2 · Unit 10 · Web Content Filtering</a:t>
            </a:r>
            <a:endParaRPr lang="en-US" sz="900" dirty="0"/>
          </a:p>
        </p:txBody>
      </p:sp>
      <p:sp>
        <p:nvSpPr>
          <p:cNvPr id="5" name="Text 3"/>
          <p:cNvSpPr/>
          <p:nvPr/>
        </p:nvSpPr>
        <p:spPr>
          <a:xfrm>
            <a:off x="11247120" y="6437376"/>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Montserrat" pitchFamily="34" charset="0"/>
                <a:ea typeface="Montserrat" pitchFamily="34" charset="-122"/>
                <a:cs typeface="Montserrat" pitchFamily="34" charset="-120"/>
              </a:rPr>
              <a:t>19</a:t>
            </a:r>
            <a:endParaRPr lang="en-US" sz="900" dirty="0"/>
          </a:p>
        </p:txBody>
      </p:sp>
      <p:sp>
        <p:nvSpPr>
          <p:cNvPr id="7" name="Text 4"/>
          <p:cNvSpPr/>
          <p:nvPr/>
        </p:nvSpPr>
        <p:spPr>
          <a:xfrm>
            <a:off x="548640" y="1371600"/>
            <a:ext cx="10972800" cy="365760"/>
          </a:xfrm>
          <a:prstGeom prst="rect">
            <a:avLst/>
          </a:prstGeom>
          <a:noFill/>
          <a:ln/>
        </p:spPr>
        <p:txBody>
          <a:bodyPr wrap="square" lIns="0" tIns="0" rIns="0" bIns="0" rtlCol="0" anchor="t"/>
          <a:lstStyle/>
          <a:p>
            <a:pPr marL="0" indent="0">
              <a:buNone/>
            </a:pPr>
            <a:r>
              <a:rPr lang="en-US" sz="1400" dirty="0">
                <a:solidFill>
                  <a:srgbClr val="5A5A5A"/>
                </a:solidFill>
                <a:latin typeface="Montserrat" pitchFamily="34" charset="0"/>
                <a:ea typeface="Montserrat" pitchFamily="34" charset="-122"/>
                <a:cs typeface="Montserrat" pitchFamily="34" charset="-120"/>
              </a:rPr>
              <a:t>A schedule object limits when a Security rule is enforced.</a:t>
            </a:r>
            <a:endParaRPr lang="en-US" sz="1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1828800"/>
        </p:xfrm>
        <a:graphic>
          <a:graphicData uri="http://schemas.openxmlformats.org/drawingml/2006/table">
            <a:tbl>
              <a:tblPr/>
              <a:tblGrid>
                <a:gridCol w="237744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tblGrid>
              <a:tr h="457200">
                <a:tc>
                  <a:txBody>
                    <a:bodyPr/>
                    <a:lstStyle/>
                    <a:p>
                      <a:pPr marL="0" indent="0">
                        <a:buNone/>
                      </a:pPr>
                      <a:r>
                        <a:rPr lang="en-US" sz="1250" b="1" dirty="0">
                          <a:solidFill>
                            <a:srgbClr val="FFFFFF"/>
                          </a:solidFill>
                          <a:latin typeface="Poppins" pitchFamily="34" charset="0"/>
                          <a:ea typeface="Poppins" pitchFamily="34" charset="-122"/>
                          <a:cs typeface="Poppins" pitchFamily="34" charset="-120"/>
                        </a:rPr>
                        <a:t>Recurrence</a:t>
                      </a:r>
                      <a:endParaRPr lang="en-US" sz="1200" dirty="0"/>
                    </a:p>
                  </a:txBody>
                  <a:tcPr marL="76200" marR="76200" marT="38100" marB="38100" anchor="ctr">
                    <a:lnL w="0" cap="flat" cmpd="sng" algn="ctr">
                      <a:noFill/>
                    </a:lnL>
                    <a:lnR w="0" cap="flat" cmpd="sng" algn="ctr">
                      <a:noFill/>
                    </a:lnR>
                    <a:lnT w="12700" cap="flat" cmpd="sng" algn="ctr">
                      <a:solidFill>
                        <a:srgbClr val="D9D2D4"/>
                      </a:solidFill>
                      <a:prstDash val="solid"/>
                      <a:round/>
                      <a:headEnd type="none" w="med" len="med"/>
                      <a:tailEnd type="none" w="med" len="med"/>
                    </a:lnT>
                    <a:lnB w="0" cap="flat" cmpd="sng" algn="ctr">
                      <a:noFill/>
                    </a:lnB>
                    <a:solidFill>
                      <a:srgbClr val="7A0019"/>
                    </a:solidFill>
                  </a:tcPr>
                </a:tc>
                <a:tc>
                  <a:txBody>
                    <a:bodyPr/>
                    <a:lstStyle/>
                    <a:p>
                      <a:pPr marL="0" indent="0">
                        <a:buNone/>
                      </a:pPr>
                      <a:r>
                        <a:rPr lang="en-US" sz="1250" b="1" dirty="0">
                          <a:solidFill>
                            <a:srgbClr val="FFFFFF"/>
                          </a:solidFill>
                          <a:latin typeface="Poppins" pitchFamily="34" charset="0"/>
                          <a:ea typeface="Poppins" pitchFamily="34" charset="-122"/>
                          <a:cs typeface="Poppins" pitchFamily="34" charset="-120"/>
                        </a:rPr>
                        <a:t>Defined by</a:t>
                      </a:r>
                      <a:endParaRPr lang="en-US" sz="1200" dirty="0"/>
                    </a:p>
                  </a:txBody>
                  <a:tcPr marL="76200" marR="76200" marT="38100" marB="38100" anchor="ctr">
                    <a:lnL w="0" cap="flat" cmpd="sng" algn="ctr">
                      <a:noFill/>
                    </a:lnL>
                    <a:lnR w="0" cap="flat" cmpd="sng" algn="ctr">
                      <a:noFill/>
                    </a:lnR>
                    <a:lnT w="12700" cap="flat" cmpd="sng" algn="ctr">
                      <a:solidFill>
                        <a:srgbClr val="D9D2D4"/>
                      </a:solidFill>
                      <a:prstDash val="solid"/>
                      <a:round/>
                      <a:headEnd type="none" w="med" len="med"/>
                      <a:tailEnd type="none" w="med" len="med"/>
                    </a:lnT>
                    <a:lnB w="0" cap="flat" cmpd="sng" algn="ctr">
                      <a:noFill/>
                    </a:lnB>
                    <a:solidFill>
                      <a:srgbClr val="7A0019"/>
                    </a:solidFill>
                  </a:tcPr>
                </a:tc>
                <a:tc>
                  <a:txBody>
                    <a:bodyPr/>
                    <a:lstStyle/>
                    <a:p>
                      <a:pPr marL="0" indent="0">
                        <a:buNone/>
                      </a:pPr>
                      <a:r>
                        <a:rPr lang="en-US" sz="1250" b="1" dirty="0">
                          <a:solidFill>
                            <a:srgbClr val="FFFFFF"/>
                          </a:solidFill>
                          <a:latin typeface="Poppins" pitchFamily="34" charset="0"/>
                          <a:ea typeface="Poppins" pitchFamily="34" charset="-122"/>
                          <a:cs typeface="Poppins" pitchFamily="34" charset="-120"/>
                        </a:rPr>
                        <a:t>Example</a:t>
                      </a:r>
                      <a:endParaRPr lang="en-US" sz="1200" dirty="0"/>
                    </a:p>
                  </a:txBody>
                  <a:tcPr marL="76200" marR="76200" marT="38100" marB="38100" anchor="ctr">
                    <a:lnL w="0" cap="flat" cmpd="sng" algn="ctr">
                      <a:noFill/>
                    </a:lnL>
                    <a:lnR w="0" cap="flat" cmpd="sng" algn="ctr">
                      <a:noFill/>
                    </a:lnR>
                    <a:lnT w="12700" cap="flat" cmpd="sng" algn="ctr">
                      <a:solidFill>
                        <a:srgbClr val="D9D2D4"/>
                      </a:solidFill>
                      <a:prstDash val="solid"/>
                      <a:round/>
                      <a:headEnd type="none" w="med" len="med"/>
                      <a:tailEnd type="none" w="med" len="med"/>
                    </a:lnT>
                    <a:lnB w="0" cap="flat" cmpd="sng" algn="ctr">
                      <a:noFill/>
                    </a:lnB>
                    <a:solidFill>
                      <a:srgbClr val="7A0019"/>
                    </a:solidFill>
                  </a:tcPr>
                </a:tc>
                <a:extLst>
                  <a:ext uri="{0D108BD9-81ED-4DB2-BD59-A6C34878D82A}">
                    <a16:rowId xmlns:a16="http://schemas.microsoft.com/office/drawing/2014/main" val="10000"/>
                  </a:ext>
                </a:extLst>
              </a:tr>
              <a:tr h="457200">
                <a:tc>
                  <a:txBody>
                    <a:bodyPr/>
                    <a:lstStyle/>
                    <a:p>
                      <a:pPr marL="0" indent="0">
                        <a:buNone/>
                      </a:pPr>
                      <a:r>
                        <a:rPr lang="en-US" sz="1300" b="1" dirty="0">
                          <a:solidFill>
                            <a:srgbClr val="7A0019"/>
                          </a:solidFill>
                          <a:latin typeface="Montserrat" pitchFamily="34" charset="0"/>
                          <a:ea typeface="Montserrat" pitchFamily="34" charset="-122"/>
                          <a:cs typeface="Montserrat" pitchFamily="34" charset="-120"/>
                        </a:rPr>
                        <a:t>Daily</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BF1F3"/>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Start and end time, 24-hour</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FFFFF"/>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11:30–13:00 every day</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300" b="1" dirty="0">
                          <a:solidFill>
                            <a:srgbClr val="7A0019"/>
                          </a:solidFill>
                          <a:latin typeface="Montserrat" pitchFamily="34" charset="0"/>
                          <a:ea typeface="Montserrat" pitchFamily="34" charset="-122"/>
                          <a:cs typeface="Montserrat" pitchFamily="34" charset="-120"/>
                        </a:rPr>
                        <a:t>Weekly</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BF1F3"/>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Day of week plus start and end</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AF6F7"/>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Saturday 08:00–17:00</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AF6F7"/>
                    </a:solidFill>
                  </a:tcPr>
                </a:tc>
                <a:extLst>
                  <a:ext uri="{0D108BD9-81ED-4DB2-BD59-A6C34878D82A}">
                    <a16:rowId xmlns:a16="http://schemas.microsoft.com/office/drawing/2014/main" val="10002"/>
                  </a:ext>
                </a:extLst>
              </a:tr>
              <a:tr h="457200">
                <a:tc>
                  <a:txBody>
                    <a:bodyPr/>
                    <a:lstStyle/>
                    <a:p>
                      <a:pPr marL="0" indent="0">
                        <a:buNone/>
                      </a:pPr>
                      <a:r>
                        <a:rPr lang="en-US" sz="1300" b="1" dirty="0">
                          <a:solidFill>
                            <a:srgbClr val="7A0019"/>
                          </a:solidFill>
                          <a:latin typeface="Montserrat" pitchFamily="34" charset="0"/>
                          <a:ea typeface="Montserrat" pitchFamily="34" charset="-122"/>
                          <a:cs typeface="Montserrat" pitchFamily="34" charset="-120"/>
                        </a:rPr>
                        <a:t>Non-recurring</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BF1F3"/>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Start and end date and time</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FFFFF"/>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Final exam week only</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3"/>
                  </a:ext>
                </a:extLst>
              </a:tr>
            </a:tbl>
          </a:graphicData>
        </a:graphic>
      </p:graphicFrame>
      <p:sp>
        <p:nvSpPr>
          <p:cNvPr id="9" name="Shape 5"/>
          <p:cNvSpPr/>
          <p:nvPr/>
        </p:nvSpPr>
        <p:spPr>
          <a:xfrm>
            <a:off x="548640" y="3794760"/>
            <a:ext cx="11064240" cy="802640"/>
          </a:xfrm>
          <a:prstGeom prst="roundRect">
            <a:avLst>
              <a:gd name="adj" fmla="val 2278"/>
            </a:avLst>
          </a:prstGeom>
          <a:solidFill>
            <a:srgbClr val="FBF1F3"/>
          </a:solidFill>
          <a:ln/>
        </p:spPr>
        <p:txBody>
          <a:bodyPr/>
          <a:lstStyle/>
          <a:p>
            <a:endParaRPr lang="en-US"/>
          </a:p>
        </p:txBody>
      </p:sp>
      <p:sp>
        <p:nvSpPr>
          <p:cNvPr id="10" name="Text 6"/>
          <p:cNvSpPr/>
          <p:nvPr/>
        </p:nvSpPr>
        <p:spPr>
          <a:xfrm>
            <a:off x="731520" y="3794760"/>
            <a:ext cx="10698480" cy="802640"/>
          </a:xfrm>
          <a:prstGeom prst="rect">
            <a:avLst/>
          </a:prstGeom>
          <a:noFill/>
          <a:ln/>
        </p:spPr>
        <p:txBody>
          <a:bodyPr wrap="square" lIns="0" tIns="0" rIns="0" bIns="0" rtlCol="0" anchor="ctr"/>
          <a:lstStyle/>
          <a:p>
            <a:pPr marL="0" indent="0">
              <a:buNone/>
            </a:pPr>
            <a:r>
              <a:rPr lang="en-US" sz="1300" dirty="0">
                <a:solidFill>
                  <a:srgbClr val="5E0013"/>
                </a:solidFill>
                <a:latin typeface="Courier New" pitchFamily="34" charset="0"/>
                <a:ea typeface="Courier New" pitchFamily="34" charset="-122"/>
                <a:cs typeface="Courier New" pitchFamily="34" charset="-120"/>
              </a:rPr>
              <a:t>Objects &gt; Schedules &gt; Add                        Name: Lunch-Window   Daily 11:30-13:00</a:t>
            </a:r>
            <a:endParaRPr lang="en-US" sz="1300" dirty="0"/>
          </a:p>
          <a:p>
            <a:pPr marL="0" indent="0">
              <a:buNone/>
            </a:pPr>
            <a:r>
              <a:rPr lang="en-US" sz="1300" dirty="0">
                <a:solidFill>
                  <a:srgbClr val="5E0013"/>
                </a:solidFill>
                <a:latin typeface="Courier New" pitchFamily="34" charset="0"/>
                <a:ea typeface="Courier New" pitchFamily="34" charset="-122"/>
                <a:cs typeface="Courier New" pitchFamily="34" charset="-120"/>
              </a:rPr>
              <a:t>Policies &gt; Security &gt; Allow-Social-Lunch &gt; Actions &gt; Schedule: Lunch-Window</a:t>
            </a:r>
            <a:endParaRPr lang="en-US" sz="1300" dirty="0"/>
          </a:p>
        </p:txBody>
      </p:sp>
      <p:sp>
        <p:nvSpPr>
          <p:cNvPr id="11" name="Text 7"/>
          <p:cNvSpPr/>
          <p:nvPr/>
        </p:nvSpPr>
        <p:spPr>
          <a:xfrm>
            <a:off x="548640" y="4846320"/>
            <a:ext cx="10972800" cy="365760"/>
          </a:xfrm>
          <a:prstGeom prst="rect">
            <a:avLst/>
          </a:prstGeom>
          <a:noFill/>
          <a:ln/>
        </p:spPr>
        <p:txBody>
          <a:bodyPr wrap="square" lIns="0" tIns="0" rIns="0" bIns="0" rtlCol="0" anchor="t"/>
          <a:lstStyle/>
          <a:p>
            <a:pPr marL="0" indent="0">
              <a:buNone/>
            </a:pPr>
            <a:r>
              <a:rPr lang="en-US" sz="1250" i="1" dirty="0">
                <a:solidFill>
                  <a:srgbClr val="5A5A5A"/>
                </a:solidFill>
                <a:latin typeface="Montserrat" pitchFamily="34" charset="0"/>
                <a:ea typeface="Montserrat" pitchFamily="34" charset="-122"/>
                <a:cs typeface="Montserrat" pitchFamily="34" charset="-120"/>
              </a:rPr>
              <a:t>Schedules apply only to new sessions. Sessions already open keep running past the window.</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65760"/>
            <a:ext cx="11155680" cy="658368"/>
          </a:xfrm>
          <a:prstGeom prst="rect">
            <a:avLst/>
          </a:prstGeom>
          <a:noFill/>
          <a:ln/>
        </p:spPr>
        <p:txBody>
          <a:bodyPr wrap="square" rtlCol="0"/>
          <a:lstStyle/>
          <a:p>
            <a:pPr marL="0" indent="0" algn="l">
              <a:buNone/>
            </a:pPr>
            <a:r>
              <a:rPr lang="en-US" sz="2500" b="1" dirty="0">
                <a:solidFill>
                  <a:srgbClr val="7A0019"/>
                </a:solidFill>
                <a:latin typeface="Poppins" pitchFamily="34" charset="0"/>
                <a:ea typeface="Poppins" pitchFamily="34" charset="-122"/>
                <a:cs typeface="Poppins" pitchFamily="34" charset="-120"/>
              </a:rPr>
              <a:t>Bandwidth Quotas with QoS</a:t>
            </a:r>
            <a:endParaRPr lang="en-US" sz="2500" dirty="0"/>
          </a:p>
        </p:txBody>
      </p:sp>
      <p:sp>
        <p:nvSpPr>
          <p:cNvPr id="3" name="Shape 1"/>
          <p:cNvSpPr/>
          <p:nvPr/>
        </p:nvSpPr>
        <p:spPr>
          <a:xfrm>
            <a:off x="521208" y="1042416"/>
            <a:ext cx="914400" cy="54864"/>
          </a:xfrm>
          <a:prstGeom prst="rect">
            <a:avLst/>
          </a:prstGeom>
          <a:solidFill>
            <a:srgbClr val="FDB71A"/>
          </a:solidFill>
          <a:ln/>
        </p:spPr>
        <p:txBody>
          <a:bodyPr/>
          <a:lstStyle/>
          <a:p>
            <a:endParaRPr lang="en-US"/>
          </a:p>
        </p:txBody>
      </p:sp>
      <p:sp>
        <p:nvSpPr>
          <p:cNvPr id="4" name="Text 2"/>
          <p:cNvSpPr/>
          <p:nvPr/>
        </p:nvSpPr>
        <p:spPr>
          <a:xfrm>
            <a:off x="502920" y="6437376"/>
            <a:ext cx="8229600" cy="274320"/>
          </a:xfrm>
          <a:prstGeom prst="rect">
            <a:avLst/>
          </a:prstGeom>
          <a:noFill/>
          <a:ln/>
        </p:spPr>
        <p:txBody>
          <a:bodyPr wrap="square" lIns="0" tIns="0" rIns="0" bIns="0" rtlCol="0" anchor="ctr"/>
          <a:lstStyle/>
          <a:p>
            <a:pPr marL="0" indent="0">
              <a:buNone/>
            </a:pPr>
            <a:r>
              <a:rPr lang="en-US" sz="900" dirty="0">
                <a:solidFill>
                  <a:srgbClr val="5A5A5A"/>
                </a:solidFill>
                <a:latin typeface="Montserrat" pitchFamily="34" charset="0"/>
                <a:ea typeface="Montserrat" pitchFamily="34" charset="-122"/>
                <a:cs typeface="Montserrat" pitchFamily="34" charset="-120"/>
              </a:rPr>
              <a:t>Information Security 2 · Unit 10 · Web Content Filtering</a:t>
            </a:r>
            <a:endParaRPr lang="en-US" sz="900" dirty="0"/>
          </a:p>
        </p:txBody>
      </p:sp>
      <p:sp>
        <p:nvSpPr>
          <p:cNvPr id="5" name="Text 3"/>
          <p:cNvSpPr/>
          <p:nvPr/>
        </p:nvSpPr>
        <p:spPr>
          <a:xfrm>
            <a:off x="11247120" y="6437376"/>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Montserrat" pitchFamily="34" charset="0"/>
                <a:ea typeface="Montserrat" pitchFamily="34" charset="-122"/>
                <a:cs typeface="Montserrat" pitchFamily="34" charset="-120"/>
              </a:rPr>
              <a:t>20</a:t>
            </a:r>
            <a:endParaRPr lang="en-US" sz="900" dirty="0"/>
          </a:p>
        </p:txBody>
      </p:sp>
      <p:sp>
        <p:nvSpPr>
          <p:cNvPr id="7" name="Text 4"/>
          <p:cNvSpPr/>
          <p:nvPr/>
        </p:nvSpPr>
        <p:spPr>
          <a:xfrm>
            <a:off x="548640" y="1371600"/>
            <a:ext cx="10972800" cy="365760"/>
          </a:xfrm>
          <a:prstGeom prst="rect">
            <a:avLst/>
          </a:prstGeom>
          <a:noFill/>
          <a:ln/>
        </p:spPr>
        <p:txBody>
          <a:bodyPr wrap="square" lIns="0" tIns="0" rIns="0" bIns="0" rtlCol="0" anchor="t"/>
          <a:lstStyle/>
          <a:p>
            <a:pPr marL="0" indent="0">
              <a:buNone/>
            </a:pPr>
            <a:r>
              <a:rPr lang="en-US" sz="1400" dirty="0">
                <a:solidFill>
                  <a:srgbClr val="5A5A5A"/>
                </a:solidFill>
                <a:latin typeface="Montserrat" pitchFamily="34" charset="0"/>
                <a:ea typeface="Montserrat" pitchFamily="34" charset="-122"/>
                <a:cs typeface="Montserrat" pitchFamily="34" charset="-120"/>
              </a:rPr>
              <a:t>URL categories also work as match criteria in QoS policy.</a:t>
            </a:r>
            <a:endParaRPr lang="en-US" sz="1400" dirty="0"/>
          </a:p>
        </p:txBody>
      </p:sp>
      <p:sp>
        <p:nvSpPr>
          <p:cNvPr id="8" name="Text 5"/>
          <p:cNvSpPr/>
          <p:nvPr/>
        </p:nvSpPr>
        <p:spPr>
          <a:xfrm>
            <a:off x="548640" y="1828800"/>
            <a:ext cx="6766560" cy="2743200"/>
          </a:xfrm>
          <a:prstGeom prst="rect">
            <a:avLst/>
          </a:prstGeom>
          <a:noFill/>
          <a:ln/>
        </p:spPr>
        <p:txBody>
          <a:bodyPr wrap="square" lIns="0" tIns="0" rIns="0" bIns="0" rtlCol="0" anchor="t"/>
          <a:lstStyle/>
          <a:p>
            <a:pPr marL="177800" indent="-177800">
              <a:spcAft>
                <a:spcPts val="1200"/>
              </a:spcAft>
              <a:buSzPct val="100000"/>
              <a:buChar char="•"/>
            </a:pPr>
            <a:r>
              <a:rPr lang="en-US" sz="1450" dirty="0">
                <a:solidFill>
                  <a:srgbClr val="1F1A1B"/>
                </a:solidFill>
                <a:latin typeface="Montserrat" pitchFamily="34" charset="0"/>
                <a:ea typeface="Montserrat" pitchFamily="34" charset="-122"/>
                <a:cs typeface="Montserrat" pitchFamily="34" charset="-120"/>
              </a:rPr>
              <a:t>A </a:t>
            </a:r>
            <a:r>
              <a:rPr lang="en-US" sz="1450" b="1" dirty="0">
                <a:solidFill>
                  <a:srgbClr val="7A0019"/>
                </a:solidFill>
                <a:latin typeface="Montserrat" pitchFamily="34" charset="0"/>
                <a:ea typeface="Montserrat" pitchFamily="34" charset="-122"/>
                <a:cs typeface="Montserrat" pitchFamily="34" charset="-120"/>
              </a:rPr>
              <a:t>QoS profile</a:t>
            </a:r>
            <a:r>
              <a:rPr lang="en-US" sz="1450" dirty="0">
                <a:solidFill>
                  <a:srgbClr val="1F1A1B"/>
                </a:solidFill>
                <a:latin typeface="Montserrat" pitchFamily="34" charset="0"/>
                <a:ea typeface="Montserrat" pitchFamily="34" charset="-122"/>
                <a:cs typeface="Montserrat" pitchFamily="34" charset="-120"/>
              </a:rPr>
              <a:t> sets guaranteed and maximum bandwidth for each of 8 classes.</a:t>
            </a:r>
            <a:endParaRPr lang="en-US" sz="1450" dirty="0"/>
          </a:p>
          <a:p>
            <a:pPr marL="177800" indent="-177800">
              <a:spcAft>
                <a:spcPts val="1200"/>
              </a:spcAft>
              <a:buSzPct val="100000"/>
              <a:buChar char="•"/>
            </a:pPr>
            <a:r>
              <a:rPr lang="en-US" sz="1450" dirty="0">
                <a:solidFill>
                  <a:srgbClr val="1F1A1B"/>
                </a:solidFill>
                <a:latin typeface="Montserrat" pitchFamily="34" charset="0"/>
                <a:ea typeface="Montserrat" pitchFamily="34" charset="-122"/>
                <a:cs typeface="Montserrat" pitchFamily="34" charset="-120"/>
              </a:rPr>
              <a:t>A </a:t>
            </a:r>
            <a:r>
              <a:rPr lang="en-US" sz="1450" b="1" dirty="0">
                <a:solidFill>
                  <a:srgbClr val="7A0019"/>
                </a:solidFill>
                <a:latin typeface="Montserrat" pitchFamily="34" charset="0"/>
                <a:ea typeface="Montserrat" pitchFamily="34" charset="-122"/>
                <a:cs typeface="Montserrat" pitchFamily="34" charset="-120"/>
              </a:rPr>
              <a:t>QoS policy rule</a:t>
            </a:r>
            <a:r>
              <a:rPr lang="en-US" sz="1450" dirty="0">
                <a:solidFill>
                  <a:srgbClr val="1F1A1B"/>
                </a:solidFill>
                <a:latin typeface="Montserrat" pitchFamily="34" charset="0"/>
                <a:ea typeface="Montserrat" pitchFamily="34" charset="-122"/>
                <a:cs typeface="Montserrat" pitchFamily="34" charset="-120"/>
              </a:rPr>
              <a:t> matches a URL category and assigns it a class.</a:t>
            </a:r>
            <a:endParaRPr lang="en-US" sz="1450" dirty="0"/>
          </a:p>
          <a:p>
            <a:pPr marL="177800" indent="-177800">
              <a:spcAft>
                <a:spcPts val="1200"/>
              </a:spcAft>
              <a:buSzPct val="100000"/>
              <a:buChar char="•"/>
            </a:pPr>
            <a:r>
              <a:rPr lang="en-US" sz="1450" dirty="0">
                <a:solidFill>
                  <a:srgbClr val="1F1A1B"/>
                </a:solidFill>
                <a:latin typeface="Montserrat" pitchFamily="34" charset="0"/>
                <a:ea typeface="Montserrat" pitchFamily="34" charset="-122"/>
                <a:cs typeface="Montserrat" pitchFamily="34" charset="-120"/>
              </a:rPr>
              <a:t>Enable QoS on the </a:t>
            </a:r>
            <a:r>
              <a:rPr lang="en-US" sz="1450" b="1" dirty="0">
                <a:solidFill>
                  <a:srgbClr val="7A0019"/>
                </a:solidFill>
                <a:latin typeface="Montserrat" pitchFamily="34" charset="0"/>
                <a:ea typeface="Montserrat" pitchFamily="34" charset="-122"/>
                <a:cs typeface="Montserrat" pitchFamily="34" charset="-120"/>
              </a:rPr>
              <a:t>egress interface</a:t>
            </a:r>
            <a:r>
              <a:rPr lang="en-US" sz="1450" dirty="0">
                <a:solidFill>
                  <a:srgbClr val="1F1A1B"/>
                </a:solidFill>
                <a:latin typeface="Montserrat" pitchFamily="34" charset="0"/>
                <a:ea typeface="Montserrat" pitchFamily="34" charset="-122"/>
                <a:cs typeface="Montserrat" pitchFamily="34" charset="-120"/>
              </a:rPr>
              <a:t> at </a:t>
            </a:r>
            <a:r>
              <a:rPr lang="en-US" sz="1450" dirty="0">
                <a:solidFill>
                  <a:srgbClr val="5E0013"/>
                </a:solidFill>
                <a:latin typeface="Courier New" pitchFamily="34" charset="0"/>
                <a:ea typeface="Courier New" pitchFamily="34" charset="-122"/>
                <a:cs typeface="Courier New" pitchFamily="34" charset="-120"/>
              </a:rPr>
              <a:t>Network &gt; QoS</a:t>
            </a:r>
            <a:r>
              <a:rPr lang="en-US" sz="1450" dirty="0">
                <a:solidFill>
                  <a:srgbClr val="1F1A1B"/>
                </a:solidFill>
                <a:latin typeface="Montserrat" pitchFamily="34" charset="0"/>
                <a:ea typeface="Montserrat" pitchFamily="34" charset="-122"/>
                <a:cs typeface="Montserrat" pitchFamily="34" charset="-120"/>
              </a:rPr>
              <a:t>.</a:t>
            </a:r>
            <a:endParaRPr lang="en-US" sz="1450" dirty="0"/>
          </a:p>
        </p:txBody>
      </p:sp>
      <p:sp>
        <p:nvSpPr>
          <p:cNvPr id="9" name="Shape 6"/>
          <p:cNvSpPr/>
          <p:nvPr/>
        </p:nvSpPr>
        <p:spPr>
          <a:xfrm>
            <a:off x="7589520" y="1554480"/>
            <a:ext cx="4069080" cy="3017520"/>
          </a:xfrm>
          <a:prstGeom prst="roundRect">
            <a:avLst>
              <a:gd name="adj" fmla="val 606"/>
            </a:avLst>
          </a:prstGeom>
          <a:solidFill>
            <a:srgbClr val="FBF1F3"/>
          </a:solidFill>
          <a:ln/>
          <a:effectLst>
            <a:outerShdw blurRad="88900" dist="38100" dir="5400000" algn="bl" rotWithShape="0">
              <a:srgbClr val="000000">
                <a:alpha val="15000"/>
              </a:srgbClr>
            </a:outerShdw>
          </a:effectLst>
        </p:spPr>
        <p:txBody>
          <a:bodyPr/>
          <a:lstStyle/>
          <a:p>
            <a:endParaRPr lang="en-US"/>
          </a:p>
        </p:txBody>
      </p:sp>
      <p:sp>
        <p:nvSpPr>
          <p:cNvPr id="10" name="Shape 7"/>
          <p:cNvSpPr/>
          <p:nvPr/>
        </p:nvSpPr>
        <p:spPr>
          <a:xfrm>
            <a:off x="7909560" y="1828800"/>
            <a:ext cx="640080" cy="640080"/>
          </a:xfrm>
          <a:prstGeom prst="ellipse">
            <a:avLst/>
          </a:prstGeom>
          <a:solidFill>
            <a:srgbClr val="7A0019"/>
          </a:solidFill>
          <a:ln/>
        </p:spPr>
        <p:txBody>
          <a:bodyPr/>
          <a:lstStyle/>
          <a:p>
            <a:endParaRPr lang="en-US"/>
          </a:p>
        </p:txBody>
      </p:sp>
      <p:pic>
        <p:nvPicPr>
          <p:cNvPr id="11" name="Image 0" descr="Example icon"/>
          <p:cNvPicPr>
            <a:picLocks noChangeAspect="1"/>
          </p:cNvPicPr>
          <p:nvPr/>
        </p:nvPicPr>
        <p:blipFill>
          <a:blip r:embed="rId3"/>
          <a:stretch>
            <a:fillRect/>
          </a:stretch>
        </p:blipFill>
        <p:spPr>
          <a:xfrm>
            <a:off x="8065008" y="1984248"/>
            <a:ext cx="329184" cy="329184"/>
          </a:xfrm>
          <a:prstGeom prst="rect">
            <a:avLst/>
          </a:prstGeom>
        </p:spPr>
      </p:pic>
      <p:sp>
        <p:nvSpPr>
          <p:cNvPr id="12" name="Text 8"/>
          <p:cNvSpPr/>
          <p:nvPr/>
        </p:nvSpPr>
        <p:spPr>
          <a:xfrm>
            <a:off x="8686800" y="1874520"/>
            <a:ext cx="2743200" cy="548640"/>
          </a:xfrm>
          <a:prstGeom prst="rect">
            <a:avLst/>
          </a:prstGeom>
          <a:noFill/>
          <a:ln/>
        </p:spPr>
        <p:txBody>
          <a:bodyPr wrap="square" lIns="0" tIns="0" rIns="0" bIns="0" rtlCol="0" anchor="t"/>
          <a:lstStyle/>
          <a:p>
            <a:pPr marL="0" indent="0">
              <a:buNone/>
            </a:pPr>
            <a:r>
              <a:rPr lang="en-US" sz="1350" b="1" dirty="0">
                <a:solidFill>
                  <a:srgbClr val="7A0019"/>
                </a:solidFill>
                <a:latin typeface="Poppins" pitchFamily="34" charset="0"/>
                <a:ea typeface="Poppins" pitchFamily="34" charset="-122"/>
                <a:cs typeface="Poppins" pitchFamily="34" charset="-120"/>
              </a:rPr>
              <a:t>Example</a:t>
            </a:r>
            <a:endParaRPr lang="en-US" sz="1350" dirty="0"/>
          </a:p>
        </p:txBody>
      </p:sp>
      <p:sp>
        <p:nvSpPr>
          <p:cNvPr id="13" name="Text 9"/>
          <p:cNvSpPr/>
          <p:nvPr/>
        </p:nvSpPr>
        <p:spPr>
          <a:xfrm>
            <a:off x="7818120" y="2697480"/>
            <a:ext cx="3611880" cy="1600200"/>
          </a:xfrm>
          <a:prstGeom prst="rect">
            <a:avLst/>
          </a:prstGeom>
          <a:noFill/>
          <a:ln/>
        </p:spPr>
        <p:txBody>
          <a:bodyPr wrap="square" lIns="0" tIns="0" rIns="0" bIns="0" rtlCol="0" anchor="t"/>
          <a:lstStyle/>
          <a:p>
            <a:pPr marL="0" indent="0">
              <a:spcAft>
                <a:spcPts val="800"/>
              </a:spcAft>
              <a:buNone/>
            </a:pPr>
            <a:r>
              <a:rPr lang="en-US" sz="1300" dirty="0">
                <a:solidFill>
                  <a:srgbClr val="1F1A1B"/>
                </a:solidFill>
                <a:latin typeface="Montserrat" pitchFamily="34" charset="0"/>
                <a:ea typeface="Montserrat" pitchFamily="34" charset="-122"/>
                <a:cs typeface="Montserrat" pitchFamily="34" charset="-120"/>
              </a:rPr>
              <a:t>Match </a:t>
            </a:r>
            <a:r>
              <a:rPr lang="en-US" sz="1300" dirty="0">
                <a:solidFill>
                  <a:srgbClr val="5E0013"/>
                </a:solidFill>
                <a:latin typeface="Courier New" pitchFamily="34" charset="0"/>
                <a:ea typeface="Courier New" pitchFamily="34" charset="-122"/>
                <a:cs typeface="Courier New" pitchFamily="34" charset="-120"/>
              </a:rPr>
              <a:t>streaming-media</a:t>
            </a:r>
            <a:endParaRPr lang="en-US" sz="1300" dirty="0"/>
          </a:p>
          <a:p>
            <a:pPr marL="0" indent="0">
              <a:spcAft>
                <a:spcPts val="800"/>
              </a:spcAft>
              <a:buNone/>
            </a:pPr>
            <a:r>
              <a:rPr lang="en-US" sz="1300" dirty="0">
                <a:solidFill>
                  <a:srgbClr val="1F1A1B"/>
                </a:solidFill>
                <a:latin typeface="Montserrat" pitchFamily="34" charset="0"/>
                <a:ea typeface="Montserrat" pitchFamily="34" charset="-122"/>
                <a:cs typeface="Montserrat" pitchFamily="34" charset="-120"/>
              </a:rPr>
              <a:t>Assign class 8</a:t>
            </a:r>
            <a:endParaRPr lang="en-US" sz="1300" dirty="0"/>
          </a:p>
          <a:p>
            <a:pPr marL="0" indent="0">
              <a:spcAft>
                <a:spcPts val="800"/>
              </a:spcAft>
              <a:buNone/>
            </a:pPr>
            <a:r>
              <a:rPr lang="en-US" sz="1300" dirty="0">
                <a:solidFill>
                  <a:srgbClr val="1F1A1B"/>
                </a:solidFill>
                <a:latin typeface="Montserrat" pitchFamily="34" charset="0"/>
                <a:ea typeface="Montserrat" pitchFamily="34" charset="-122"/>
                <a:cs typeface="Montserrat" pitchFamily="34" charset="-120"/>
              </a:rPr>
              <a:t>Class 8 max egress: 20 Mbps</a:t>
            </a:r>
            <a:endParaRPr lang="en-US" sz="1300" dirty="0"/>
          </a:p>
          <a:p>
            <a:pPr marL="0" indent="0">
              <a:spcAft>
                <a:spcPts val="800"/>
              </a:spcAft>
              <a:buNone/>
            </a:pPr>
            <a:r>
              <a:rPr lang="en-US" sz="1300" dirty="0">
                <a:solidFill>
                  <a:srgbClr val="1F1A1B"/>
                </a:solidFill>
                <a:latin typeface="Montserrat" pitchFamily="34" charset="0"/>
                <a:ea typeface="Montserrat" pitchFamily="34" charset="-122"/>
                <a:cs typeface="Montserrat" pitchFamily="34" charset="-120"/>
              </a:rPr>
              <a:t>Business traffic keeps the rest</a:t>
            </a:r>
            <a:endParaRPr lang="en-US" sz="1300" dirty="0"/>
          </a:p>
        </p:txBody>
      </p:sp>
      <p:sp>
        <p:nvSpPr>
          <p:cNvPr id="14" name="Shape 10"/>
          <p:cNvSpPr/>
          <p:nvPr/>
        </p:nvSpPr>
        <p:spPr>
          <a:xfrm>
            <a:off x="548640" y="4800600"/>
            <a:ext cx="11109960" cy="822960"/>
          </a:xfrm>
          <a:prstGeom prst="roundRect">
            <a:avLst>
              <a:gd name="adj" fmla="val 2222"/>
            </a:avLst>
          </a:prstGeom>
          <a:solidFill>
            <a:srgbClr val="FEF6E3"/>
          </a:solidFill>
          <a:ln/>
          <a:effectLst>
            <a:outerShdw blurRad="88900" dist="38100" dir="5400000" algn="bl" rotWithShape="0">
              <a:srgbClr val="000000">
                <a:alpha val="15000"/>
              </a:srgbClr>
            </a:outerShdw>
          </a:effectLst>
        </p:spPr>
        <p:txBody>
          <a:bodyPr/>
          <a:lstStyle/>
          <a:p>
            <a:endParaRPr lang="en-US"/>
          </a:p>
        </p:txBody>
      </p:sp>
      <p:sp>
        <p:nvSpPr>
          <p:cNvPr id="15" name="Text 11"/>
          <p:cNvSpPr/>
          <p:nvPr/>
        </p:nvSpPr>
        <p:spPr>
          <a:xfrm>
            <a:off x="777240" y="4800600"/>
            <a:ext cx="10698480" cy="822960"/>
          </a:xfrm>
          <a:prstGeom prst="rect">
            <a:avLst/>
          </a:prstGeom>
          <a:noFill/>
          <a:ln/>
        </p:spPr>
        <p:txBody>
          <a:bodyPr wrap="square" lIns="0" tIns="0" rIns="0" bIns="0" rtlCol="0" anchor="ctr"/>
          <a:lstStyle/>
          <a:p>
            <a:pPr marL="0" indent="0">
              <a:buNone/>
            </a:pPr>
            <a:r>
              <a:rPr lang="en-US" sz="1350" b="1" dirty="0">
                <a:solidFill>
                  <a:srgbClr val="7A0019"/>
                </a:solidFill>
                <a:latin typeface="Montserrat" pitchFamily="34" charset="0"/>
                <a:ea typeface="Montserrat" pitchFamily="34" charset="-122"/>
                <a:cs typeface="Montserrat" pitchFamily="34" charset="-120"/>
              </a:rPr>
              <a:t>Policies &gt; QoS:  </a:t>
            </a:r>
            <a:r>
              <a:rPr lang="en-US" sz="1350" dirty="0">
                <a:solidFill>
                  <a:srgbClr val="1F1A1B"/>
                </a:solidFill>
                <a:latin typeface="Montserrat" pitchFamily="34" charset="0"/>
                <a:ea typeface="Montserrat" pitchFamily="34" charset="-122"/>
                <a:cs typeface="Montserrat" pitchFamily="34" charset="-120"/>
              </a:rPr>
              <a:t>QoS rules have their own rulebase and order. A Security rule alone never limits bandwidth.</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868680" y="2148840"/>
            <a:ext cx="5486400" cy="365760"/>
          </a:xfrm>
          <a:prstGeom prst="rect">
            <a:avLst/>
          </a:prstGeom>
          <a:noFill/>
          <a:ln/>
        </p:spPr>
        <p:txBody>
          <a:bodyPr wrap="square" lIns="0" tIns="0" rIns="0" bIns="0" rtlCol="0" anchor="ctr"/>
          <a:lstStyle/>
          <a:p>
            <a:pPr marL="0" indent="0">
              <a:buNone/>
            </a:pPr>
            <a:r>
              <a:rPr lang="en-US" sz="1600" b="1" kern="0" spc="300" dirty="0">
                <a:solidFill>
                  <a:srgbClr val="FDB71A"/>
                </a:solidFill>
                <a:latin typeface="Poppins" pitchFamily="34" charset="0"/>
                <a:ea typeface="Poppins" pitchFamily="34" charset="-122"/>
                <a:cs typeface="Poppins" pitchFamily="34" charset="-120"/>
              </a:rPr>
              <a:t>LESSON 4</a:t>
            </a:r>
            <a:endParaRPr lang="en-US" sz="1600" dirty="0"/>
          </a:p>
        </p:txBody>
      </p:sp>
      <p:sp>
        <p:nvSpPr>
          <p:cNvPr id="3" name="Text 0"/>
          <p:cNvSpPr>
            <a:spLocks noGrp="1"/>
          </p:cNvSpPr>
          <p:nvPr>
            <p:ph type="title" idx="100" hasCustomPrompt="1"/>
          </p:nvPr>
        </p:nvSpPr>
        <p:spPr>
          <a:xfrm>
            <a:off x="822960" y="2743200"/>
            <a:ext cx="8778240" cy="1371600"/>
          </a:xfrm>
          <a:prstGeom prst="rect">
            <a:avLst/>
          </a:prstGeom>
          <a:noFill/>
          <a:ln/>
        </p:spPr>
        <p:txBody>
          <a:bodyPr wrap="square" rtlCol="0"/>
          <a:lstStyle/>
          <a:p>
            <a:pPr marL="0" indent="0" algn="l">
              <a:buNone/>
            </a:pPr>
            <a:r>
              <a:rPr lang="en-US" sz="3800" b="1" dirty="0">
                <a:solidFill>
                  <a:srgbClr val="FFFFFF"/>
                </a:solidFill>
                <a:latin typeface="Poppins" pitchFamily="34" charset="0"/>
                <a:ea typeface="Poppins" pitchFamily="34" charset="-122"/>
                <a:cs typeface="Poppins" pitchFamily="34" charset="-120"/>
              </a:rPr>
              <a:t>Applying a DNS Filter</a:t>
            </a:r>
            <a:endParaRPr lang="en-US" sz="3800" dirty="0"/>
          </a:p>
        </p:txBody>
      </p:sp>
      <p:sp>
        <p:nvSpPr>
          <p:cNvPr id="4" name="Shape 2"/>
          <p:cNvSpPr/>
          <p:nvPr/>
        </p:nvSpPr>
        <p:spPr>
          <a:xfrm>
            <a:off x="868680" y="4069080"/>
            <a:ext cx="1463040" cy="54864"/>
          </a:xfrm>
          <a:prstGeom prst="rect">
            <a:avLst/>
          </a:prstGeom>
          <a:solidFill>
            <a:srgbClr val="FDB71A"/>
          </a:solidFill>
          <a:ln/>
        </p:spPr>
        <p:txBody>
          <a:bodyPr/>
          <a:lstStyle/>
          <a:p>
            <a:endParaRPr lang="en-US"/>
          </a:p>
        </p:txBody>
      </p:sp>
      <p:sp>
        <p:nvSpPr>
          <p:cNvPr id="5" name="Shape 3"/>
          <p:cNvSpPr/>
          <p:nvPr/>
        </p:nvSpPr>
        <p:spPr>
          <a:xfrm>
            <a:off x="9784080" y="960120"/>
            <a:ext cx="1554480" cy="1554480"/>
          </a:xfrm>
          <a:prstGeom prst="ellipse">
            <a:avLst/>
          </a:prstGeom>
          <a:solidFill>
            <a:srgbClr val="FDB71A"/>
          </a:solidFill>
          <a:ln/>
        </p:spPr>
        <p:txBody>
          <a:bodyPr/>
          <a:lstStyle/>
          <a:p>
            <a:endParaRPr lang="en-US"/>
          </a:p>
        </p:txBody>
      </p:sp>
      <p:pic>
        <p:nvPicPr>
          <p:cNvPr id="6" name="Image 0" descr="Applying a DNS Filter lesson icon"/>
          <p:cNvPicPr>
            <a:picLocks noChangeAspect="1"/>
          </p:cNvPicPr>
          <p:nvPr/>
        </p:nvPicPr>
        <p:blipFill>
          <a:blip r:embed="rId3"/>
          <a:stretch>
            <a:fillRect/>
          </a:stretch>
        </p:blipFill>
        <p:spPr>
          <a:xfrm>
            <a:off x="10158984" y="1335024"/>
            <a:ext cx="804672" cy="804672"/>
          </a:xfrm>
          <a:prstGeom prst="rect">
            <a:avLst/>
          </a:prstGeom>
        </p:spPr>
      </p:pic>
      <p:sp>
        <p:nvSpPr>
          <p:cNvPr id="7" name="Text 4"/>
          <p:cNvSpPr/>
          <p:nvPr/>
        </p:nvSpPr>
        <p:spPr>
          <a:xfrm>
            <a:off x="868680" y="6309360"/>
            <a:ext cx="8229600" cy="274320"/>
          </a:xfrm>
          <a:prstGeom prst="rect">
            <a:avLst/>
          </a:prstGeom>
          <a:noFill/>
          <a:ln/>
        </p:spPr>
        <p:txBody>
          <a:bodyPr wrap="square" lIns="0" tIns="0" rIns="0" bIns="0" rtlCol="0" anchor="ctr"/>
          <a:lstStyle/>
          <a:p>
            <a:pPr marL="0" indent="0">
              <a:buNone/>
            </a:pPr>
            <a:r>
              <a:rPr lang="en-US" sz="1000" dirty="0">
                <a:solidFill>
                  <a:srgbClr val="F3E7EA"/>
                </a:solidFill>
                <a:latin typeface="Montserrat" pitchFamily="34" charset="0"/>
                <a:ea typeface="Montserrat" pitchFamily="34" charset="-122"/>
                <a:cs typeface="Montserrat" pitchFamily="34" charset="-120"/>
              </a:rPr>
              <a:t>Information Security 2 · Unit 10 · Web Content Filtering</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65760"/>
            <a:ext cx="11155680" cy="658368"/>
          </a:xfrm>
          <a:prstGeom prst="rect">
            <a:avLst/>
          </a:prstGeom>
          <a:noFill/>
          <a:ln/>
        </p:spPr>
        <p:txBody>
          <a:bodyPr wrap="square" rtlCol="0"/>
          <a:lstStyle/>
          <a:p>
            <a:pPr marL="0" indent="0" algn="l">
              <a:buNone/>
            </a:pPr>
            <a:r>
              <a:rPr lang="en-US" sz="2500" b="1" dirty="0">
                <a:solidFill>
                  <a:srgbClr val="7A0019"/>
                </a:solidFill>
                <a:latin typeface="Poppins" pitchFamily="34" charset="0"/>
                <a:ea typeface="Poppins" pitchFamily="34" charset="-122"/>
                <a:cs typeface="Poppins" pitchFamily="34" charset="-120"/>
              </a:rPr>
              <a:t>Why Filter at the DNS Layer?</a:t>
            </a:r>
            <a:endParaRPr lang="en-US" sz="2500" dirty="0"/>
          </a:p>
        </p:txBody>
      </p:sp>
      <p:sp>
        <p:nvSpPr>
          <p:cNvPr id="3" name="Shape 1"/>
          <p:cNvSpPr/>
          <p:nvPr/>
        </p:nvSpPr>
        <p:spPr>
          <a:xfrm>
            <a:off x="521208" y="1042416"/>
            <a:ext cx="914400" cy="54864"/>
          </a:xfrm>
          <a:prstGeom prst="rect">
            <a:avLst/>
          </a:prstGeom>
          <a:solidFill>
            <a:srgbClr val="FDB71A"/>
          </a:solidFill>
          <a:ln/>
        </p:spPr>
        <p:txBody>
          <a:bodyPr/>
          <a:lstStyle/>
          <a:p>
            <a:endParaRPr lang="en-US"/>
          </a:p>
        </p:txBody>
      </p:sp>
      <p:sp>
        <p:nvSpPr>
          <p:cNvPr id="4" name="Text 2"/>
          <p:cNvSpPr/>
          <p:nvPr/>
        </p:nvSpPr>
        <p:spPr>
          <a:xfrm>
            <a:off x="502920" y="6437376"/>
            <a:ext cx="8229600" cy="274320"/>
          </a:xfrm>
          <a:prstGeom prst="rect">
            <a:avLst/>
          </a:prstGeom>
          <a:noFill/>
          <a:ln/>
        </p:spPr>
        <p:txBody>
          <a:bodyPr wrap="square" lIns="0" tIns="0" rIns="0" bIns="0" rtlCol="0" anchor="ctr"/>
          <a:lstStyle/>
          <a:p>
            <a:pPr marL="0" indent="0">
              <a:buNone/>
            </a:pPr>
            <a:r>
              <a:rPr lang="en-US" sz="900" dirty="0">
                <a:solidFill>
                  <a:srgbClr val="5A5A5A"/>
                </a:solidFill>
                <a:latin typeface="Montserrat" pitchFamily="34" charset="0"/>
                <a:ea typeface="Montserrat" pitchFamily="34" charset="-122"/>
                <a:cs typeface="Montserrat" pitchFamily="34" charset="-120"/>
              </a:rPr>
              <a:t>Information Security 2 · Unit 10 · Web Content Filtering</a:t>
            </a:r>
            <a:endParaRPr lang="en-US" sz="900" dirty="0"/>
          </a:p>
        </p:txBody>
      </p:sp>
      <p:sp>
        <p:nvSpPr>
          <p:cNvPr id="5" name="Text 3"/>
          <p:cNvSpPr/>
          <p:nvPr/>
        </p:nvSpPr>
        <p:spPr>
          <a:xfrm>
            <a:off x="11247120" y="6437376"/>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Montserrat" pitchFamily="34" charset="0"/>
                <a:ea typeface="Montserrat" pitchFamily="34" charset="-122"/>
                <a:cs typeface="Montserrat" pitchFamily="34" charset="-120"/>
              </a:rPr>
              <a:t>22</a:t>
            </a:r>
            <a:endParaRPr lang="en-US" sz="900" dirty="0"/>
          </a:p>
        </p:txBody>
      </p:sp>
      <p:sp>
        <p:nvSpPr>
          <p:cNvPr id="7" name="Text 4"/>
          <p:cNvSpPr/>
          <p:nvPr/>
        </p:nvSpPr>
        <p:spPr>
          <a:xfrm>
            <a:off x="548640" y="1371600"/>
            <a:ext cx="10972800" cy="365760"/>
          </a:xfrm>
          <a:prstGeom prst="rect">
            <a:avLst/>
          </a:prstGeom>
          <a:noFill/>
          <a:ln/>
        </p:spPr>
        <p:txBody>
          <a:bodyPr wrap="square" lIns="0" tIns="0" rIns="0" bIns="0" rtlCol="0" anchor="t"/>
          <a:lstStyle/>
          <a:p>
            <a:pPr marL="0" indent="0">
              <a:buNone/>
            </a:pPr>
            <a:r>
              <a:rPr lang="en-US" sz="1400" dirty="0">
                <a:solidFill>
                  <a:srgbClr val="5A5A5A"/>
                </a:solidFill>
                <a:latin typeface="Montserrat" pitchFamily="34" charset="0"/>
                <a:ea typeface="Montserrat" pitchFamily="34" charset="-122"/>
                <a:cs typeface="Montserrat" pitchFamily="34" charset="-120"/>
              </a:rPr>
              <a:t>Every connection starts with a name lookup, so DNS is the earliest place to stop it.</a:t>
            </a:r>
            <a:endParaRPr lang="en-US" sz="1400" dirty="0"/>
          </a:p>
        </p:txBody>
      </p:sp>
      <p:sp>
        <p:nvSpPr>
          <p:cNvPr id="8" name="Text 5"/>
          <p:cNvSpPr/>
          <p:nvPr/>
        </p:nvSpPr>
        <p:spPr>
          <a:xfrm>
            <a:off x="548640" y="1828800"/>
            <a:ext cx="6766560" cy="3291840"/>
          </a:xfrm>
          <a:prstGeom prst="rect">
            <a:avLst/>
          </a:prstGeom>
          <a:noFill/>
          <a:ln/>
        </p:spPr>
        <p:txBody>
          <a:bodyPr wrap="square" lIns="0" tIns="0" rIns="0" bIns="0" rtlCol="0" anchor="t"/>
          <a:lstStyle/>
          <a:p>
            <a:pPr marL="177800" indent="-177800">
              <a:spcAft>
                <a:spcPts val="1200"/>
              </a:spcAft>
              <a:buSzPct val="100000"/>
              <a:buChar char="•"/>
            </a:pPr>
            <a:r>
              <a:rPr lang="en-US" sz="1450" dirty="0">
                <a:solidFill>
                  <a:srgbClr val="1F1A1B"/>
                </a:solidFill>
                <a:latin typeface="Montserrat" pitchFamily="34" charset="0"/>
                <a:ea typeface="Montserrat" pitchFamily="34" charset="-122"/>
                <a:cs typeface="Montserrat" pitchFamily="34" charset="-120"/>
              </a:rPr>
              <a:t>URL filtering sees </a:t>
            </a:r>
            <a:r>
              <a:rPr lang="en-US" sz="1450" b="1" dirty="0">
                <a:solidFill>
                  <a:srgbClr val="7A0019"/>
                </a:solidFill>
                <a:latin typeface="Montserrat" pitchFamily="34" charset="0"/>
                <a:ea typeface="Montserrat" pitchFamily="34" charset="-122"/>
                <a:cs typeface="Montserrat" pitchFamily="34" charset="-120"/>
              </a:rPr>
              <a:t>web requests</a:t>
            </a:r>
            <a:r>
              <a:rPr lang="en-US" sz="1450" dirty="0">
                <a:solidFill>
                  <a:srgbClr val="1F1A1B"/>
                </a:solidFill>
                <a:latin typeface="Montserrat" pitchFamily="34" charset="0"/>
                <a:ea typeface="Montserrat" pitchFamily="34" charset="-122"/>
                <a:cs typeface="Montserrat" pitchFamily="34" charset="-120"/>
              </a:rPr>
              <a:t> only. DNS filtering sees lookups for </a:t>
            </a:r>
            <a:r>
              <a:rPr lang="en-US" sz="1450" b="1" dirty="0">
                <a:solidFill>
                  <a:srgbClr val="7A0019"/>
                </a:solidFill>
                <a:latin typeface="Montserrat" pitchFamily="34" charset="0"/>
                <a:ea typeface="Montserrat" pitchFamily="34" charset="-122"/>
                <a:cs typeface="Montserrat" pitchFamily="34" charset="-120"/>
              </a:rPr>
              <a:t>any</a:t>
            </a:r>
            <a:r>
              <a:rPr lang="en-US" sz="1450" dirty="0">
                <a:solidFill>
                  <a:srgbClr val="1F1A1B"/>
                </a:solidFill>
                <a:latin typeface="Montserrat" pitchFamily="34" charset="0"/>
                <a:ea typeface="Montserrat" pitchFamily="34" charset="-122"/>
                <a:cs typeface="Montserrat" pitchFamily="34" charset="-120"/>
              </a:rPr>
              <a:t> protocol.</a:t>
            </a:r>
            <a:endParaRPr lang="en-US" sz="1450" dirty="0"/>
          </a:p>
          <a:p>
            <a:pPr marL="177800" indent="-177800">
              <a:spcAft>
                <a:spcPts val="1200"/>
              </a:spcAft>
              <a:buSzPct val="100000"/>
              <a:buChar char="•"/>
            </a:pPr>
            <a:r>
              <a:rPr lang="en-US" sz="1450" dirty="0">
                <a:solidFill>
                  <a:srgbClr val="1F1A1B"/>
                </a:solidFill>
                <a:latin typeface="Montserrat" pitchFamily="34" charset="0"/>
                <a:ea typeface="Montserrat" pitchFamily="34" charset="-122"/>
                <a:cs typeface="Montserrat" pitchFamily="34" charset="-120"/>
              </a:rPr>
              <a:t>Catches malware </a:t>
            </a:r>
            <a:r>
              <a:rPr lang="en-US" sz="1450" b="1" dirty="0">
                <a:solidFill>
                  <a:srgbClr val="7A0019"/>
                </a:solidFill>
                <a:latin typeface="Montserrat" pitchFamily="34" charset="0"/>
                <a:ea typeface="Montserrat" pitchFamily="34" charset="-122"/>
                <a:cs typeface="Montserrat" pitchFamily="34" charset="-120"/>
              </a:rPr>
              <a:t>command-and-control</a:t>
            </a:r>
            <a:r>
              <a:rPr lang="en-US" sz="1450" dirty="0">
                <a:solidFill>
                  <a:srgbClr val="1F1A1B"/>
                </a:solidFill>
                <a:latin typeface="Montserrat" pitchFamily="34" charset="0"/>
                <a:ea typeface="Montserrat" pitchFamily="34" charset="-122"/>
                <a:cs typeface="Montserrat" pitchFamily="34" charset="-120"/>
              </a:rPr>
              <a:t>, algorithm-generated domains (</a:t>
            </a:r>
            <a:r>
              <a:rPr lang="en-US" sz="1450" b="1" dirty="0">
                <a:solidFill>
                  <a:srgbClr val="7A0019"/>
                </a:solidFill>
                <a:latin typeface="Montserrat" pitchFamily="34" charset="0"/>
                <a:ea typeface="Montserrat" pitchFamily="34" charset="-122"/>
                <a:cs typeface="Montserrat" pitchFamily="34" charset="-120"/>
              </a:rPr>
              <a:t>DGA</a:t>
            </a:r>
            <a:r>
              <a:rPr lang="en-US" sz="1450" dirty="0">
                <a:solidFill>
                  <a:srgbClr val="1F1A1B"/>
                </a:solidFill>
                <a:latin typeface="Montserrat" pitchFamily="34" charset="0"/>
                <a:ea typeface="Montserrat" pitchFamily="34" charset="-122"/>
                <a:cs typeface="Montserrat" pitchFamily="34" charset="-120"/>
              </a:rPr>
              <a:t>), and </a:t>
            </a:r>
            <a:r>
              <a:rPr lang="en-US" sz="1450" b="1" dirty="0">
                <a:solidFill>
                  <a:srgbClr val="7A0019"/>
                </a:solidFill>
                <a:latin typeface="Montserrat" pitchFamily="34" charset="0"/>
                <a:ea typeface="Montserrat" pitchFamily="34" charset="-122"/>
                <a:cs typeface="Montserrat" pitchFamily="34" charset="-120"/>
              </a:rPr>
              <a:t>DNS tunneling</a:t>
            </a:r>
            <a:r>
              <a:rPr lang="en-US" sz="1450" dirty="0">
                <a:solidFill>
                  <a:srgbClr val="1F1A1B"/>
                </a:solidFill>
                <a:latin typeface="Montserrat" pitchFamily="34" charset="0"/>
                <a:ea typeface="Montserrat" pitchFamily="34" charset="-122"/>
                <a:cs typeface="Montserrat" pitchFamily="34" charset="-120"/>
              </a:rPr>
              <a:t>.</a:t>
            </a:r>
            <a:endParaRPr lang="en-US" sz="1450" dirty="0"/>
          </a:p>
          <a:p>
            <a:pPr marL="177800" indent="-177800">
              <a:spcAft>
                <a:spcPts val="1200"/>
              </a:spcAft>
              <a:buSzPct val="100000"/>
              <a:buChar char="•"/>
            </a:pPr>
            <a:r>
              <a:rPr lang="en-US" sz="1450" dirty="0">
                <a:solidFill>
                  <a:srgbClr val="1F1A1B"/>
                </a:solidFill>
                <a:latin typeface="Montserrat" pitchFamily="34" charset="0"/>
                <a:ea typeface="Montserrat" pitchFamily="34" charset="-122"/>
                <a:cs typeface="Montserrat" pitchFamily="34" charset="-120"/>
              </a:rPr>
              <a:t>A </a:t>
            </a:r>
            <a:r>
              <a:rPr lang="en-US" sz="1450" b="1" dirty="0">
                <a:solidFill>
                  <a:srgbClr val="7A0019"/>
                </a:solidFill>
                <a:latin typeface="Montserrat" pitchFamily="34" charset="0"/>
                <a:ea typeface="Montserrat" pitchFamily="34" charset="-122"/>
                <a:cs typeface="Montserrat" pitchFamily="34" charset="-120"/>
              </a:rPr>
              <a:t>sinkhole</a:t>
            </a:r>
            <a:r>
              <a:rPr lang="en-US" sz="1450" dirty="0">
                <a:solidFill>
                  <a:srgbClr val="1F1A1B"/>
                </a:solidFill>
                <a:latin typeface="Montserrat" pitchFamily="34" charset="0"/>
                <a:ea typeface="Montserrat" pitchFamily="34" charset="-122"/>
                <a:cs typeface="Montserrat" pitchFamily="34" charset="-120"/>
              </a:rPr>
              <a:t> answers the lookup with a fake IP, so the infected host shows up in the Traffic log.</a:t>
            </a:r>
            <a:endParaRPr lang="en-US" sz="1450" dirty="0"/>
          </a:p>
        </p:txBody>
      </p:sp>
      <p:sp>
        <p:nvSpPr>
          <p:cNvPr id="9" name="Shape 6"/>
          <p:cNvSpPr/>
          <p:nvPr/>
        </p:nvSpPr>
        <p:spPr>
          <a:xfrm>
            <a:off x="7589520" y="1554480"/>
            <a:ext cx="4114800" cy="3657600"/>
          </a:xfrm>
          <a:prstGeom prst="roundRect">
            <a:avLst>
              <a:gd name="adj" fmla="val 500"/>
            </a:avLst>
          </a:prstGeom>
          <a:solidFill>
            <a:srgbClr val="FEF6E3"/>
          </a:solidFill>
          <a:ln/>
          <a:effectLst>
            <a:outerShdw blurRad="88900" dist="38100" dir="5400000" algn="bl" rotWithShape="0">
              <a:srgbClr val="000000">
                <a:alpha val="15000"/>
              </a:srgbClr>
            </a:outerShdw>
          </a:effectLst>
        </p:spPr>
        <p:txBody>
          <a:bodyPr/>
          <a:lstStyle/>
          <a:p>
            <a:endParaRPr lang="en-US"/>
          </a:p>
        </p:txBody>
      </p:sp>
      <p:sp>
        <p:nvSpPr>
          <p:cNvPr id="10" name="Shape 7"/>
          <p:cNvSpPr/>
          <p:nvPr/>
        </p:nvSpPr>
        <p:spPr>
          <a:xfrm>
            <a:off x="7882128" y="1828800"/>
            <a:ext cx="566928" cy="566928"/>
          </a:xfrm>
          <a:prstGeom prst="ellipse">
            <a:avLst/>
          </a:prstGeom>
          <a:solidFill>
            <a:srgbClr val="7A0019"/>
          </a:solidFill>
          <a:ln/>
        </p:spPr>
        <p:txBody>
          <a:bodyPr/>
          <a:lstStyle/>
          <a:p>
            <a:endParaRPr lang="en-US"/>
          </a:p>
        </p:txBody>
      </p:sp>
      <p:pic>
        <p:nvPicPr>
          <p:cNvPr id="11" name="Image 0" descr="Shield icon indicating a security note"/>
          <p:cNvPicPr>
            <a:picLocks noChangeAspect="1"/>
          </p:cNvPicPr>
          <p:nvPr/>
        </p:nvPicPr>
        <p:blipFill>
          <a:blip r:embed="rId3"/>
          <a:stretch>
            <a:fillRect/>
          </a:stretch>
        </p:blipFill>
        <p:spPr>
          <a:xfrm>
            <a:off x="8019288" y="1965960"/>
            <a:ext cx="292608" cy="292608"/>
          </a:xfrm>
          <a:prstGeom prst="rect">
            <a:avLst/>
          </a:prstGeom>
        </p:spPr>
      </p:pic>
      <p:sp>
        <p:nvSpPr>
          <p:cNvPr id="12" name="Text 8"/>
          <p:cNvSpPr/>
          <p:nvPr/>
        </p:nvSpPr>
        <p:spPr>
          <a:xfrm>
            <a:off x="8613648" y="1865376"/>
            <a:ext cx="2880360" cy="292608"/>
          </a:xfrm>
          <a:prstGeom prst="rect">
            <a:avLst/>
          </a:prstGeom>
          <a:noFill/>
          <a:ln/>
        </p:spPr>
        <p:txBody>
          <a:bodyPr wrap="square" lIns="0" tIns="0" rIns="0" bIns="0" rtlCol="0" anchor="ctr"/>
          <a:lstStyle/>
          <a:p>
            <a:pPr marL="0" indent="0">
              <a:buNone/>
            </a:pPr>
            <a:r>
              <a:rPr lang="en-US" sz="1200" b="1" kern="0" spc="100" dirty="0">
                <a:solidFill>
                  <a:srgbClr val="7A0019"/>
                </a:solidFill>
                <a:latin typeface="Poppins" pitchFamily="34" charset="0"/>
                <a:ea typeface="Poppins" pitchFamily="34" charset="-122"/>
                <a:cs typeface="Poppins" pitchFamily="34" charset="-120"/>
              </a:rPr>
              <a:t>SECURITY FOCUS</a:t>
            </a:r>
            <a:endParaRPr lang="en-US" sz="1200" dirty="0"/>
          </a:p>
        </p:txBody>
      </p:sp>
      <p:sp>
        <p:nvSpPr>
          <p:cNvPr id="13" name="Text 9"/>
          <p:cNvSpPr/>
          <p:nvPr/>
        </p:nvSpPr>
        <p:spPr>
          <a:xfrm>
            <a:off x="8613648" y="2267712"/>
            <a:ext cx="2788920" cy="1938528"/>
          </a:xfrm>
          <a:prstGeom prst="rect">
            <a:avLst/>
          </a:prstGeom>
          <a:noFill/>
          <a:ln/>
        </p:spPr>
        <p:txBody>
          <a:bodyPr wrap="square" lIns="0" tIns="0" rIns="0" bIns="0" rtlCol="0" anchor="t"/>
          <a:lstStyle/>
          <a:p>
            <a:pPr marL="0" indent="0">
              <a:spcAft>
                <a:spcPts val="800"/>
              </a:spcAft>
              <a:buNone/>
            </a:pPr>
            <a:r>
              <a:rPr lang="en-US" sz="1350" dirty="0">
                <a:solidFill>
                  <a:srgbClr val="1F1A1B"/>
                </a:solidFill>
                <a:latin typeface="Montserrat" pitchFamily="34" charset="0"/>
                <a:ea typeface="Montserrat" pitchFamily="34" charset="-122"/>
                <a:cs typeface="Montserrat" pitchFamily="34" charset="-120"/>
              </a:rPr>
              <a:t>A blocked web page tells you a user clicked something. A sinkholed lookup tells you a machine is already infected and which one.</a:t>
            </a:r>
            <a:endParaRPr lang="en-US" sz="1350" dirty="0"/>
          </a:p>
        </p:txBody>
      </p:sp>
      <p:sp>
        <p:nvSpPr>
          <p:cNvPr id="14" name="Text 10"/>
          <p:cNvSpPr/>
          <p:nvPr/>
        </p:nvSpPr>
        <p:spPr>
          <a:xfrm>
            <a:off x="8613648" y="4297680"/>
            <a:ext cx="2788920" cy="868680"/>
          </a:xfrm>
          <a:prstGeom prst="rect">
            <a:avLst/>
          </a:prstGeom>
          <a:noFill/>
          <a:ln/>
        </p:spPr>
        <p:txBody>
          <a:bodyPr wrap="square" lIns="0" tIns="0" rIns="0" bIns="0" rtlCol="0" anchor="t"/>
          <a:lstStyle/>
          <a:p>
            <a:pPr marL="0" indent="0">
              <a:buNone/>
            </a:pPr>
            <a:r>
              <a:rPr lang="en-US" sz="1250" b="1" dirty="0">
                <a:solidFill>
                  <a:srgbClr val="5E0013"/>
                </a:solidFill>
                <a:latin typeface="Montserrat" pitchFamily="34" charset="0"/>
                <a:ea typeface="Montserrat" pitchFamily="34" charset="-122"/>
                <a:cs typeface="Montserrat" pitchFamily="34" charset="-120"/>
              </a:rPr>
              <a:t>Why it matters: </a:t>
            </a:r>
            <a:r>
              <a:rPr lang="en-US" sz="1250" dirty="0">
                <a:solidFill>
                  <a:srgbClr val="5E0013"/>
                </a:solidFill>
                <a:latin typeface="Montserrat" pitchFamily="34" charset="0"/>
                <a:ea typeface="Montserrat" pitchFamily="34" charset="-122"/>
                <a:cs typeface="Montserrat" pitchFamily="34" charset="-120"/>
              </a:rPr>
              <a:t>You find compromised hosts before the attacker uses them to move laterally.</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65760"/>
            <a:ext cx="11155680" cy="658368"/>
          </a:xfrm>
          <a:prstGeom prst="rect">
            <a:avLst/>
          </a:prstGeom>
          <a:noFill/>
          <a:ln/>
        </p:spPr>
        <p:txBody>
          <a:bodyPr wrap="square" rtlCol="0"/>
          <a:lstStyle/>
          <a:p>
            <a:pPr marL="0" indent="0" algn="l">
              <a:buNone/>
            </a:pPr>
            <a:r>
              <a:rPr lang="en-US" sz="2500" b="1" dirty="0">
                <a:solidFill>
                  <a:srgbClr val="7A0019"/>
                </a:solidFill>
                <a:latin typeface="Poppins" pitchFamily="34" charset="0"/>
                <a:ea typeface="Poppins" pitchFamily="34" charset="-122"/>
                <a:cs typeface="Poppins" pitchFamily="34" charset="-120"/>
              </a:rPr>
              <a:t>DNS Security in the Anti-Spyware Profile</a:t>
            </a:r>
            <a:endParaRPr lang="en-US" sz="2500" dirty="0"/>
          </a:p>
        </p:txBody>
      </p:sp>
      <p:sp>
        <p:nvSpPr>
          <p:cNvPr id="3" name="Shape 1"/>
          <p:cNvSpPr/>
          <p:nvPr/>
        </p:nvSpPr>
        <p:spPr>
          <a:xfrm>
            <a:off x="521208" y="1042416"/>
            <a:ext cx="914400" cy="54864"/>
          </a:xfrm>
          <a:prstGeom prst="rect">
            <a:avLst/>
          </a:prstGeom>
          <a:solidFill>
            <a:srgbClr val="FDB71A"/>
          </a:solidFill>
          <a:ln/>
        </p:spPr>
        <p:txBody>
          <a:bodyPr/>
          <a:lstStyle/>
          <a:p>
            <a:endParaRPr lang="en-US"/>
          </a:p>
        </p:txBody>
      </p:sp>
      <p:sp>
        <p:nvSpPr>
          <p:cNvPr id="4" name="Text 2"/>
          <p:cNvSpPr/>
          <p:nvPr/>
        </p:nvSpPr>
        <p:spPr>
          <a:xfrm>
            <a:off x="502920" y="6437376"/>
            <a:ext cx="8229600" cy="274320"/>
          </a:xfrm>
          <a:prstGeom prst="rect">
            <a:avLst/>
          </a:prstGeom>
          <a:noFill/>
          <a:ln/>
        </p:spPr>
        <p:txBody>
          <a:bodyPr wrap="square" lIns="0" tIns="0" rIns="0" bIns="0" rtlCol="0" anchor="ctr"/>
          <a:lstStyle/>
          <a:p>
            <a:pPr marL="0" indent="0">
              <a:buNone/>
            </a:pPr>
            <a:r>
              <a:rPr lang="en-US" sz="900" dirty="0">
                <a:solidFill>
                  <a:srgbClr val="5A5A5A"/>
                </a:solidFill>
                <a:latin typeface="Montserrat" pitchFamily="34" charset="0"/>
                <a:ea typeface="Montserrat" pitchFamily="34" charset="-122"/>
                <a:cs typeface="Montserrat" pitchFamily="34" charset="-120"/>
              </a:rPr>
              <a:t>Information Security 2 · Unit 10 · Web Content Filtering</a:t>
            </a:r>
            <a:endParaRPr lang="en-US" sz="900" dirty="0"/>
          </a:p>
        </p:txBody>
      </p:sp>
      <p:sp>
        <p:nvSpPr>
          <p:cNvPr id="5" name="Text 3"/>
          <p:cNvSpPr/>
          <p:nvPr/>
        </p:nvSpPr>
        <p:spPr>
          <a:xfrm>
            <a:off x="11247120" y="6437376"/>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Montserrat" pitchFamily="34" charset="0"/>
                <a:ea typeface="Montserrat" pitchFamily="34" charset="-122"/>
                <a:cs typeface="Montserrat" pitchFamily="34" charset="-120"/>
              </a:rPr>
              <a:t>23</a:t>
            </a:r>
            <a:endParaRPr lang="en-US" sz="900" dirty="0"/>
          </a:p>
        </p:txBody>
      </p:sp>
      <p:sp>
        <p:nvSpPr>
          <p:cNvPr id="7" name="Text 4"/>
          <p:cNvSpPr/>
          <p:nvPr/>
        </p:nvSpPr>
        <p:spPr>
          <a:xfrm>
            <a:off x="548640" y="1371600"/>
            <a:ext cx="10972800" cy="365760"/>
          </a:xfrm>
          <a:prstGeom prst="rect">
            <a:avLst/>
          </a:prstGeom>
          <a:noFill/>
          <a:ln/>
        </p:spPr>
        <p:txBody>
          <a:bodyPr wrap="square" lIns="0" tIns="0" rIns="0" bIns="0" rtlCol="0" anchor="t"/>
          <a:lstStyle/>
          <a:p>
            <a:pPr marL="0" indent="0">
              <a:buNone/>
            </a:pPr>
            <a:r>
              <a:rPr lang="en-US" sz="1300" i="1" dirty="0">
                <a:solidFill>
                  <a:srgbClr val="5E0013"/>
                </a:solidFill>
                <a:latin typeface="Courier New" pitchFamily="34" charset="0"/>
                <a:ea typeface="Courier New" pitchFamily="34" charset="-122"/>
                <a:cs typeface="Courier New" pitchFamily="34" charset="-120"/>
              </a:rPr>
              <a:t>Objects &gt; Security Profiles &gt; Anti-Spyware &gt; DNS Policies</a:t>
            </a:r>
            <a:endParaRPr lang="en-US" sz="13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2377440"/>
        </p:xfrm>
        <a:graphic>
          <a:graphicData uri="http://schemas.openxmlformats.org/drawingml/2006/table">
            <a:tbl>
              <a:tblPr/>
              <a:tblGrid>
                <a:gridCol w="448056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475488">
                <a:tc>
                  <a:txBody>
                    <a:bodyPr/>
                    <a:lstStyle/>
                    <a:p>
                      <a:pPr marL="0" indent="0">
                        <a:buNone/>
                      </a:pPr>
                      <a:r>
                        <a:rPr lang="en-US" sz="1250" b="1" dirty="0">
                          <a:solidFill>
                            <a:srgbClr val="FFFFFF"/>
                          </a:solidFill>
                          <a:latin typeface="Poppins" pitchFamily="34" charset="0"/>
                          <a:ea typeface="Poppins" pitchFamily="34" charset="-122"/>
                          <a:cs typeface="Poppins" pitchFamily="34" charset="-120"/>
                        </a:rPr>
                        <a:t>DNS Security category (examples)</a:t>
                      </a:r>
                      <a:endParaRPr lang="en-US" sz="1200" dirty="0"/>
                    </a:p>
                  </a:txBody>
                  <a:tcPr marL="76200" marR="76200" marT="38100" marB="38100" anchor="ctr">
                    <a:lnL w="0" cap="flat" cmpd="sng" algn="ctr">
                      <a:noFill/>
                    </a:lnL>
                    <a:lnR w="0" cap="flat" cmpd="sng" algn="ctr">
                      <a:noFill/>
                    </a:lnR>
                    <a:lnT w="12700" cap="flat" cmpd="sng" algn="ctr">
                      <a:solidFill>
                        <a:srgbClr val="D9D2D4"/>
                      </a:solidFill>
                      <a:prstDash val="solid"/>
                      <a:round/>
                      <a:headEnd type="none" w="med" len="med"/>
                      <a:tailEnd type="none" w="med" len="med"/>
                    </a:lnT>
                    <a:lnB w="0" cap="flat" cmpd="sng" algn="ctr">
                      <a:noFill/>
                    </a:lnB>
                    <a:solidFill>
                      <a:srgbClr val="7A0019"/>
                    </a:solidFill>
                  </a:tcPr>
                </a:tc>
                <a:tc>
                  <a:txBody>
                    <a:bodyPr/>
                    <a:lstStyle/>
                    <a:p>
                      <a:pPr marL="0" indent="0">
                        <a:buNone/>
                      </a:pPr>
                      <a:r>
                        <a:rPr lang="en-US" sz="1250" b="1" dirty="0">
                          <a:solidFill>
                            <a:srgbClr val="FFFFFF"/>
                          </a:solidFill>
                          <a:latin typeface="Poppins" pitchFamily="34" charset="0"/>
                          <a:ea typeface="Poppins" pitchFamily="34" charset="-122"/>
                          <a:cs typeface="Poppins" pitchFamily="34" charset="-120"/>
                        </a:rPr>
                        <a:t>Typical action</a:t>
                      </a:r>
                      <a:endParaRPr lang="en-US" sz="1200" dirty="0"/>
                    </a:p>
                  </a:txBody>
                  <a:tcPr marL="76200" marR="76200" marT="38100" marB="38100" anchor="ctr">
                    <a:lnL w="0" cap="flat" cmpd="sng" algn="ctr">
                      <a:noFill/>
                    </a:lnL>
                    <a:lnR w="0" cap="flat" cmpd="sng" algn="ctr">
                      <a:noFill/>
                    </a:lnR>
                    <a:lnT w="12700" cap="flat" cmpd="sng" algn="ctr">
                      <a:solidFill>
                        <a:srgbClr val="D9D2D4"/>
                      </a:solidFill>
                      <a:prstDash val="solid"/>
                      <a:round/>
                      <a:headEnd type="none" w="med" len="med"/>
                      <a:tailEnd type="none" w="med" len="med"/>
                    </a:lnT>
                    <a:lnB w="0" cap="flat" cmpd="sng" algn="ctr">
                      <a:noFill/>
                    </a:lnB>
                    <a:solidFill>
                      <a:srgbClr val="7A0019"/>
                    </a:solidFill>
                  </a:tcPr>
                </a:tc>
                <a:tc>
                  <a:txBody>
                    <a:bodyPr/>
                    <a:lstStyle/>
                    <a:p>
                      <a:pPr marL="0" indent="0">
                        <a:buNone/>
                      </a:pPr>
                      <a:r>
                        <a:rPr lang="en-US" sz="1250" b="1" dirty="0">
                          <a:solidFill>
                            <a:srgbClr val="FFFFFF"/>
                          </a:solidFill>
                          <a:latin typeface="Poppins" pitchFamily="34" charset="0"/>
                          <a:ea typeface="Poppins" pitchFamily="34" charset="-122"/>
                          <a:cs typeface="Poppins" pitchFamily="34" charset="-120"/>
                        </a:rPr>
                        <a:t>Why</a:t>
                      </a:r>
                      <a:endParaRPr lang="en-US" sz="1200" dirty="0"/>
                    </a:p>
                  </a:txBody>
                  <a:tcPr marL="76200" marR="76200" marT="38100" marB="38100" anchor="ctr">
                    <a:lnL w="0" cap="flat" cmpd="sng" algn="ctr">
                      <a:noFill/>
                    </a:lnL>
                    <a:lnR w="0" cap="flat" cmpd="sng" algn="ctr">
                      <a:noFill/>
                    </a:lnR>
                    <a:lnT w="12700" cap="flat" cmpd="sng" algn="ctr">
                      <a:solidFill>
                        <a:srgbClr val="D9D2D4"/>
                      </a:solidFill>
                      <a:prstDash val="solid"/>
                      <a:round/>
                      <a:headEnd type="none" w="med" len="med"/>
                      <a:tailEnd type="none" w="med" len="med"/>
                    </a:lnT>
                    <a:lnB w="0" cap="flat" cmpd="sng" algn="ctr">
                      <a:noFill/>
                    </a:lnB>
                    <a:solidFill>
                      <a:srgbClr val="7A0019"/>
                    </a:solidFill>
                  </a:tcPr>
                </a:tc>
                <a:extLst>
                  <a:ext uri="{0D108BD9-81ED-4DB2-BD59-A6C34878D82A}">
                    <a16:rowId xmlns:a16="http://schemas.microsoft.com/office/drawing/2014/main" val="10000"/>
                  </a:ext>
                </a:extLst>
              </a:tr>
              <a:tr h="475488">
                <a:tc>
                  <a:txBody>
                    <a:bodyPr/>
                    <a:lstStyle/>
                    <a:p>
                      <a:pPr marL="0" indent="0">
                        <a:buNone/>
                      </a:pPr>
                      <a:r>
                        <a:rPr lang="en-US" sz="1300" b="1" dirty="0">
                          <a:solidFill>
                            <a:srgbClr val="7A0019"/>
                          </a:solidFill>
                          <a:latin typeface="Montserrat" pitchFamily="34" charset="0"/>
                          <a:ea typeface="Montserrat" pitchFamily="34" charset="-122"/>
                          <a:cs typeface="Montserrat" pitchFamily="34" charset="-120"/>
                        </a:rPr>
                        <a:t>Command and Control Domains</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BF1F3"/>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sinkhole</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FFFFF"/>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Identify infected hosts</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300" b="1" dirty="0">
                          <a:solidFill>
                            <a:srgbClr val="7A0019"/>
                          </a:solidFill>
                          <a:latin typeface="Montserrat" pitchFamily="34" charset="0"/>
                          <a:ea typeface="Montserrat" pitchFamily="34" charset="-122"/>
                          <a:cs typeface="Montserrat" pitchFamily="34" charset="-120"/>
                        </a:rPr>
                        <a:t>Malware / Phishing Domains</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BF1F3"/>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sinkhole</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AF6F7"/>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Stop delivery and theft</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AF6F7"/>
                    </a:solidFill>
                  </a:tcPr>
                </a:tc>
                <a:extLst>
                  <a:ext uri="{0D108BD9-81ED-4DB2-BD59-A6C34878D82A}">
                    <a16:rowId xmlns:a16="http://schemas.microsoft.com/office/drawing/2014/main" val="10002"/>
                  </a:ext>
                </a:extLst>
              </a:tr>
              <a:tr h="475488">
                <a:tc>
                  <a:txBody>
                    <a:bodyPr/>
                    <a:lstStyle/>
                    <a:p>
                      <a:pPr marL="0" indent="0">
                        <a:buNone/>
                      </a:pPr>
                      <a:r>
                        <a:rPr lang="en-US" sz="1300" b="1" dirty="0">
                          <a:solidFill>
                            <a:srgbClr val="7A0019"/>
                          </a:solidFill>
                          <a:latin typeface="Montserrat" pitchFamily="34" charset="0"/>
                          <a:ea typeface="Montserrat" pitchFamily="34" charset="-122"/>
                          <a:cs typeface="Montserrat" pitchFamily="34" charset="-120"/>
                        </a:rPr>
                        <a:t>Newly Registered Domains</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BF1F3"/>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block or alert</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FFFFF"/>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Young domains are high risk</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300" b="1" dirty="0">
                          <a:solidFill>
                            <a:srgbClr val="7A0019"/>
                          </a:solidFill>
                          <a:latin typeface="Montserrat" pitchFamily="34" charset="0"/>
                          <a:ea typeface="Montserrat" pitchFamily="34" charset="-122"/>
                          <a:cs typeface="Montserrat" pitchFamily="34" charset="-120"/>
                        </a:rPr>
                        <a:t>Dynamic DNS Hosted Domains</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BF1F3"/>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block or alert</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AF6F7"/>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Favored for throwaway C2</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AF6F7"/>
                    </a:solidFill>
                  </a:tcPr>
                </a:tc>
                <a:extLst>
                  <a:ext uri="{0D108BD9-81ED-4DB2-BD59-A6C34878D82A}">
                    <a16:rowId xmlns:a16="http://schemas.microsoft.com/office/drawing/2014/main" val="10004"/>
                  </a:ext>
                </a:extLst>
              </a:tr>
            </a:tbl>
          </a:graphicData>
        </a:graphic>
      </p:graphicFrame>
      <p:sp>
        <p:nvSpPr>
          <p:cNvPr id="9" name="Text 5"/>
          <p:cNvSpPr/>
          <p:nvPr/>
        </p:nvSpPr>
        <p:spPr>
          <a:xfrm>
            <a:off x="548640" y="4434840"/>
            <a:ext cx="10972800" cy="365760"/>
          </a:xfrm>
          <a:prstGeom prst="rect">
            <a:avLst/>
          </a:prstGeom>
          <a:noFill/>
          <a:ln/>
        </p:spPr>
        <p:txBody>
          <a:bodyPr wrap="square" lIns="0" tIns="0" rIns="0" bIns="0" rtlCol="0" anchor="t"/>
          <a:lstStyle/>
          <a:p>
            <a:pPr marL="0" indent="0">
              <a:buNone/>
            </a:pPr>
            <a:r>
              <a:rPr lang="en-US" sz="1250" i="1" dirty="0">
                <a:solidFill>
                  <a:srgbClr val="5A5A5A"/>
                </a:solidFill>
                <a:latin typeface="Montserrat" pitchFamily="34" charset="0"/>
                <a:ea typeface="Montserrat" pitchFamily="34" charset="-122"/>
                <a:cs typeface="Montserrat" pitchFamily="34" charset="-120"/>
              </a:rPr>
              <a:t>Actions: </a:t>
            </a:r>
            <a:r>
              <a:rPr lang="en-US" sz="1250" i="1" dirty="0">
                <a:solidFill>
                  <a:srgbClr val="5E0013"/>
                </a:solidFill>
                <a:latin typeface="Courier New" pitchFamily="34" charset="0"/>
                <a:ea typeface="Courier New" pitchFamily="34" charset="-122"/>
                <a:cs typeface="Courier New" pitchFamily="34" charset="-120"/>
              </a:rPr>
              <a:t>default</a:t>
            </a:r>
            <a:r>
              <a:rPr lang="en-US" sz="1250" i="1" dirty="0">
                <a:solidFill>
                  <a:srgbClr val="5A5A5A"/>
                </a:solidFill>
                <a:latin typeface="Montserrat" pitchFamily="34" charset="0"/>
                <a:ea typeface="Montserrat" pitchFamily="34" charset="-122"/>
                <a:cs typeface="Montserrat" pitchFamily="34" charset="-120"/>
              </a:rPr>
              <a:t>, </a:t>
            </a:r>
            <a:r>
              <a:rPr lang="en-US" sz="1250" i="1" dirty="0">
                <a:solidFill>
                  <a:srgbClr val="5E0013"/>
                </a:solidFill>
                <a:latin typeface="Courier New" pitchFamily="34" charset="0"/>
                <a:ea typeface="Courier New" pitchFamily="34" charset="-122"/>
                <a:cs typeface="Courier New" pitchFamily="34" charset="-120"/>
              </a:rPr>
              <a:t>allow</a:t>
            </a:r>
            <a:r>
              <a:rPr lang="en-US" sz="1250" i="1" dirty="0">
                <a:solidFill>
                  <a:srgbClr val="5A5A5A"/>
                </a:solidFill>
                <a:latin typeface="Montserrat" pitchFamily="34" charset="0"/>
                <a:ea typeface="Montserrat" pitchFamily="34" charset="-122"/>
                <a:cs typeface="Montserrat" pitchFamily="34" charset="-120"/>
              </a:rPr>
              <a:t>, </a:t>
            </a:r>
            <a:r>
              <a:rPr lang="en-US" sz="1250" i="1" dirty="0">
                <a:solidFill>
                  <a:srgbClr val="5E0013"/>
                </a:solidFill>
                <a:latin typeface="Courier New" pitchFamily="34" charset="0"/>
                <a:ea typeface="Courier New" pitchFamily="34" charset="-122"/>
                <a:cs typeface="Courier New" pitchFamily="34" charset="-120"/>
              </a:rPr>
              <a:t>block</a:t>
            </a:r>
            <a:r>
              <a:rPr lang="en-US" sz="1250" i="1" dirty="0">
                <a:solidFill>
                  <a:srgbClr val="5A5A5A"/>
                </a:solidFill>
                <a:latin typeface="Montserrat" pitchFamily="34" charset="0"/>
                <a:ea typeface="Montserrat" pitchFamily="34" charset="-122"/>
                <a:cs typeface="Montserrat" pitchFamily="34" charset="-120"/>
              </a:rPr>
              <a:t>, </a:t>
            </a:r>
            <a:r>
              <a:rPr lang="en-US" sz="1250" i="1" dirty="0">
                <a:solidFill>
                  <a:srgbClr val="5E0013"/>
                </a:solidFill>
                <a:latin typeface="Courier New" pitchFamily="34" charset="0"/>
                <a:ea typeface="Courier New" pitchFamily="34" charset="-122"/>
                <a:cs typeface="Courier New" pitchFamily="34" charset="-120"/>
              </a:rPr>
              <a:t>sinkhole</a:t>
            </a:r>
            <a:r>
              <a:rPr lang="en-US" sz="1250" i="1" dirty="0">
                <a:solidFill>
                  <a:srgbClr val="5A5A5A"/>
                </a:solidFill>
                <a:latin typeface="Montserrat" pitchFamily="34" charset="0"/>
                <a:ea typeface="Montserrat" pitchFamily="34" charset="-122"/>
                <a:cs typeface="Montserrat" pitchFamily="34" charset="-120"/>
              </a:rPr>
              <a:t>. Requires a DNS Security or Advanced Threat Prevention subscription.</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65760"/>
            <a:ext cx="11155680" cy="658368"/>
          </a:xfrm>
          <a:prstGeom prst="rect">
            <a:avLst/>
          </a:prstGeom>
          <a:noFill/>
          <a:ln/>
        </p:spPr>
        <p:txBody>
          <a:bodyPr wrap="square" rtlCol="0"/>
          <a:lstStyle/>
          <a:p>
            <a:pPr marL="0" indent="0" algn="l">
              <a:buNone/>
            </a:pPr>
            <a:r>
              <a:rPr lang="en-US" sz="2500" b="1" dirty="0">
                <a:solidFill>
                  <a:srgbClr val="7A0019"/>
                </a:solidFill>
                <a:latin typeface="Poppins" pitchFamily="34" charset="0"/>
                <a:ea typeface="Poppins" pitchFamily="34" charset="-122"/>
                <a:cs typeface="Poppins" pitchFamily="34" charset="-120"/>
              </a:rPr>
              <a:t>Your Own DNS Block Lists</a:t>
            </a:r>
            <a:endParaRPr lang="en-US" sz="2500" dirty="0"/>
          </a:p>
        </p:txBody>
      </p:sp>
      <p:sp>
        <p:nvSpPr>
          <p:cNvPr id="3" name="Shape 1"/>
          <p:cNvSpPr/>
          <p:nvPr/>
        </p:nvSpPr>
        <p:spPr>
          <a:xfrm>
            <a:off x="521208" y="1042416"/>
            <a:ext cx="914400" cy="54864"/>
          </a:xfrm>
          <a:prstGeom prst="rect">
            <a:avLst/>
          </a:prstGeom>
          <a:solidFill>
            <a:srgbClr val="FDB71A"/>
          </a:solidFill>
          <a:ln/>
        </p:spPr>
        <p:txBody>
          <a:bodyPr/>
          <a:lstStyle/>
          <a:p>
            <a:endParaRPr lang="en-US"/>
          </a:p>
        </p:txBody>
      </p:sp>
      <p:sp>
        <p:nvSpPr>
          <p:cNvPr id="4" name="Text 2"/>
          <p:cNvSpPr/>
          <p:nvPr/>
        </p:nvSpPr>
        <p:spPr>
          <a:xfrm>
            <a:off x="502920" y="6437376"/>
            <a:ext cx="8229600" cy="274320"/>
          </a:xfrm>
          <a:prstGeom prst="rect">
            <a:avLst/>
          </a:prstGeom>
          <a:noFill/>
          <a:ln/>
        </p:spPr>
        <p:txBody>
          <a:bodyPr wrap="square" lIns="0" tIns="0" rIns="0" bIns="0" rtlCol="0" anchor="ctr"/>
          <a:lstStyle/>
          <a:p>
            <a:pPr marL="0" indent="0">
              <a:buNone/>
            </a:pPr>
            <a:r>
              <a:rPr lang="en-US" sz="900" dirty="0">
                <a:solidFill>
                  <a:srgbClr val="5A5A5A"/>
                </a:solidFill>
                <a:latin typeface="Montserrat" pitchFamily="34" charset="0"/>
                <a:ea typeface="Montserrat" pitchFamily="34" charset="-122"/>
                <a:cs typeface="Montserrat" pitchFamily="34" charset="-120"/>
              </a:rPr>
              <a:t>Information Security 2 · Unit 10 · Web Content Filtering</a:t>
            </a:r>
            <a:endParaRPr lang="en-US" sz="900" dirty="0"/>
          </a:p>
        </p:txBody>
      </p:sp>
      <p:sp>
        <p:nvSpPr>
          <p:cNvPr id="5" name="Text 3"/>
          <p:cNvSpPr/>
          <p:nvPr/>
        </p:nvSpPr>
        <p:spPr>
          <a:xfrm>
            <a:off x="11247120" y="6437376"/>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Montserrat" pitchFamily="34" charset="0"/>
                <a:ea typeface="Montserrat" pitchFamily="34" charset="-122"/>
                <a:cs typeface="Montserrat" pitchFamily="34" charset="-120"/>
              </a:rPr>
              <a:t>24</a:t>
            </a:r>
            <a:endParaRPr lang="en-US" sz="900" dirty="0"/>
          </a:p>
        </p:txBody>
      </p:sp>
      <p:sp>
        <p:nvSpPr>
          <p:cNvPr id="7" name="Text 4"/>
          <p:cNvSpPr/>
          <p:nvPr/>
        </p:nvSpPr>
        <p:spPr>
          <a:xfrm>
            <a:off x="548640" y="1371600"/>
            <a:ext cx="10972800" cy="365760"/>
          </a:xfrm>
          <a:prstGeom prst="rect">
            <a:avLst/>
          </a:prstGeom>
          <a:noFill/>
          <a:ln/>
        </p:spPr>
        <p:txBody>
          <a:bodyPr wrap="square" lIns="0" tIns="0" rIns="0" bIns="0" rtlCol="0" anchor="t"/>
          <a:lstStyle/>
          <a:p>
            <a:pPr marL="0" indent="0">
              <a:buNone/>
            </a:pPr>
            <a:r>
              <a:rPr lang="en-US" sz="1400" dirty="0">
                <a:solidFill>
                  <a:srgbClr val="5A5A5A"/>
                </a:solidFill>
                <a:latin typeface="Montserrat" pitchFamily="34" charset="0"/>
                <a:ea typeface="Montserrat" pitchFamily="34" charset="-122"/>
                <a:cs typeface="Montserrat" pitchFamily="34" charset="-120"/>
              </a:rPr>
              <a:t>Block domains you choose, with or without the DNS Security subscription.</a:t>
            </a:r>
            <a:endParaRPr lang="en-US" sz="1400" dirty="0"/>
          </a:p>
        </p:txBody>
      </p:sp>
      <p:sp>
        <p:nvSpPr>
          <p:cNvPr id="8" name="Text 5"/>
          <p:cNvSpPr/>
          <p:nvPr/>
        </p:nvSpPr>
        <p:spPr>
          <a:xfrm>
            <a:off x="548640" y="1874520"/>
            <a:ext cx="5394960" cy="320040"/>
          </a:xfrm>
          <a:prstGeom prst="rect">
            <a:avLst/>
          </a:prstGeom>
          <a:noFill/>
          <a:ln/>
        </p:spPr>
        <p:txBody>
          <a:bodyPr wrap="square" lIns="0" tIns="0" rIns="0" bIns="0" rtlCol="0" anchor="t"/>
          <a:lstStyle/>
          <a:p>
            <a:pPr marL="0" indent="0">
              <a:buNone/>
            </a:pPr>
            <a:r>
              <a:rPr lang="en-US" sz="1500" b="1" dirty="0">
                <a:solidFill>
                  <a:srgbClr val="7A0019"/>
                </a:solidFill>
                <a:latin typeface="Poppins" pitchFamily="34" charset="0"/>
                <a:ea typeface="Poppins" pitchFamily="34" charset="-122"/>
                <a:cs typeface="Poppins" pitchFamily="34" charset="-120"/>
              </a:rPr>
              <a:t>Domain List EDL</a:t>
            </a:r>
            <a:endParaRPr lang="en-US" sz="1500" dirty="0"/>
          </a:p>
        </p:txBody>
      </p:sp>
      <p:sp>
        <p:nvSpPr>
          <p:cNvPr id="9" name="Text 6"/>
          <p:cNvSpPr/>
          <p:nvPr/>
        </p:nvSpPr>
        <p:spPr>
          <a:xfrm>
            <a:off x="548640" y="2286000"/>
            <a:ext cx="5394960" cy="2377440"/>
          </a:xfrm>
          <a:prstGeom prst="rect">
            <a:avLst/>
          </a:prstGeom>
          <a:noFill/>
          <a:ln/>
        </p:spPr>
        <p:txBody>
          <a:bodyPr wrap="square" lIns="0" tIns="0" rIns="0" bIns="0" rtlCol="0" anchor="t"/>
          <a:lstStyle/>
          <a:p>
            <a:pPr marL="177800" indent="-177800">
              <a:spcAft>
                <a:spcPts val="1000"/>
              </a:spcAft>
              <a:buSzPct val="100000"/>
              <a:buChar char="•"/>
            </a:pPr>
            <a:r>
              <a:rPr lang="en-US" sz="1350" dirty="0">
                <a:solidFill>
                  <a:srgbClr val="1F1A1B"/>
                </a:solidFill>
                <a:latin typeface="Montserrat" pitchFamily="34" charset="0"/>
                <a:ea typeface="Montserrat" pitchFamily="34" charset="-122"/>
                <a:cs typeface="Montserrat" pitchFamily="34" charset="-120"/>
              </a:rPr>
              <a:t>Create an EDL with type </a:t>
            </a:r>
            <a:r>
              <a:rPr lang="en-US" sz="1350" dirty="0">
                <a:solidFill>
                  <a:srgbClr val="5E0013"/>
                </a:solidFill>
                <a:latin typeface="Courier New" pitchFamily="34" charset="0"/>
                <a:ea typeface="Courier New" pitchFamily="34" charset="-122"/>
                <a:cs typeface="Courier New" pitchFamily="34" charset="-120"/>
              </a:rPr>
              <a:t>Domain List</a:t>
            </a:r>
            <a:r>
              <a:rPr lang="en-US" sz="1350" dirty="0">
                <a:solidFill>
                  <a:srgbClr val="1F1A1B"/>
                </a:solidFill>
                <a:latin typeface="Montserrat" pitchFamily="34" charset="0"/>
                <a:ea typeface="Montserrat" pitchFamily="34" charset="-122"/>
                <a:cs typeface="Montserrat" pitchFamily="34" charset="-120"/>
              </a:rPr>
              <a:t>.</a:t>
            </a:r>
            <a:endParaRPr lang="en-US" sz="1350" dirty="0"/>
          </a:p>
          <a:p>
            <a:pPr marL="177800" indent="-177800">
              <a:spcAft>
                <a:spcPts val="1000"/>
              </a:spcAft>
              <a:buSzPct val="100000"/>
              <a:buChar char="•"/>
            </a:pPr>
            <a:r>
              <a:rPr lang="en-US" sz="1350" dirty="0">
                <a:solidFill>
                  <a:srgbClr val="1F1A1B"/>
                </a:solidFill>
                <a:latin typeface="Montserrat" pitchFamily="34" charset="0"/>
                <a:ea typeface="Montserrat" pitchFamily="34" charset="-122"/>
                <a:cs typeface="Montserrat" pitchFamily="34" charset="-120"/>
              </a:rPr>
              <a:t>Add it under </a:t>
            </a:r>
            <a:r>
              <a:rPr lang="en-US" sz="1350" b="1" dirty="0">
                <a:solidFill>
                  <a:srgbClr val="1F1A1B"/>
                </a:solidFill>
                <a:latin typeface="Montserrat" pitchFamily="34" charset="0"/>
                <a:ea typeface="Montserrat" pitchFamily="34" charset="-122"/>
                <a:cs typeface="Montserrat" pitchFamily="34" charset="-120"/>
              </a:rPr>
              <a:t>External Dynamic Lists</a:t>
            </a:r>
            <a:r>
              <a:rPr lang="en-US" sz="1350" dirty="0">
                <a:solidFill>
                  <a:srgbClr val="1F1A1B"/>
                </a:solidFill>
                <a:latin typeface="Montserrat" pitchFamily="34" charset="0"/>
                <a:ea typeface="Montserrat" pitchFamily="34" charset="-122"/>
                <a:cs typeface="Montserrat" pitchFamily="34" charset="-120"/>
              </a:rPr>
              <a:t> on the DNS Policies tab.</a:t>
            </a:r>
            <a:endParaRPr lang="en-US" sz="1350" dirty="0"/>
          </a:p>
          <a:p>
            <a:pPr marL="177800" indent="-177800">
              <a:spcAft>
                <a:spcPts val="1000"/>
              </a:spcAft>
              <a:buSzPct val="100000"/>
              <a:buChar char="•"/>
            </a:pPr>
            <a:r>
              <a:rPr lang="en-US" sz="1350" dirty="0">
                <a:solidFill>
                  <a:srgbClr val="1F1A1B"/>
                </a:solidFill>
                <a:latin typeface="Montserrat" pitchFamily="34" charset="0"/>
                <a:ea typeface="Montserrat" pitchFamily="34" charset="-122"/>
                <a:cs typeface="Montserrat" pitchFamily="34" charset="-120"/>
              </a:rPr>
              <a:t>Set the action to </a:t>
            </a:r>
            <a:r>
              <a:rPr lang="en-US" sz="1350" dirty="0">
                <a:solidFill>
                  <a:srgbClr val="5E0013"/>
                </a:solidFill>
                <a:latin typeface="Courier New" pitchFamily="34" charset="0"/>
                <a:ea typeface="Courier New" pitchFamily="34" charset="-122"/>
                <a:cs typeface="Courier New" pitchFamily="34" charset="-120"/>
              </a:rPr>
              <a:t>sinkhole</a:t>
            </a:r>
            <a:r>
              <a:rPr lang="en-US" sz="1350" dirty="0">
                <a:solidFill>
                  <a:srgbClr val="1F1A1B"/>
                </a:solidFill>
                <a:latin typeface="Montserrat" pitchFamily="34" charset="0"/>
                <a:ea typeface="Montserrat" pitchFamily="34" charset="-122"/>
                <a:cs typeface="Montserrat" pitchFamily="34" charset="-120"/>
              </a:rPr>
              <a:t> or </a:t>
            </a:r>
            <a:r>
              <a:rPr lang="en-US" sz="1350" dirty="0">
                <a:solidFill>
                  <a:srgbClr val="5E0013"/>
                </a:solidFill>
                <a:latin typeface="Courier New" pitchFamily="34" charset="0"/>
                <a:ea typeface="Courier New" pitchFamily="34" charset="-122"/>
                <a:cs typeface="Courier New" pitchFamily="34" charset="-120"/>
              </a:rPr>
              <a:t>block</a:t>
            </a:r>
            <a:r>
              <a:rPr lang="en-US" sz="1350" dirty="0">
                <a:solidFill>
                  <a:srgbClr val="1F1A1B"/>
                </a:solidFill>
                <a:latin typeface="Montserrat" pitchFamily="34" charset="0"/>
                <a:ea typeface="Montserrat" pitchFamily="34" charset="-122"/>
                <a:cs typeface="Montserrat" pitchFamily="34" charset="-120"/>
              </a:rPr>
              <a:t>.</a:t>
            </a:r>
            <a:endParaRPr lang="en-US" sz="1350" dirty="0"/>
          </a:p>
        </p:txBody>
      </p:sp>
      <p:sp>
        <p:nvSpPr>
          <p:cNvPr id="10" name="Text 7"/>
          <p:cNvSpPr/>
          <p:nvPr/>
        </p:nvSpPr>
        <p:spPr>
          <a:xfrm>
            <a:off x="6309360" y="1874520"/>
            <a:ext cx="5394960" cy="320040"/>
          </a:xfrm>
          <a:prstGeom prst="rect">
            <a:avLst/>
          </a:prstGeom>
          <a:noFill/>
          <a:ln/>
        </p:spPr>
        <p:txBody>
          <a:bodyPr wrap="square" lIns="0" tIns="0" rIns="0" bIns="0" rtlCol="0" anchor="t"/>
          <a:lstStyle/>
          <a:p>
            <a:pPr marL="0" indent="0">
              <a:buNone/>
            </a:pPr>
            <a:r>
              <a:rPr lang="en-US" sz="1500" b="1" dirty="0">
                <a:solidFill>
                  <a:srgbClr val="7A0019"/>
                </a:solidFill>
                <a:latin typeface="Poppins" pitchFamily="34" charset="0"/>
                <a:ea typeface="Poppins" pitchFamily="34" charset="-122"/>
                <a:cs typeface="Poppins" pitchFamily="34" charset="-120"/>
              </a:rPr>
              <a:t>Exceptions</a:t>
            </a:r>
            <a:endParaRPr lang="en-US" sz="1500" dirty="0"/>
          </a:p>
        </p:txBody>
      </p:sp>
      <p:sp>
        <p:nvSpPr>
          <p:cNvPr id="11" name="Text 8"/>
          <p:cNvSpPr/>
          <p:nvPr/>
        </p:nvSpPr>
        <p:spPr>
          <a:xfrm>
            <a:off x="6309360" y="2286000"/>
            <a:ext cx="5394960" cy="2377440"/>
          </a:xfrm>
          <a:prstGeom prst="rect">
            <a:avLst/>
          </a:prstGeom>
          <a:noFill/>
          <a:ln/>
        </p:spPr>
        <p:txBody>
          <a:bodyPr wrap="square" lIns="0" tIns="0" rIns="0" bIns="0" rtlCol="0" anchor="t"/>
          <a:lstStyle/>
          <a:p>
            <a:pPr marL="177800" indent="-177800">
              <a:spcAft>
                <a:spcPts val="1000"/>
              </a:spcAft>
              <a:buSzPct val="100000"/>
              <a:buChar char="•"/>
            </a:pPr>
            <a:r>
              <a:rPr lang="en-US" sz="1350" dirty="0">
                <a:solidFill>
                  <a:srgbClr val="1F1A1B"/>
                </a:solidFill>
                <a:latin typeface="Montserrat" pitchFamily="34" charset="0"/>
                <a:ea typeface="Montserrat" pitchFamily="34" charset="-122"/>
                <a:cs typeface="Montserrat" pitchFamily="34" charset="-120"/>
              </a:rPr>
              <a:t>False positive? Add the domain to the </a:t>
            </a:r>
            <a:r>
              <a:rPr lang="en-US" sz="1350" b="1" dirty="0">
                <a:solidFill>
                  <a:srgbClr val="1F1A1B"/>
                </a:solidFill>
                <a:latin typeface="Montserrat" pitchFamily="34" charset="0"/>
                <a:ea typeface="Montserrat" pitchFamily="34" charset="-122"/>
                <a:cs typeface="Montserrat" pitchFamily="34" charset="-120"/>
              </a:rPr>
              <a:t>DNS Domain/FQDN Allow List</a:t>
            </a:r>
            <a:r>
              <a:rPr lang="en-US" sz="1350" dirty="0">
                <a:solidFill>
                  <a:srgbClr val="1F1A1B"/>
                </a:solidFill>
                <a:latin typeface="Montserrat" pitchFamily="34" charset="0"/>
                <a:ea typeface="Montserrat" pitchFamily="34" charset="-122"/>
                <a:cs typeface="Montserrat" pitchFamily="34" charset="-120"/>
              </a:rPr>
              <a:t>.</a:t>
            </a:r>
            <a:endParaRPr lang="en-US" sz="1350" dirty="0"/>
          </a:p>
          <a:p>
            <a:pPr marL="177800" indent="-177800">
              <a:spcAft>
                <a:spcPts val="1000"/>
              </a:spcAft>
              <a:buSzPct val="100000"/>
              <a:buChar char="•"/>
            </a:pPr>
            <a:r>
              <a:rPr lang="en-US" sz="1350" dirty="0">
                <a:solidFill>
                  <a:srgbClr val="1F1A1B"/>
                </a:solidFill>
                <a:latin typeface="Montserrat" pitchFamily="34" charset="0"/>
                <a:ea typeface="Montserrat" pitchFamily="34" charset="-122"/>
                <a:cs typeface="Montserrat" pitchFamily="34" charset="-120"/>
              </a:rPr>
              <a:t>It lives on the </a:t>
            </a:r>
            <a:r>
              <a:rPr lang="en-US" sz="1350" b="1" dirty="0">
                <a:solidFill>
                  <a:srgbClr val="1F1A1B"/>
                </a:solidFill>
                <a:latin typeface="Montserrat" pitchFamily="34" charset="0"/>
                <a:ea typeface="Montserrat" pitchFamily="34" charset="-122"/>
                <a:cs typeface="Montserrat" pitchFamily="34" charset="-120"/>
              </a:rPr>
              <a:t>DNS Exceptions</a:t>
            </a:r>
            <a:r>
              <a:rPr lang="en-US" sz="1350" dirty="0">
                <a:solidFill>
                  <a:srgbClr val="1F1A1B"/>
                </a:solidFill>
                <a:latin typeface="Montserrat" pitchFamily="34" charset="0"/>
                <a:ea typeface="Montserrat" pitchFamily="34" charset="-122"/>
                <a:cs typeface="Montserrat" pitchFamily="34" charset="-120"/>
              </a:rPr>
              <a:t> tab.</a:t>
            </a:r>
            <a:endParaRPr lang="en-US" sz="1350" dirty="0"/>
          </a:p>
          <a:p>
            <a:pPr marL="177800" indent="-177800">
              <a:spcAft>
                <a:spcPts val="1000"/>
              </a:spcAft>
              <a:buSzPct val="100000"/>
              <a:buChar char="•"/>
            </a:pPr>
            <a:r>
              <a:rPr lang="en-US" sz="1350" dirty="0">
                <a:solidFill>
                  <a:srgbClr val="1F1A1B"/>
                </a:solidFill>
                <a:latin typeface="Montserrat" pitchFamily="34" charset="0"/>
                <a:ea typeface="Montserrat" pitchFamily="34" charset="-122"/>
                <a:cs typeface="Montserrat" pitchFamily="34" charset="-120"/>
              </a:rPr>
              <a:t>An allow-type EDL does not override a DNS Security verdict.</a:t>
            </a:r>
            <a:endParaRPr lang="en-US" sz="1350" dirty="0"/>
          </a:p>
        </p:txBody>
      </p:sp>
      <p:sp>
        <p:nvSpPr>
          <p:cNvPr id="12" name="Shape 9"/>
          <p:cNvSpPr/>
          <p:nvPr/>
        </p:nvSpPr>
        <p:spPr>
          <a:xfrm>
            <a:off x="548640" y="4572000"/>
            <a:ext cx="11109960" cy="822960"/>
          </a:xfrm>
          <a:prstGeom prst="roundRect">
            <a:avLst>
              <a:gd name="adj" fmla="val 2222"/>
            </a:avLst>
          </a:prstGeom>
          <a:solidFill>
            <a:srgbClr val="FBF1F3"/>
          </a:solidFill>
          <a:ln/>
          <a:effectLst>
            <a:outerShdw blurRad="88900" dist="38100" dir="5400000" algn="bl" rotWithShape="0">
              <a:srgbClr val="000000">
                <a:alpha val="15000"/>
              </a:srgbClr>
            </a:outerShdw>
          </a:effectLst>
        </p:spPr>
        <p:txBody>
          <a:bodyPr/>
          <a:lstStyle/>
          <a:p>
            <a:endParaRPr lang="en-US"/>
          </a:p>
        </p:txBody>
      </p:sp>
      <p:sp>
        <p:nvSpPr>
          <p:cNvPr id="13" name="Text 10"/>
          <p:cNvSpPr/>
          <p:nvPr/>
        </p:nvSpPr>
        <p:spPr>
          <a:xfrm>
            <a:off x="777240" y="4572000"/>
            <a:ext cx="10698480" cy="822960"/>
          </a:xfrm>
          <a:prstGeom prst="rect">
            <a:avLst/>
          </a:prstGeom>
          <a:noFill/>
          <a:ln/>
        </p:spPr>
        <p:txBody>
          <a:bodyPr wrap="square" lIns="0" tIns="0" rIns="0" bIns="0" rtlCol="0" anchor="ctr"/>
          <a:lstStyle/>
          <a:p>
            <a:pPr marL="0" indent="0">
              <a:buNone/>
            </a:pPr>
            <a:r>
              <a:rPr lang="en-US" sz="1350" b="1" dirty="0">
                <a:solidFill>
                  <a:srgbClr val="7A0019"/>
                </a:solidFill>
                <a:latin typeface="Montserrat" pitchFamily="34" charset="0"/>
                <a:ea typeface="Montserrat" pitchFamily="34" charset="-122"/>
                <a:cs typeface="Montserrat" pitchFamily="34" charset="-120"/>
              </a:rPr>
              <a:t>Remember:  </a:t>
            </a:r>
            <a:r>
              <a:rPr lang="en-US" sz="1350" dirty="0">
                <a:solidFill>
                  <a:srgbClr val="1F1A1B"/>
                </a:solidFill>
                <a:latin typeface="Montserrat" pitchFamily="34" charset="0"/>
                <a:ea typeface="Montserrat" pitchFamily="34" charset="-122"/>
                <a:cs typeface="Montserrat" pitchFamily="34" charset="-120"/>
              </a:rPr>
              <a:t>DNS policies take effect only when the Anti-Spyware profile is attached to the rule that allows DNS traffic.</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65760"/>
            <a:ext cx="11155680" cy="658368"/>
          </a:xfrm>
          <a:prstGeom prst="rect">
            <a:avLst/>
          </a:prstGeom>
          <a:noFill/>
          <a:ln/>
        </p:spPr>
        <p:txBody>
          <a:bodyPr wrap="square" rtlCol="0"/>
          <a:lstStyle/>
          <a:p>
            <a:pPr marL="0" indent="0" algn="l">
              <a:buNone/>
            </a:pPr>
            <a:r>
              <a:rPr lang="en-US" sz="2500" b="1" dirty="0">
                <a:solidFill>
                  <a:srgbClr val="7A0019"/>
                </a:solidFill>
                <a:latin typeface="Poppins" pitchFamily="34" charset="0"/>
                <a:ea typeface="Poppins" pitchFamily="34" charset="-122"/>
                <a:cs typeface="Poppins" pitchFamily="34" charset="-120"/>
              </a:rPr>
              <a:t>URL Filter vs. DNS Filter</a:t>
            </a:r>
            <a:endParaRPr lang="en-US" sz="2500" dirty="0"/>
          </a:p>
        </p:txBody>
      </p:sp>
      <p:sp>
        <p:nvSpPr>
          <p:cNvPr id="3" name="Shape 1"/>
          <p:cNvSpPr/>
          <p:nvPr/>
        </p:nvSpPr>
        <p:spPr>
          <a:xfrm>
            <a:off x="521208" y="1042416"/>
            <a:ext cx="914400" cy="54864"/>
          </a:xfrm>
          <a:prstGeom prst="rect">
            <a:avLst/>
          </a:prstGeom>
          <a:solidFill>
            <a:srgbClr val="FDB71A"/>
          </a:solidFill>
          <a:ln/>
        </p:spPr>
        <p:txBody>
          <a:bodyPr/>
          <a:lstStyle/>
          <a:p>
            <a:endParaRPr lang="en-US"/>
          </a:p>
        </p:txBody>
      </p:sp>
      <p:sp>
        <p:nvSpPr>
          <p:cNvPr id="4" name="Text 2"/>
          <p:cNvSpPr/>
          <p:nvPr/>
        </p:nvSpPr>
        <p:spPr>
          <a:xfrm>
            <a:off x="502920" y="6437376"/>
            <a:ext cx="8229600" cy="274320"/>
          </a:xfrm>
          <a:prstGeom prst="rect">
            <a:avLst/>
          </a:prstGeom>
          <a:noFill/>
          <a:ln/>
        </p:spPr>
        <p:txBody>
          <a:bodyPr wrap="square" lIns="0" tIns="0" rIns="0" bIns="0" rtlCol="0" anchor="ctr"/>
          <a:lstStyle/>
          <a:p>
            <a:pPr marL="0" indent="0">
              <a:buNone/>
            </a:pPr>
            <a:r>
              <a:rPr lang="en-US" sz="900" dirty="0">
                <a:solidFill>
                  <a:srgbClr val="5A5A5A"/>
                </a:solidFill>
                <a:latin typeface="Montserrat" pitchFamily="34" charset="0"/>
                <a:ea typeface="Montserrat" pitchFamily="34" charset="-122"/>
                <a:cs typeface="Montserrat" pitchFamily="34" charset="-120"/>
              </a:rPr>
              <a:t>Information Security 2 · Unit 10 · Web Content Filtering</a:t>
            </a:r>
            <a:endParaRPr lang="en-US" sz="900" dirty="0"/>
          </a:p>
        </p:txBody>
      </p:sp>
      <p:sp>
        <p:nvSpPr>
          <p:cNvPr id="5" name="Text 3"/>
          <p:cNvSpPr/>
          <p:nvPr/>
        </p:nvSpPr>
        <p:spPr>
          <a:xfrm>
            <a:off x="11247120" y="6437376"/>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Montserrat" pitchFamily="34" charset="0"/>
                <a:ea typeface="Montserrat" pitchFamily="34" charset="-122"/>
                <a:cs typeface="Montserrat" pitchFamily="34" charset="-120"/>
              </a:rPr>
              <a:t>25</a:t>
            </a:r>
            <a:endParaRPr lang="en-US" sz="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3182112"/>
        </p:xfrm>
        <a:graphic>
          <a:graphicData uri="http://schemas.openxmlformats.org/drawingml/2006/table">
            <a:tbl>
              <a:tblPr/>
              <a:tblGrid>
                <a:gridCol w="256032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297680">
                  <a:extLst>
                    <a:ext uri="{9D8B030D-6E8A-4147-A177-3AD203B41FA5}">
                      <a16:colId xmlns:a16="http://schemas.microsoft.com/office/drawing/2014/main" val="20002"/>
                    </a:ext>
                  </a:extLst>
                </a:gridCol>
              </a:tblGrid>
              <a:tr h="530352">
                <a:tc>
                  <a:txBody>
                    <a:bodyPr/>
                    <a:lstStyle/>
                    <a:p>
                      <a:pPr marL="0" indent="0">
                        <a:buNone/>
                      </a:pPr>
                      <a:endParaRPr lang="en-US" sz="1200" dirty="0"/>
                    </a:p>
                  </a:txBody>
                  <a:tcPr marL="76200" marR="76200" marT="38100" marB="38100" anchor="ctr">
                    <a:lnL w="0" cap="flat" cmpd="sng" algn="ctr">
                      <a:noFill/>
                    </a:lnL>
                    <a:lnR w="0" cap="flat" cmpd="sng" algn="ctr">
                      <a:noFill/>
                    </a:lnR>
                    <a:lnT w="12700" cap="flat" cmpd="sng" algn="ctr">
                      <a:solidFill>
                        <a:srgbClr val="D9D2D4"/>
                      </a:solidFill>
                      <a:prstDash val="solid"/>
                      <a:round/>
                      <a:headEnd type="none" w="med" len="med"/>
                      <a:tailEnd type="none" w="med" len="med"/>
                    </a:lnT>
                    <a:lnB w="0" cap="flat" cmpd="sng" algn="ctr">
                      <a:noFill/>
                    </a:lnB>
                    <a:solidFill>
                      <a:srgbClr val="7A0019"/>
                    </a:solidFill>
                  </a:tcPr>
                </a:tc>
                <a:tc>
                  <a:txBody>
                    <a:bodyPr/>
                    <a:lstStyle/>
                    <a:p>
                      <a:pPr marL="0" indent="0">
                        <a:buNone/>
                      </a:pPr>
                      <a:r>
                        <a:rPr lang="en-US" sz="1250" b="1" dirty="0">
                          <a:solidFill>
                            <a:srgbClr val="FFFFFF"/>
                          </a:solidFill>
                          <a:latin typeface="Poppins" pitchFamily="34" charset="0"/>
                          <a:ea typeface="Poppins" pitchFamily="34" charset="-122"/>
                          <a:cs typeface="Poppins" pitchFamily="34" charset="-120"/>
                        </a:rPr>
                        <a:t>URL Filtering Profile</a:t>
                      </a:r>
                      <a:endParaRPr lang="en-US" sz="1200" dirty="0"/>
                    </a:p>
                  </a:txBody>
                  <a:tcPr marL="76200" marR="76200" marT="38100" marB="38100" anchor="ctr">
                    <a:lnL w="0" cap="flat" cmpd="sng" algn="ctr">
                      <a:noFill/>
                    </a:lnL>
                    <a:lnR w="0" cap="flat" cmpd="sng" algn="ctr">
                      <a:noFill/>
                    </a:lnR>
                    <a:lnT w="12700" cap="flat" cmpd="sng" algn="ctr">
                      <a:solidFill>
                        <a:srgbClr val="D9D2D4"/>
                      </a:solidFill>
                      <a:prstDash val="solid"/>
                      <a:round/>
                      <a:headEnd type="none" w="med" len="med"/>
                      <a:tailEnd type="none" w="med" len="med"/>
                    </a:lnT>
                    <a:lnB w="0" cap="flat" cmpd="sng" algn="ctr">
                      <a:noFill/>
                    </a:lnB>
                    <a:solidFill>
                      <a:srgbClr val="7A0019"/>
                    </a:solidFill>
                  </a:tcPr>
                </a:tc>
                <a:tc>
                  <a:txBody>
                    <a:bodyPr/>
                    <a:lstStyle/>
                    <a:p>
                      <a:pPr marL="0" indent="0">
                        <a:buNone/>
                      </a:pPr>
                      <a:r>
                        <a:rPr lang="en-US" sz="1250" b="1" dirty="0">
                          <a:solidFill>
                            <a:srgbClr val="FFFFFF"/>
                          </a:solidFill>
                          <a:latin typeface="Poppins" pitchFamily="34" charset="0"/>
                          <a:ea typeface="Poppins" pitchFamily="34" charset="-122"/>
                          <a:cs typeface="Poppins" pitchFamily="34" charset="-120"/>
                        </a:rPr>
                        <a:t>DNS Security (Anti-Spyware)</a:t>
                      </a:r>
                      <a:endParaRPr lang="en-US" sz="1200" dirty="0"/>
                    </a:p>
                  </a:txBody>
                  <a:tcPr marL="76200" marR="76200" marT="38100" marB="38100" anchor="ctr">
                    <a:lnL w="0" cap="flat" cmpd="sng" algn="ctr">
                      <a:noFill/>
                    </a:lnL>
                    <a:lnR w="0" cap="flat" cmpd="sng" algn="ctr">
                      <a:noFill/>
                    </a:lnR>
                    <a:lnT w="12700" cap="flat" cmpd="sng" algn="ctr">
                      <a:solidFill>
                        <a:srgbClr val="D9D2D4"/>
                      </a:solidFill>
                      <a:prstDash val="solid"/>
                      <a:round/>
                      <a:headEnd type="none" w="med" len="med"/>
                      <a:tailEnd type="none" w="med" len="med"/>
                    </a:lnT>
                    <a:lnB w="0" cap="flat" cmpd="sng" algn="ctr">
                      <a:noFill/>
                    </a:lnB>
                    <a:solidFill>
                      <a:srgbClr val="7A0019"/>
                    </a:solidFill>
                  </a:tcPr>
                </a:tc>
                <a:extLst>
                  <a:ext uri="{0D108BD9-81ED-4DB2-BD59-A6C34878D82A}">
                    <a16:rowId xmlns:a16="http://schemas.microsoft.com/office/drawing/2014/main" val="10000"/>
                  </a:ext>
                </a:extLst>
              </a:tr>
              <a:tr h="530352">
                <a:tc>
                  <a:txBody>
                    <a:bodyPr/>
                    <a:lstStyle/>
                    <a:p>
                      <a:pPr marL="0" indent="0">
                        <a:buNone/>
                      </a:pPr>
                      <a:r>
                        <a:rPr lang="en-US" sz="1300" b="1" dirty="0">
                          <a:solidFill>
                            <a:srgbClr val="7A0019"/>
                          </a:solidFill>
                          <a:latin typeface="Montserrat" pitchFamily="34" charset="0"/>
                          <a:ea typeface="Montserrat" pitchFamily="34" charset="-122"/>
                          <a:cs typeface="Montserrat" pitchFamily="34" charset="-120"/>
                        </a:rPr>
                        <a:t>Sees</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BF1F3"/>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HTTP and HTTPS requests</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FFFFF"/>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DNS queries for any protocol</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1"/>
                  </a:ext>
                </a:extLst>
              </a:tr>
              <a:tr h="530352">
                <a:tc>
                  <a:txBody>
                    <a:bodyPr/>
                    <a:lstStyle/>
                    <a:p>
                      <a:pPr marL="0" indent="0">
                        <a:buNone/>
                      </a:pPr>
                      <a:r>
                        <a:rPr lang="en-US" sz="1300" b="1" dirty="0">
                          <a:solidFill>
                            <a:srgbClr val="7A0019"/>
                          </a:solidFill>
                          <a:latin typeface="Montserrat" pitchFamily="34" charset="0"/>
                          <a:ea typeface="Montserrat" pitchFamily="34" charset="-122"/>
                          <a:cs typeface="Montserrat" pitchFamily="34" charset="-120"/>
                        </a:rPr>
                        <a:t>When</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BF1F3"/>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After the connection opens</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AF6F7"/>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Before any connection opens</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AF6F7"/>
                    </a:solidFill>
                  </a:tcPr>
                </a:tc>
                <a:extLst>
                  <a:ext uri="{0D108BD9-81ED-4DB2-BD59-A6C34878D82A}">
                    <a16:rowId xmlns:a16="http://schemas.microsoft.com/office/drawing/2014/main" val="10002"/>
                  </a:ext>
                </a:extLst>
              </a:tr>
              <a:tr h="530352">
                <a:tc>
                  <a:txBody>
                    <a:bodyPr/>
                    <a:lstStyle/>
                    <a:p>
                      <a:pPr marL="0" indent="0">
                        <a:buNone/>
                      </a:pPr>
                      <a:r>
                        <a:rPr lang="en-US" sz="1300" b="1" dirty="0">
                          <a:solidFill>
                            <a:srgbClr val="7A0019"/>
                          </a:solidFill>
                          <a:latin typeface="Montserrat" pitchFamily="34" charset="0"/>
                          <a:ea typeface="Montserrat" pitchFamily="34" charset="-122"/>
                          <a:cs typeface="Montserrat" pitchFamily="34" charset="-120"/>
                        </a:rPr>
                        <a:t>Granularity</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BF1F3"/>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Full URL path and category</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FFFFF"/>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Domain name only</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3"/>
                  </a:ext>
                </a:extLst>
              </a:tr>
              <a:tr h="530352">
                <a:tc>
                  <a:txBody>
                    <a:bodyPr/>
                    <a:lstStyle/>
                    <a:p>
                      <a:pPr marL="0" indent="0">
                        <a:buNone/>
                      </a:pPr>
                      <a:r>
                        <a:rPr lang="en-US" sz="1300" b="1" dirty="0">
                          <a:solidFill>
                            <a:srgbClr val="7A0019"/>
                          </a:solidFill>
                          <a:latin typeface="Montserrat" pitchFamily="34" charset="0"/>
                          <a:ea typeface="Montserrat" pitchFamily="34" charset="-122"/>
                          <a:cs typeface="Montserrat" pitchFamily="34" charset="-120"/>
                        </a:rPr>
                        <a:t>Best at</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BF1F3"/>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Acceptable-use policy, phishing pages</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AF6F7"/>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C2, DGA, tunneling, infected-host detection</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AF6F7"/>
                    </a:solidFill>
                  </a:tcPr>
                </a:tc>
                <a:extLst>
                  <a:ext uri="{0D108BD9-81ED-4DB2-BD59-A6C34878D82A}">
                    <a16:rowId xmlns:a16="http://schemas.microsoft.com/office/drawing/2014/main" val="10004"/>
                  </a:ext>
                </a:extLst>
              </a:tr>
              <a:tr h="530352">
                <a:tc>
                  <a:txBody>
                    <a:bodyPr/>
                    <a:lstStyle/>
                    <a:p>
                      <a:pPr marL="0" indent="0">
                        <a:buNone/>
                      </a:pPr>
                      <a:r>
                        <a:rPr lang="en-US" sz="1300" b="1" dirty="0">
                          <a:solidFill>
                            <a:srgbClr val="7A0019"/>
                          </a:solidFill>
                          <a:latin typeface="Montserrat" pitchFamily="34" charset="0"/>
                          <a:ea typeface="Montserrat" pitchFamily="34" charset="-122"/>
                          <a:cs typeface="Montserrat" pitchFamily="34" charset="-120"/>
                        </a:rPr>
                        <a:t>Logs to</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BF1F3"/>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URL Filtering log</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FFFFF"/>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Threat log</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5"/>
                  </a:ext>
                </a:extLst>
              </a:tr>
            </a:tbl>
          </a:graphicData>
        </a:graphic>
      </p:graphicFrame>
      <p:sp>
        <p:nvSpPr>
          <p:cNvPr id="8" name="Text 4"/>
          <p:cNvSpPr/>
          <p:nvPr/>
        </p:nvSpPr>
        <p:spPr>
          <a:xfrm>
            <a:off x="548640" y="4754880"/>
            <a:ext cx="10972800" cy="365760"/>
          </a:xfrm>
          <a:prstGeom prst="rect">
            <a:avLst/>
          </a:prstGeom>
          <a:noFill/>
          <a:ln/>
        </p:spPr>
        <p:txBody>
          <a:bodyPr wrap="square" lIns="0" tIns="0" rIns="0" bIns="0" rtlCol="0" anchor="t"/>
          <a:lstStyle/>
          <a:p>
            <a:pPr marL="0" indent="0">
              <a:buNone/>
            </a:pPr>
            <a:r>
              <a:rPr lang="en-US" sz="1250" i="1" dirty="0">
                <a:solidFill>
                  <a:srgbClr val="5A5A5A"/>
                </a:solidFill>
                <a:latin typeface="Montserrat" pitchFamily="34" charset="0"/>
                <a:ea typeface="Montserrat" pitchFamily="34" charset="-122"/>
                <a:cs typeface="Montserrat" pitchFamily="34" charset="-120"/>
              </a:rPr>
              <a:t>Use both. Each one catches what the other misses.</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868680" y="2148840"/>
            <a:ext cx="5486400" cy="365760"/>
          </a:xfrm>
          <a:prstGeom prst="rect">
            <a:avLst/>
          </a:prstGeom>
          <a:noFill/>
          <a:ln/>
        </p:spPr>
        <p:txBody>
          <a:bodyPr wrap="square" lIns="0" tIns="0" rIns="0" bIns="0" rtlCol="0" anchor="ctr"/>
          <a:lstStyle/>
          <a:p>
            <a:pPr marL="0" indent="0">
              <a:buNone/>
            </a:pPr>
            <a:r>
              <a:rPr lang="en-US" sz="1600" b="1" kern="0" spc="300" dirty="0">
                <a:solidFill>
                  <a:srgbClr val="FDB71A"/>
                </a:solidFill>
                <a:latin typeface="Poppins" pitchFamily="34" charset="0"/>
                <a:ea typeface="Poppins" pitchFamily="34" charset="-122"/>
                <a:cs typeface="Poppins" pitchFamily="34" charset="-120"/>
              </a:rPr>
              <a:t>LESSON 5</a:t>
            </a:r>
            <a:endParaRPr lang="en-US" sz="1600" dirty="0"/>
          </a:p>
        </p:txBody>
      </p:sp>
      <p:sp>
        <p:nvSpPr>
          <p:cNvPr id="3" name="Text 0"/>
          <p:cNvSpPr>
            <a:spLocks noGrp="1"/>
          </p:cNvSpPr>
          <p:nvPr>
            <p:ph type="title" idx="100" hasCustomPrompt="1"/>
          </p:nvPr>
        </p:nvSpPr>
        <p:spPr>
          <a:xfrm>
            <a:off x="822960" y="2743200"/>
            <a:ext cx="8778240" cy="1371600"/>
          </a:xfrm>
          <a:prstGeom prst="rect">
            <a:avLst/>
          </a:prstGeom>
          <a:noFill/>
          <a:ln/>
        </p:spPr>
        <p:txBody>
          <a:bodyPr wrap="square" rtlCol="0"/>
          <a:lstStyle/>
          <a:p>
            <a:pPr marL="0" indent="0" algn="l">
              <a:buNone/>
            </a:pPr>
            <a:r>
              <a:rPr lang="en-US" sz="3800" b="1" dirty="0">
                <a:solidFill>
                  <a:srgbClr val="FFFFFF"/>
                </a:solidFill>
                <a:latin typeface="Poppins" pitchFamily="34" charset="0"/>
                <a:ea typeface="Poppins" pitchFamily="34" charset="-122"/>
                <a:cs typeface="Poppins" pitchFamily="34" charset="-120"/>
              </a:rPr>
              <a:t>Troubleshooting Filtering Issues</a:t>
            </a:r>
            <a:endParaRPr lang="en-US" sz="3800" dirty="0"/>
          </a:p>
        </p:txBody>
      </p:sp>
      <p:sp>
        <p:nvSpPr>
          <p:cNvPr id="4" name="Shape 2"/>
          <p:cNvSpPr/>
          <p:nvPr/>
        </p:nvSpPr>
        <p:spPr>
          <a:xfrm>
            <a:off x="868680" y="4069080"/>
            <a:ext cx="1463040" cy="54864"/>
          </a:xfrm>
          <a:prstGeom prst="rect">
            <a:avLst/>
          </a:prstGeom>
          <a:solidFill>
            <a:srgbClr val="FDB71A"/>
          </a:solidFill>
          <a:ln/>
        </p:spPr>
        <p:txBody>
          <a:bodyPr/>
          <a:lstStyle/>
          <a:p>
            <a:endParaRPr lang="en-US"/>
          </a:p>
        </p:txBody>
      </p:sp>
      <p:sp>
        <p:nvSpPr>
          <p:cNvPr id="5" name="Shape 3"/>
          <p:cNvSpPr/>
          <p:nvPr/>
        </p:nvSpPr>
        <p:spPr>
          <a:xfrm>
            <a:off x="9784080" y="960120"/>
            <a:ext cx="1554480" cy="1554480"/>
          </a:xfrm>
          <a:prstGeom prst="ellipse">
            <a:avLst/>
          </a:prstGeom>
          <a:solidFill>
            <a:srgbClr val="FDB71A"/>
          </a:solidFill>
          <a:ln/>
        </p:spPr>
        <p:txBody>
          <a:bodyPr/>
          <a:lstStyle/>
          <a:p>
            <a:endParaRPr lang="en-US"/>
          </a:p>
        </p:txBody>
      </p:sp>
      <p:pic>
        <p:nvPicPr>
          <p:cNvPr id="6" name="Image 0" descr="Troubleshooting Filtering Issues lesson icon"/>
          <p:cNvPicPr>
            <a:picLocks noChangeAspect="1"/>
          </p:cNvPicPr>
          <p:nvPr/>
        </p:nvPicPr>
        <p:blipFill>
          <a:blip r:embed="rId3"/>
          <a:stretch>
            <a:fillRect/>
          </a:stretch>
        </p:blipFill>
        <p:spPr>
          <a:xfrm>
            <a:off x="10158984" y="1335024"/>
            <a:ext cx="804672" cy="804672"/>
          </a:xfrm>
          <a:prstGeom prst="rect">
            <a:avLst/>
          </a:prstGeom>
        </p:spPr>
      </p:pic>
      <p:sp>
        <p:nvSpPr>
          <p:cNvPr id="7" name="Text 4"/>
          <p:cNvSpPr/>
          <p:nvPr/>
        </p:nvSpPr>
        <p:spPr>
          <a:xfrm>
            <a:off x="868680" y="6309360"/>
            <a:ext cx="8229600" cy="274320"/>
          </a:xfrm>
          <a:prstGeom prst="rect">
            <a:avLst/>
          </a:prstGeom>
          <a:noFill/>
          <a:ln/>
        </p:spPr>
        <p:txBody>
          <a:bodyPr wrap="square" lIns="0" tIns="0" rIns="0" bIns="0" rtlCol="0" anchor="ctr"/>
          <a:lstStyle/>
          <a:p>
            <a:pPr marL="0" indent="0">
              <a:buNone/>
            </a:pPr>
            <a:r>
              <a:rPr lang="en-US" sz="1000" dirty="0">
                <a:solidFill>
                  <a:srgbClr val="F3E7EA"/>
                </a:solidFill>
                <a:latin typeface="Montserrat" pitchFamily="34" charset="0"/>
                <a:ea typeface="Montserrat" pitchFamily="34" charset="-122"/>
                <a:cs typeface="Montserrat" pitchFamily="34" charset="-120"/>
              </a:rPr>
              <a:t>Information Security 2 · Unit 10 · Web Content Filtering</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65760"/>
            <a:ext cx="11155680" cy="658368"/>
          </a:xfrm>
          <a:prstGeom prst="rect">
            <a:avLst/>
          </a:prstGeom>
          <a:noFill/>
          <a:ln/>
        </p:spPr>
        <p:txBody>
          <a:bodyPr wrap="square" rtlCol="0"/>
          <a:lstStyle/>
          <a:p>
            <a:pPr marL="0" indent="0" algn="l">
              <a:buNone/>
            </a:pPr>
            <a:r>
              <a:rPr lang="en-US" sz="2500" b="1" dirty="0">
                <a:solidFill>
                  <a:srgbClr val="7A0019"/>
                </a:solidFill>
                <a:latin typeface="Poppins" pitchFamily="34" charset="0"/>
                <a:ea typeface="Poppins" pitchFamily="34" charset="-122"/>
                <a:cs typeface="Poppins" pitchFamily="34" charset="-120"/>
              </a:rPr>
              <a:t>Action Precedence</a:t>
            </a:r>
            <a:endParaRPr lang="en-US" sz="2500" dirty="0"/>
          </a:p>
        </p:txBody>
      </p:sp>
      <p:sp>
        <p:nvSpPr>
          <p:cNvPr id="3" name="Shape 1"/>
          <p:cNvSpPr/>
          <p:nvPr/>
        </p:nvSpPr>
        <p:spPr>
          <a:xfrm>
            <a:off x="521208" y="1042416"/>
            <a:ext cx="914400" cy="54864"/>
          </a:xfrm>
          <a:prstGeom prst="rect">
            <a:avLst/>
          </a:prstGeom>
          <a:solidFill>
            <a:srgbClr val="FDB71A"/>
          </a:solidFill>
          <a:ln/>
        </p:spPr>
        <p:txBody>
          <a:bodyPr/>
          <a:lstStyle/>
          <a:p>
            <a:endParaRPr lang="en-US"/>
          </a:p>
        </p:txBody>
      </p:sp>
      <p:sp>
        <p:nvSpPr>
          <p:cNvPr id="4" name="Text 2"/>
          <p:cNvSpPr/>
          <p:nvPr/>
        </p:nvSpPr>
        <p:spPr>
          <a:xfrm>
            <a:off x="502920" y="6437376"/>
            <a:ext cx="8229600" cy="274320"/>
          </a:xfrm>
          <a:prstGeom prst="rect">
            <a:avLst/>
          </a:prstGeom>
          <a:noFill/>
          <a:ln/>
        </p:spPr>
        <p:txBody>
          <a:bodyPr wrap="square" lIns="0" tIns="0" rIns="0" bIns="0" rtlCol="0" anchor="ctr"/>
          <a:lstStyle/>
          <a:p>
            <a:pPr marL="0" indent="0">
              <a:buNone/>
            </a:pPr>
            <a:r>
              <a:rPr lang="en-US" sz="900" dirty="0">
                <a:solidFill>
                  <a:srgbClr val="5A5A5A"/>
                </a:solidFill>
                <a:latin typeface="Montserrat" pitchFamily="34" charset="0"/>
                <a:ea typeface="Montserrat" pitchFamily="34" charset="-122"/>
                <a:cs typeface="Montserrat" pitchFamily="34" charset="-120"/>
              </a:rPr>
              <a:t>Information Security 2 · Unit 10 · Web Content Filtering</a:t>
            </a:r>
            <a:endParaRPr lang="en-US" sz="900" dirty="0"/>
          </a:p>
        </p:txBody>
      </p:sp>
      <p:sp>
        <p:nvSpPr>
          <p:cNvPr id="5" name="Text 3"/>
          <p:cNvSpPr/>
          <p:nvPr/>
        </p:nvSpPr>
        <p:spPr>
          <a:xfrm>
            <a:off x="11247120" y="6437376"/>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Montserrat" pitchFamily="34" charset="0"/>
                <a:ea typeface="Montserrat" pitchFamily="34" charset="-122"/>
                <a:cs typeface="Montserrat" pitchFamily="34" charset="-120"/>
              </a:rPr>
              <a:t>27</a:t>
            </a:r>
            <a:endParaRPr lang="en-US" sz="900" dirty="0"/>
          </a:p>
        </p:txBody>
      </p:sp>
      <p:sp>
        <p:nvSpPr>
          <p:cNvPr id="7" name="Text 4"/>
          <p:cNvSpPr/>
          <p:nvPr/>
        </p:nvSpPr>
        <p:spPr>
          <a:xfrm>
            <a:off x="548640" y="1371600"/>
            <a:ext cx="10972800" cy="365760"/>
          </a:xfrm>
          <a:prstGeom prst="rect">
            <a:avLst/>
          </a:prstGeom>
          <a:noFill/>
          <a:ln/>
        </p:spPr>
        <p:txBody>
          <a:bodyPr wrap="square" lIns="0" tIns="0" rIns="0" bIns="0" rtlCol="0" anchor="t"/>
          <a:lstStyle/>
          <a:p>
            <a:pPr marL="0" indent="0">
              <a:buNone/>
            </a:pPr>
            <a:r>
              <a:rPr lang="en-US" sz="1400" dirty="0">
                <a:solidFill>
                  <a:srgbClr val="5A5A5A"/>
                </a:solidFill>
                <a:latin typeface="Montserrat" pitchFamily="34" charset="0"/>
                <a:ea typeface="Montserrat" pitchFamily="34" charset="-122"/>
                <a:cs typeface="Montserrat" pitchFamily="34" charset="-120"/>
              </a:rPr>
              <a:t>The firewall evaluates a web request in this order:</a:t>
            </a:r>
            <a:endParaRPr lang="en-US" sz="14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2514600"/>
        </p:xfrm>
        <a:graphic>
          <a:graphicData uri="http://schemas.openxmlformats.org/drawingml/2006/table">
            <a:tbl>
              <a:tblPr/>
              <a:tblGrid>
                <a:gridCol w="82296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gridCol w="5120640">
                  <a:extLst>
                    <a:ext uri="{9D8B030D-6E8A-4147-A177-3AD203B41FA5}">
                      <a16:colId xmlns:a16="http://schemas.microsoft.com/office/drawing/2014/main" val="20002"/>
                    </a:ext>
                  </a:extLst>
                </a:gridCol>
              </a:tblGrid>
              <a:tr h="502920">
                <a:tc>
                  <a:txBody>
                    <a:bodyPr/>
                    <a:lstStyle/>
                    <a:p>
                      <a:pPr marL="0" indent="0">
                        <a:buNone/>
                      </a:pPr>
                      <a:endParaRPr lang="en-US" sz="1200" dirty="0"/>
                    </a:p>
                  </a:txBody>
                  <a:tcPr marL="76200" marR="76200" marT="38100" marB="38100" anchor="ctr">
                    <a:lnL w="0" cap="flat" cmpd="sng" algn="ctr">
                      <a:noFill/>
                    </a:lnL>
                    <a:lnR w="0" cap="flat" cmpd="sng" algn="ctr">
                      <a:noFill/>
                    </a:lnR>
                    <a:lnT w="12700" cap="flat" cmpd="sng" algn="ctr">
                      <a:solidFill>
                        <a:srgbClr val="D9D2D4"/>
                      </a:solidFill>
                      <a:prstDash val="solid"/>
                      <a:round/>
                      <a:headEnd type="none" w="med" len="med"/>
                      <a:tailEnd type="none" w="med" len="med"/>
                    </a:lnT>
                    <a:lnB w="0" cap="flat" cmpd="sng" algn="ctr">
                      <a:noFill/>
                    </a:lnB>
                    <a:solidFill>
                      <a:srgbClr val="7A0019"/>
                    </a:solidFill>
                  </a:tcPr>
                </a:tc>
                <a:tc>
                  <a:txBody>
                    <a:bodyPr/>
                    <a:lstStyle/>
                    <a:p>
                      <a:pPr marL="0" indent="0">
                        <a:buNone/>
                      </a:pPr>
                      <a:r>
                        <a:rPr lang="en-US" sz="1250" b="1" dirty="0">
                          <a:solidFill>
                            <a:srgbClr val="FFFFFF"/>
                          </a:solidFill>
                          <a:latin typeface="Poppins" pitchFamily="34" charset="0"/>
                          <a:ea typeface="Poppins" pitchFamily="34" charset="-122"/>
                          <a:cs typeface="Poppins" pitchFamily="34" charset="-120"/>
                        </a:rPr>
                        <a:t>Check</a:t>
                      </a:r>
                      <a:endParaRPr lang="en-US" sz="1200" dirty="0"/>
                    </a:p>
                  </a:txBody>
                  <a:tcPr marL="76200" marR="76200" marT="38100" marB="38100" anchor="ctr">
                    <a:lnL w="0" cap="flat" cmpd="sng" algn="ctr">
                      <a:noFill/>
                    </a:lnL>
                    <a:lnR w="0" cap="flat" cmpd="sng" algn="ctr">
                      <a:noFill/>
                    </a:lnR>
                    <a:lnT w="12700" cap="flat" cmpd="sng" algn="ctr">
                      <a:solidFill>
                        <a:srgbClr val="D9D2D4"/>
                      </a:solidFill>
                      <a:prstDash val="solid"/>
                      <a:round/>
                      <a:headEnd type="none" w="med" len="med"/>
                      <a:tailEnd type="none" w="med" len="med"/>
                    </a:lnT>
                    <a:lnB w="0" cap="flat" cmpd="sng" algn="ctr">
                      <a:noFill/>
                    </a:lnB>
                    <a:solidFill>
                      <a:srgbClr val="7A0019"/>
                    </a:solidFill>
                  </a:tcPr>
                </a:tc>
                <a:tc>
                  <a:txBody>
                    <a:bodyPr/>
                    <a:lstStyle/>
                    <a:p>
                      <a:pPr marL="0" indent="0">
                        <a:buNone/>
                      </a:pPr>
                      <a:r>
                        <a:rPr lang="en-US" sz="1250" b="1" dirty="0">
                          <a:solidFill>
                            <a:srgbClr val="FFFFFF"/>
                          </a:solidFill>
                          <a:latin typeface="Poppins" pitchFamily="34" charset="0"/>
                          <a:ea typeface="Poppins" pitchFamily="34" charset="-122"/>
                          <a:cs typeface="Poppins" pitchFamily="34" charset="-120"/>
                        </a:rPr>
                        <a:t>Result</a:t>
                      </a:r>
                      <a:endParaRPr lang="en-US" sz="1200" dirty="0"/>
                    </a:p>
                  </a:txBody>
                  <a:tcPr marL="76200" marR="76200" marT="38100" marB="38100" anchor="ctr">
                    <a:lnL w="0" cap="flat" cmpd="sng" algn="ctr">
                      <a:noFill/>
                    </a:lnL>
                    <a:lnR w="0" cap="flat" cmpd="sng" algn="ctr">
                      <a:noFill/>
                    </a:lnR>
                    <a:lnT w="12700" cap="flat" cmpd="sng" algn="ctr">
                      <a:solidFill>
                        <a:srgbClr val="D9D2D4"/>
                      </a:solidFill>
                      <a:prstDash val="solid"/>
                      <a:round/>
                      <a:headEnd type="none" w="med" len="med"/>
                      <a:tailEnd type="none" w="med" len="med"/>
                    </a:lnT>
                    <a:lnB w="0" cap="flat" cmpd="sng" algn="ctr">
                      <a:noFill/>
                    </a:lnB>
                    <a:solidFill>
                      <a:srgbClr val="7A0019"/>
                    </a:solidFill>
                  </a:tcPr>
                </a:tc>
                <a:extLst>
                  <a:ext uri="{0D108BD9-81ED-4DB2-BD59-A6C34878D82A}">
                    <a16:rowId xmlns:a16="http://schemas.microsoft.com/office/drawing/2014/main" val="10000"/>
                  </a:ext>
                </a:extLst>
              </a:tr>
              <a:tr h="502920">
                <a:tc>
                  <a:txBody>
                    <a:bodyPr/>
                    <a:lstStyle/>
                    <a:p>
                      <a:pPr marL="0" indent="0">
                        <a:buNone/>
                      </a:pPr>
                      <a:r>
                        <a:rPr lang="en-US" sz="1300" b="1" dirty="0">
                          <a:solidFill>
                            <a:srgbClr val="7A0019"/>
                          </a:solidFill>
                          <a:latin typeface="Montserrat" pitchFamily="34" charset="0"/>
                          <a:ea typeface="Montserrat" pitchFamily="34" charset="-122"/>
                          <a:cs typeface="Montserrat" pitchFamily="34" charset="-120"/>
                        </a:rPr>
                        <a:t>1</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BF1F3"/>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Security rule action</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FFFFF"/>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deny: blocked, no profile check</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300" b="1" dirty="0">
                          <a:solidFill>
                            <a:srgbClr val="7A0019"/>
                          </a:solidFill>
                          <a:latin typeface="Montserrat" pitchFamily="34" charset="0"/>
                          <a:ea typeface="Montserrat" pitchFamily="34" charset="-122"/>
                          <a:cs typeface="Montserrat" pitchFamily="34" charset="-120"/>
                        </a:rPr>
                        <a:t>2</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BF1F3"/>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Profile attached to the allow rule?</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AF6F7"/>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No: allowed</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AF6F7"/>
                    </a:solidFill>
                  </a:tcPr>
                </a:tc>
                <a:extLst>
                  <a:ext uri="{0D108BD9-81ED-4DB2-BD59-A6C34878D82A}">
                    <a16:rowId xmlns:a16="http://schemas.microsoft.com/office/drawing/2014/main" val="10002"/>
                  </a:ext>
                </a:extLst>
              </a:tr>
              <a:tr h="502920">
                <a:tc>
                  <a:txBody>
                    <a:bodyPr/>
                    <a:lstStyle/>
                    <a:p>
                      <a:pPr marL="0" indent="0">
                        <a:buNone/>
                      </a:pPr>
                      <a:r>
                        <a:rPr lang="en-US" sz="1300" b="1" dirty="0">
                          <a:solidFill>
                            <a:srgbClr val="7A0019"/>
                          </a:solidFill>
                          <a:latin typeface="Montserrat" pitchFamily="34" charset="0"/>
                          <a:ea typeface="Montserrat" pitchFamily="34" charset="-122"/>
                          <a:cs typeface="Montserrat" pitchFamily="34" charset="-120"/>
                        </a:rPr>
                        <a:t>3</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BF1F3"/>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URL in a custom category or EDL?</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FFFFF"/>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Custom action wins over predefined</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300" b="1" dirty="0">
                          <a:solidFill>
                            <a:srgbClr val="7A0019"/>
                          </a:solidFill>
                          <a:latin typeface="Montserrat" pitchFamily="34" charset="0"/>
                          <a:ea typeface="Montserrat" pitchFamily="34" charset="-122"/>
                          <a:cs typeface="Montserrat" pitchFamily="34" charset="-120"/>
                        </a:rPr>
                        <a:t>4</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BF1F3"/>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Predefined PAN-DB category action</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AF6F7"/>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allow, alert, block, continue, or override</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AF6F7"/>
                    </a:solidFill>
                  </a:tcPr>
                </a:tc>
                <a:extLst>
                  <a:ext uri="{0D108BD9-81ED-4DB2-BD59-A6C34878D82A}">
                    <a16:rowId xmlns:a16="http://schemas.microsoft.com/office/drawing/2014/main" val="10004"/>
                  </a:ext>
                </a:extLst>
              </a:tr>
            </a:tbl>
          </a:graphicData>
        </a:graphic>
      </p:graphicFrame>
      <p:sp>
        <p:nvSpPr>
          <p:cNvPr id="9" name="Shape 5"/>
          <p:cNvSpPr/>
          <p:nvPr/>
        </p:nvSpPr>
        <p:spPr>
          <a:xfrm>
            <a:off x="548640" y="4572000"/>
            <a:ext cx="11109960" cy="822960"/>
          </a:xfrm>
          <a:prstGeom prst="roundRect">
            <a:avLst>
              <a:gd name="adj" fmla="val 2222"/>
            </a:avLst>
          </a:prstGeom>
          <a:solidFill>
            <a:srgbClr val="FEF6E3"/>
          </a:solidFill>
          <a:ln/>
          <a:effectLst>
            <a:outerShdw blurRad="88900" dist="38100" dir="5400000" algn="bl" rotWithShape="0">
              <a:srgbClr val="000000">
                <a:alpha val="15000"/>
              </a:srgbClr>
            </a:outerShdw>
          </a:effectLst>
        </p:spPr>
        <p:txBody>
          <a:bodyPr/>
          <a:lstStyle/>
          <a:p>
            <a:endParaRPr lang="en-US"/>
          </a:p>
        </p:txBody>
      </p:sp>
      <p:sp>
        <p:nvSpPr>
          <p:cNvPr id="10" name="Text 6"/>
          <p:cNvSpPr/>
          <p:nvPr/>
        </p:nvSpPr>
        <p:spPr>
          <a:xfrm>
            <a:off x="777240" y="4572000"/>
            <a:ext cx="10698480" cy="822960"/>
          </a:xfrm>
          <a:prstGeom prst="rect">
            <a:avLst/>
          </a:prstGeom>
          <a:noFill/>
          <a:ln/>
        </p:spPr>
        <p:txBody>
          <a:bodyPr wrap="square" lIns="0" tIns="0" rIns="0" bIns="0" rtlCol="0" anchor="ctr"/>
          <a:lstStyle/>
          <a:p>
            <a:pPr marL="0" indent="0">
              <a:buNone/>
            </a:pPr>
            <a:r>
              <a:rPr lang="en-US" sz="1350" b="1" dirty="0">
                <a:solidFill>
                  <a:srgbClr val="7A0019"/>
                </a:solidFill>
                <a:latin typeface="Montserrat" pitchFamily="34" charset="0"/>
                <a:ea typeface="Montserrat" pitchFamily="34" charset="-122"/>
                <a:cs typeface="Montserrat" pitchFamily="34" charset="-120"/>
              </a:rPr>
              <a:t>Most common surprise:  </a:t>
            </a:r>
            <a:r>
              <a:rPr lang="en-US" sz="1350" dirty="0">
                <a:solidFill>
                  <a:srgbClr val="1F1A1B"/>
                </a:solidFill>
                <a:latin typeface="Montserrat" pitchFamily="34" charset="0"/>
                <a:ea typeface="Montserrat" pitchFamily="34" charset="-122"/>
                <a:cs typeface="Montserrat" pitchFamily="34" charset="-120"/>
              </a:rPr>
              <a:t>A site in a custom category set to block is blocked even if its PAN-DB category is set to allow.</a:t>
            </a:r>
            <a:endParaRPr lang="en-US"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65760"/>
            <a:ext cx="11155680" cy="658368"/>
          </a:xfrm>
          <a:prstGeom prst="rect">
            <a:avLst/>
          </a:prstGeom>
          <a:noFill/>
          <a:ln/>
        </p:spPr>
        <p:txBody>
          <a:bodyPr wrap="square" rtlCol="0"/>
          <a:lstStyle/>
          <a:p>
            <a:pPr marL="0" indent="0" algn="l">
              <a:buNone/>
            </a:pPr>
            <a:r>
              <a:rPr lang="en-US" sz="2500" b="1" dirty="0">
                <a:solidFill>
                  <a:srgbClr val="7A0019"/>
                </a:solidFill>
                <a:latin typeface="Poppins" pitchFamily="34" charset="0"/>
                <a:ea typeface="Poppins" pitchFamily="34" charset="-122"/>
                <a:cs typeface="Poppins" pitchFamily="34" charset="-120"/>
              </a:rPr>
              <a:t>Precedence in Practice</a:t>
            </a:r>
            <a:endParaRPr lang="en-US" sz="2500" dirty="0"/>
          </a:p>
        </p:txBody>
      </p:sp>
      <p:sp>
        <p:nvSpPr>
          <p:cNvPr id="3" name="Shape 1"/>
          <p:cNvSpPr/>
          <p:nvPr/>
        </p:nvSpPr>
        <p:spPr>
          <a:xfrm>
            <a:off x="521208" y="1042416"/>
            <a:ext cx="914400" cy="54864"/>
          </a:xfrm>
          <a:prstGeom prst="rect">
            <a:avLst/>
          </a:prstGeom>
          <a:solidFill>
            <a:srgbClr val="FDB71A"/>
          </a:solidFill>
          <a:ln/>
        </p:spPr>
        <p:txBody>
          <a:bodyPr/>
          <a:lstStyle/>
          <a:p>
            <a:endParaRPr lang="en-US"/>
          </a:p>
        </p:txBody>
      </p:sp>
      <p:sp>
        <p:nvSpPr>
          <p:cNvPr id="4" name="Text 2"/>
          <p:cNvSpPr/>
          <p:nvPr/>
        </p:nvSpPr>
        <p:spPr>
          <a:xfrm>
            <a:off x="502920" y="6437376"/>
            <a:ext cx="8229600" cy="274320"/>
          </a:xfrm>
          <a:prstGeom prst="rect">
            <a:avLst/>
          </a:prstGeom>
          <a:noFill/>
          <a:ln/>
        </p:spPr>
        <p:txBody>
          <a:bodyPr wrap="square" lIns="0" tIns="0" rIns="0" bIns="0" rtlCol="0" anchor="ctr"/>
          <a:lstStyle/>
          <a:p>
            <a:pPr marL="0" indent="0">
              <a:buNone/>
            </a:pPr>
            <a:r>
              <a:rPr lang="en-US" sz="900" dirty="0">
                <a:solidFill>
                  <a:srgbClr val="5A5A5A"/>
                </a:solidFill>
                <a:latin typeface="Montserrat" pitchFamily="34" charset="0"/>
                <a:ea typeface="Montserrat" pitchFamily="34" charset="-122"/>
                <a:cs typeface="Montserrat" pitchFamily="34" charset="-120"/>
              </a:rPr>
              <a:t>Information Security 2 · Unit 10 · Web Content Filtering</a:t>
            </a:r>
            <a:endParaRPr lang="en-US" sz="900" dirty="0"/>
          </a:p>
        </p:txBody>
      </p:sp>
      <p:sp>
        <p:nvSpPr>
          <p:cNvPr id="5" name="Text 3"/>
          <p:cNvSpPr/>
          <p:nvPr/>
        </p:nvSpPr>
        <p:spPr>
          <a:xfrm>
            <a:off x="11247120" y="6437376"/>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Montserrat" pitchFamily="34" charset="0"/>
                <a:ea typeface="Montserrat" pitchFamily="34" charset="-122"/>
                <a:cs typeface="Montserrat" pitchFamily="34" charset="-120"/>
              </a:rPr>
              <a:t>28</a:t>
            </a:r>
            <a:endParaRPr lang="en-US" sz="900" dirty="0"/>
          </a:p>
        </p:txBody>
      </p:sp>
      <p:sp>
        <p:nvSpPr>
          <p:cNvPr id="7" name="Text 4"/>
          <p:cNvSpPr/>
          <p:nvPr/>
        </p:nvSpPr>
        <p:spPr>
          <a:xfrm>
            <a:off x="548640" y="1371600"/>
            <a:ext cx="10972800" cy="365760"/>
          </a:xfrm>
          <a:prstGeom prst="rect">
            <a:avLst/>
          </a:prstGeom>
          <a:noFill/>
          <a:ln/>
        </p:spPr>
        <p:txBody>
          <a:bodyPr wrap="square" lIns="0" tIns="0" rIns="0" bIns="0" rtlCol="0" anchor="t"/>
          <a:lstStyle/>
          <a:p>
            <a:pPr marL="0" indent="0">
              <a:buNone/>
            </a:pPr>
            <a:r>
              <a:rPr lang="en-US" sz="1400" dirty="0">
                <a:solidFill>
                  <a:srgbClr val="5A5A5A"/>
                </a:solidFill>
                <a:latin typeface="Montserrat" pitchFamily="34" charset="0"/>
                <a:ea typeface="Montserrat" pitchFamily="34" charset="-122"/>
                <a:cs typeface="Montserrat" pitchFamily="34" charset="-120"/>
              </a:rPr>
              <a:t>Goal: let Pentesters-Grp reach hacking sites, except www.hackers9.com.</a:t>
            </a:r>
            <a:endParaRPr lang="en-US" sz="1400" dirty="0"/>
          </a:p>
        </p:txBody>
      </p:sp>
      <p:sp>
        <p:nvSpPr>
          <p:cNvPr id="8" name="Shape 5"/>
          <p:cNvSpPr/>
          <p:nvPr/>
        </p:nvSpPr>
        <p:spPr>
          <a:xfrm>
            <a:off x="521208" y="1847088"/>
            <a:ext cx="5449824" cy="2155850"/>
          </a:xfrm>
          <a:prstGeom prst="rect">
            <a:avLst/>
          </a:prstGeom>
          <a:solidFill>
            <a:srgbClr val="FFFFFF"/>
          </a:solidFill>
          <a:ln w="12700">
            <a:solidFill>
              <a:srgbClr val="D9D2D4"/>
            </a:solidFill>
            <a:prstDash val="solid"/>
          </a:ln>
        </p:spPr>
        <p:txBody>
          <a:bodyPr/>
          <a:lstStyle/>
          <a:p>
            <a:endParaRPr lang="en-US"/>
          </a:p>
        </p:txBody>
      </p:sp>
      <p:pic>
        <p:nvPicPr>
          <p:cNvPr id="9" name="Image 0" descr="Custom URL Category Denied-Hacking-URLs of type URL List containing www.hackers9.com"/>
          <p:cNvPicPr>
            <a:picLocks noChangeAspect="1"/>
          </p:cNvPicPr>
          <p:nvPr/>
        </p:nvPicPr>
        <p:blipFill>
          <a:blip r:embed="rId3"/>
          <a:stretch>
            <a:fillRect/>
          </a:stretch>
        </p:blipFill>
        <p:spPr>
          <a:xfrm>
            <a:off x="548640" y="1874520"/>
            <a:ext cx="5394960" cy="2100986"/>
          </a:xfrm>
          <a:prstGeom prst="rect">
            <a:avLst/>
          </a:prstGeom>
        </p:spPr>
      </p:pic>
      <p:sp>
        <p:nvSpPr>
          <p:cNvPr id="10" name="Shape 6"/>
          <p:cNvSpPr/>
          <p:nvPr/>
        </p:nvSpPr>
        <p:spPr>
          <a:xfrm>
            <a:off x="6535186" y="1847088"/>
            <a:ext cx="4943308" cy="2432304"/>
          </a:xfrm>
          <a:prstGeom prst="rect">
            <a:avLst/>
          </a:prstGeom>
          <a:solidFill>
            <a:srgbClr val="FFFFFF"/>
          </a:solidFill>
          <a:ln w="12700">
            <a:solidFill>
              <a:srgbClr val="D9D2D4"/>
            </a:solidFill>
            <a:prstDash val="solid"/>
          </a:ln>
        </p:spPr>
        <p:txBody>
          <a:bodyPr/>
          <a:lstStyle/>
          <a:p>
            <a:endParaRPr lang="en-US"/>
          </a:p>
        </p:txBody>
      </p:sp>
      <p:pic>
        <p:nvPicPr>
          <p:cNvPr id="11" name="Image 1" descr="Corporate-URL-Filtering profile with custom category Denied-Hacking-URLs set to block and predefined hacking set to continue"/>
          <p:cNvPicPr>
            <a:picLocks noChangeAspect="1"/>
          </p:cNvPicPr>
          <p:nvPr/>
        </p:nvPicPr>
        <p:blipFill>
          <a:blip r:embed="rId4"/>
          <a:stretch>
            <a:fillRect/>
          </a:stretch>
        </p:blipFill>
        <p:spPr>
          <a:xfrm>
            <a:off x="6562618" y="1874520"/>
            <a:ext cx="4888444" cy="2377440"/>
          </a:xfrm>
          <a:prstGeom prst="rect">
            <a:avLst/>
          </a:prstGeom>
        </p:spPr>
      </p:pic>
      <p:sp>
        <p:nvSpPr>
          <p:cNvPr id="12" name="Shape 7"/>
          <p:cNvSpPr/>
          <p:nvPr/>
        </p:nvSpPr>
        <p:spPr>
          <a:xfrm>
            <a:off x="548640" y="4617720"/>
            <a:ext cx="11109960" cy="822960"/>
          </a:xfrm>
          <a:prstGeom prst="roundRect">
            <a:avLst>
              <a:gd name="adj" fmla="val 2222"/>
            </a:avLst>
          </a:prstGeom>
          <a:solidFill>
            <a:srgbClr val="FBF1F3"/>
          </a:solidFill>
          <a:ln/>
          <a:effectLst>
            <a:outerShdw blurRad="88900" dist="38100" dir="5400000" algn="bl" rotWithShape="0">
              <a:srgbClr val="000000">
                <a:alpha val="15000"/>
              </a:srgbClr>
            </a:outerShdw>
          </a:effectLst>
        </p:spPr>
        <p:txBody>
          <a:bodyPr/>
          <a:lstStyle/>
          <a:p>
            <a:endParaRPr lang="en-US"/>
          </a:p>
        </p:txBody>
      </p:sp>
      <p:sp>
        <p:nvSpPr>
          <p:cNvPr id="13" name="Text 8"/>
          <p:cNvSpPr/>
          <p:nvPr/>
        </p:nvSpPr>
        <p:spPr>
          <a:xfrm>
            <a:off x="777240" y="4617720"/>
            <a:ext cx="10698480" cy="822960"/>
          </a:xfrm>
          <a:prstGeom prst="rect">
            <a:avLst/>
          </a:prstGeom>
          <a:noFill/>
          <a:ln/>
        </p:spPr>
        <p:txBody>
          <a:bodyPr wrap="square" lIns="0" tIns="0" rIns="0" bIns="0" rtlCol="0" anchor="ctr"/>
          <a:lstStyle/>
          <a:p>
            <a:pPr marL="0" indent="0">
              <a:buNone/>
            </a:pPr>
            <a:r>
              <a:rPr lang="en-US" sz="1350" b="1" dirty="0">
                <a:solidFill>
                  <a:srgbClr val="7A0019"/>
                </a:solidFill>
                <a:latin typeface="Montserrat" pitchFamily="34" charset="0"/>
                <a:ea typeface="Montserrat" pitchFamily="34" charset="-122"/>
                <a:cs typeface="Montserrat" pitchFamily="34" charset="-120"/>
              </a:rPr>
              <a:t>Result:  </a:t>
            </a:r>
            <a:r>
              <a:rPr lang="en-US" sz="1350" dirty="0">
                <a:solidFill>
                  <a:srgbClr val="1F1A1B"/>
                </a:solidFill>
                <a:latin typeface="Montserrat" pitchFamily="34" charset="0"/>
                <a:ea typeface="Montserrat" pitchFamily="34" charset="-122"/>
                <a:cs typeface="Montserrat" pitchFamily="34" charset="-120"/>
              </a:rPr>
              <a:t>www.hackers9.com matches both categories. The custom block wins, so the site is blocked.</a:t>
            </a:r>
            <a:endParaRPr lang="en-US" sz="13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65760"/>
            <a:ext cx="11155680" cy="658368"/>
          </a:xfrm>
          <a:prstGeom prst="rect">
            <a:avLst/>
          </a:prstGeom>
          <a:noFill/>
          <a:ln/>
        </p:spPr>
        <p:txBody>
          <a:bodyPr wrap="square" rtlCol="0"/>
          <a:lstStyle/>
          <a:p>
            <a:pPr marL="0" indent="0" algn="l">
              <a:buNone/>
            </a:pPr>
            <a:r>
              <a:rPr lang="en-US" sz="2500" b="1" dirty="0">
                <a:solidFill>
                  <a:srgbClr val="7A0019"/>
                </a:solidFill>
                <a:latin typeface="Poppins" pitchFamily="34" charset="0"/>
                <a:ea typeface="Poppins" pitchFamily="34" charset="-122"/>
                <a:cs typeface="Poppins" pitchFamily="34" charset="-120"/>
              </a:rPr>
              <a:t>unknown vs. not-resolved</a:t>
            </a:r>
            <a:endParaRPr lang="en-US" sz="2500" dirty="0"/>
          </a:p>
        </p:txBody>
      </p:sp>
      <p:sp>
        <p:nvSpPr>
          <p:cNvPr id="3" name="Shape 1"/>
          <p:cNvSpPr/>
          <p:nvPr/>
        </p:nvSpPr>
        <p:spPr>
          <a:xfrm>
            <a:off x="521208" y="1042416"/>
            <a:ext cx="914400" cy="54864"/>
          </a:xfrm>
          <a:prstGeom prst="rect">
            <a:avLst/>
          </a:prstGeom>
          <a:solidFill>
            <a:srgbClr val="FDB71A"/>
          </a:solidFill>
          <a:ln/>
        </p:spPr>
        <p:txBody>
          <a:bodyPr/>
          <a:lstStyle/>
          <a:p>
            <a:endParaRPr lang="en-US"/>
          </a:p>
        </p:txBody>
      </p:sp>
      <p:sp>
        <p:nvSpPr>
          <p:cNvPr id="4" name="Text 2"/>
          <p:cNvSpPr/>
          <p:nvPr/>
        </p:nvSpPr>
        <p:spPr>
          <a:xfrm>
            <a:off x="502920" y="6437376"/>
            <a:ext cx="8229600" cy="274320"/>
          </a:xfrm>
          <a:prstGeom prst="rect">
            <a:avLst/>
          </a:prstGeom>
          <a:noFill/>
          <a:ln/>
        </p:spPr>
        <p:txBody>
          <a:bodyPr wrap="square" lIns="0" tIns="0" rIns="0" bIns="0" rtlCol="0" anchor="ctr"/>
          <a:lstStyle/>
          <a:p>
            <a:pPr marL="0" indent="0">
              <a:buNone/>
            </a:pPr>
            <a:r>
              <a:rPr lang="en-US" sz="900" dirty="0">
                <a:solidFill>
                  <a:srgbClr val="5A5A5A"/>
                </a:solidFill>
                <a:latin typeface="Montserrat" pitchFamily="34" charset="0"/>
                <a:ea typeface="Montserrat" pitchFamily="34" charset="-122"/>
                <a:cs typeface="Montserrat" pitchFamily="34" charset="-120"/>
              </a:rPr>
              <a:t>Information Security 2 · Unit 10 · Web Content Filtering</a:t>
            </a:r>
            <a:endParaRPr lang="en-US" sz="900" dirty="0"/>
          </a:p>
        </p:txBody>
      </p:sp>
      <p:sp>
        <p:nvSpPr>
          <p:cNvPr id="5" name="Text 3"/>
          <p:cNvSpPr/>
          <p:nvPr/>
        </p:nvSpPr>
        <p:spPr>
          <a:xfrm>
            <a:off x="11247120" y="6437376"/>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Montserrat" pitchFamily="34" charset="0"/>
                <a:ea typeface="Montserrat" pitchFamily="34" charset="-122"/>
                <a:cs typeface="Montserrat" pitchFamily="34" charset="-120"/>
              </a:rPr>
              <a:t>29</a:t>
            </a:r>
            <a:endParaRPr lang="en-US" sz="900" dirty="0"/>
          </a:p>
        </p:txBody>
      </p:sp>
      <p:sp>
        <p:nvSpPr>
          <p:cNvPr id="7" name="Text 4"/>
          <p:cNvSpPr/>
          <p:nvPr/>
        </p:nvSpPr>
        <p:spPr>
          <a:xfrm>
            <a:off x="548640" y="1371600"/>
            <a:ext cx="10972800" cy="365760"/>
          </a:xfrm>
          <a:prstGeom prst="rect">
            <a:avLst/>
          </a:prstGeom>
          <a:noFill/>
          <a:ln/>
        </p:spPr>
        <p:txBody>
          <a:bodyPr wrap="square" lIns="0" tIns="0" rIns="0" bIns="0" rtlCol="0" anchor="t"/>
          <a:lstStyle/>
          <a:p>
            <a:pPr marL="0" indent="0">
              <a:buNone/>
            </a:pPr>
            <a:r>
              <a:rPr lang="en-US" sz="1400" dirty="0">
                <a:solidFill>
                  <a:srgbClr val="5A5A5A"/>
                </a:solidFill>
                <a:latin typeface="Montserrat" pitchFamily="34" charset="0"/>
                <a:ea typeface="Montserrat" pitchFamily="34" charset="-122"/>
                <a:cs typeface="Montserrat" pitchFamily="34" charset="-120"/>
              </a:rPr>
              <a:t>Two categories that point at very different problems:</a:t>
            </a:r>
            <a:endParaRPr lang="en-US" sz="14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1508760"/>
        </p:xfrm>
        <a:graphic>
          <a:graphicData uri="http://schemas.openxmlformats.org/drawingml/2006/table">
            <a:tbl>
              <a:tblPr/>
              <a:tblGrid>
                <a:gridCol w="237744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502920">
                <a:tc>
                  <a:txBody>
                    <a:bodyPr/>
                    <a:lstStyle/>
                    <a:p>
                      <a:pPr marL="0" indent="0">
                        <a:buNone/>
                      </a:pPr>
                      <a:r>
                        <a:rPr lang="en-US" sz="1250" b="1" dirty="0">
                          <a:solidFill>
                            <a:srgbClr val="FFFFFF"/>
                          </a:solidFill>
                          <a:latin typeface="Poppins" pitchFamily="34" charset="0"/>
                          <a:ea typeface="Poppins" pitchFamily="34" charset="-122"/>
                          <a:cs typeface="Poppins" pitchFamily="34" charset="-120"/>
                        </a:rPr>
                        <a:t>Category</a:t>
                      </a:r>
                      <a:endParaRPr lang="en-US" sz="1200" dirty="0"/>
                    </a:p>
                  </a:txBody>
                  <a:tcPr marL="76200" marR="76200" marT="38100" marB="38100" anchor="ctr">
                    <a:lnL w="0" cap="flat" cmpd="sng" algn="ctr">
                      <a:noFill/>
                    </a:lnL>
                    <a:lnR w="0" cap="flat" cmpd="sng" algn="ctr">
                      <a:noFill/>
                    </a:lnR>
                    <a:lnT w="12700" cap="flat" cmpd="sng" algn="ctr">
                      <a:solidFill>
                        <a:srgbClr val="D9D2D4"/>
                      </a:solidFill>
                      <a:prstDash val="solid"/>
                      <a:round/>
                      <a:headEnd type="none" w="med" len="med"/>
                      <a:tailEnd type="none" w="med" len="med"/>
                    </a:lnT>
                    <a:lnB w="0" cap="flat" cmpd="sng" algn="ctr">
                      <a:noFill/>
                    </a:lnB>
                    <a:solidFill>
                      <a:srgbClr val="7A0019"/>
                    </a:solidFill>
                  </a:tcPr>
                </a:tc>
                <a:tc>
                  <a:txBody>
                    <a:bodyPr/>
                    <a:lstStyle/>
                    <a:p>
                      <a:pPr marL="0" indent="0">
                        <a:buNone/>
                      </a:pPr>
                      <a:r>
                        <a:rPr lang="en-US" sz="1250" b="1" dirty="0">
                          <a:solidFill>
                            <a:srgbClr val="FFFFFF"/>
                          </a:solidFill>
                          <a:latin typeface="Poppins" pitchFamily="34" charset="0"/>
                          <a:ea typeface="Poppins" pitchFamily="34" charset="-122"/>
                          <a:cs typeface="Poppins" pitchFamily="34" charset="-120"/>
                        </a:rPr>
                        <a:t>Means</a:t>
                      </a:r>
                      <a:endParaRPr lang="en-US" sz="1200" dirty="0"/>
                    </a:p>
                  </a:txBody>
                  <a:tcPr marL="76200" marR="76200" marT="38100" marB="38100" anchor="ctr">
                    <a:lnL w="0" cap="flat" cmpd="sng" algn="ctr">
                      <a:noFill/>
                    </a:lnL>
                    <a:lnR w="0" cap="flat" cmpd="sng" algn="ctr">
                      <a:noFill/>
                    </a:lnR>
                    <a:lnT w="12700" cap="flat" cmpd="sng" algn="ctr">
                      <a:solidFill>
                        <a:srgbClr val="D9D2D4"/>
                      </a:solidFill>
                      <a:prstDash val="solid"/>
                      <a:round/>
                      <a:headEnd type="none" w="med" len="med"/>
                      <a:tailEnd type="none" w="med" len="med"/>
                    </a:lnT>
                    <a:lnB w="0" cap="flat" cmpd="sng" algn="ctr">
                      <a:noFill/>
                    </a:lnB>
                    <a:solidFill>
                      <a:srgbClr val="7A0019"/>
                    </a:solidFill>
                  </a:tcPr>
                </a:tc>
                <a:tc>
                  <a:txBody>
                    <a:bodyPr/>
                    <a:lstStyle/>
                    <a:p>
                      <a:pPr marL="0" indent="0">
                        <a:buNone/>
                      </a:pPr>
                      <a:r>
                        <a:rPr lang="en-US" sz="1250" b="1" dirty="0">
                          <a:solidFill>
                            <a:srgbClr val="FFFFFF"/>
                          </a:solidFill>
                          <a:latin typeface="Poppins" pitchFamily="34" charset="0"/>
                          <a:ea typeface="Poppins" pitchFamily="34" charset="-122"/>
                          <a:cs typeface="Poppins" pitchFamily="34" charset="-120"/>
                        </a:rPr>
                        <a:t>Recommended action</a:t>
                      </a:r>
                      <a:endParaRPr lang="en-US" sz="1200" dirty="0"/>
                    </a:p>
                  </a:txBody>
                  <a:tcPr marL="76200" marR="76200" marT="38100" marB="38100" anchor="ctr">
                    <a:lnL w="0" cap="flat" cmpd="sng" algn="ctr">
                      <a:noFill/>
                    </a:lnL>
                    <a:lnR w="0" cap="flat" cmpd="sng" algn="ctr">
                      <a:noFill/>
                    </a:lnR>
                    <a:lnT w="12700" cap="flat" cmpd="sng" algn="ctr">
                      <a:solidFill>
                        <a:srgbClr val="D9D2D4"/>
                      </a:solidFill>
                      <a:prstDash val="solid"/>
                      <a:round/>
                      <a:headEnd type="none" w="med" len="med"/>
                      <a:tailEnd type="none" w="med" len="med"/>
                    </a:lnT>
                    <a:lnB w="0" cap="flat" cmpd="sng" algn="ctr">
                      <a:noFill/>
                    </a:lnB>
                    <a:solidFill>
                      <a:srgbClr val="7A0019"/>
                    </a:solidFill>
                  </a:tcPr>
                </a:tc>
                <a:extLst>
                  <a:ext uri="{0D108BD9-81ED-4DB2-BD59-A6C34878D82A}">
                    <a16:rowId xmlns:a16="http://schemas.microsoft.com/office/drawing/2014/main" val="10000"/>
                  </a:ext>
                </a:extLst>
              </a:tr>
              <a:tr h="502920">
                <a:tc>
                  <a:txBody>
                    <a:bodyPr/>
                    <a:lstStyle/>
                    <a:p>
                      <a:pPr marL="0" indent="0">
                        <a:buNone/>
                      </a:pPr>
                      <a:r>
                        <a:rPr lang="en-US" sz="1300" b="1" dirty="0">
                          <a:solidFill>
                            <a:srgbClr val="7A0019"/>
                          </a:solidFill>
                          <a:latin typeface="Montserrat" pitchFamily="34" charset="0"/>
                          <a:ea typeface="Montserrat" pitchFamily="34" charset="-122"/>
                          <a:cs typeface="Montserrat" pitchFamily="34" charset="-120"/>
                        </a:rPr>
                        <a:t>unknown</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BF1F3"/>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PAN-DB was asked and has no category yet</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FFFFF"/>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block, after reviewing the log</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300" b="1" dirty="0">
                          <a:solidFill>
                            <a:srgbClr val="7A0019"/>
                          </a:solidFill>
                          <a:latin typeface="Montserrat" pitchFamily="34" charset="0"/>
                          <a:ea typeface="Montserrat" pitchFamily="34" charset="-122"/>
                          <a:cs typeface="Montserrat" pitchFamily="34" charset="-120"/>
                        </a:rPr>
                        <a:t>not-resolved</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BF1F3"/>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The firewall could not reach PAN-DB</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AF6F7"/>
                    </a:solidFill>
                  </a:tcPr>
                </a:tc>
                <a:tc>
                  <a:txBody>
                    <a:bodyPr/>
                    <a:lstStyle/>
                    <a:p>
                      <a:pPr marL="0" indent="0">
                        <a:buNone/>
                      </a:pPr>
                      <a:r>
                        <a:rPr lang="en-US" sz="1300" dirty="0">
                          <a:solidFill>
                            <a:srgbClr val="1F1A1B"/>
                          </a:solidFill>
                          <a:latin typeface="Montserrat" pitchFamily="34" charset="0"/>
                          <a:ea typeface="Montserrat" pitchFamily="34" charset="-122"/>
                          <a:cs typeface="Montserrat" pitchFamily="34" charset="-120"/>
                        </a:rPr>
                        <a:t>alert, then fix connectivity</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AF6F7"/>
                    </a:solidFill>
                  </a:tcPr>
                </a:tc>
                <a:extLst>
                  <a:ext uri="{0D108BD9-81ED-4DB2-BD59-A6C34878D82A}">
                    <a16:rowId xmlns:a16="http://schemas.microsoft.com/office/drawing/2014/main" val="10002"/>
                  </a:ext>
                </a:extLst>
              </a:tr>
            </a:tbl>
          </a:graphicData>
        </a:graphic>
      </p:graphicFrame>
      <p:sp>
        <p:nvSpPr>
          <p:cNvPr id="9" name="Shape 5"/>
          <p:cNvSpPr/>
          <p:nvPr/>
        </p:nvSpPr>
        <p:spPr>
          <a:xfrm>
            <a:off x="548640" y="3520440"/>
            <a:ext cx="11064240" cy="843280"/>
          </a:xfrm>
          <a:prstGeom prst="roundRect">
            <a:avLst>
              <a:gd name="adj" fmla="val 2169"/>
            </a:avLst>
          </a:prstGeom>
          <a:solidFill>
            <a:srgbClr val="FBF1F3"/>
          </a:solidFill>
          <a:ln/>
        </p:spPr>
        <p:txBody>
          <a:bodyPr/>
          <a:lstStyle/>
          <a:p>
            <a:endParaRPr lang="en-US"/>
          </a:p>
        </p:txBody>
      </p:sp>
      <p:sp>
        <p:nvSpPr>
          <p:cNvPr id="10" name="Text 6"/>
          <p:cNvSpPr/>
          <p:nvPr/>
        </p:nvSpPr>
        <p:spPr>
          <a:xfrm>
            <a:off x="731520" y="3520440"/>
            <a:ext cx="10698480" cy="843280"/>
          </a:xfrm>
          <a:prstGeom prst="rect">
            <a:avLst/>
          </a:prstGeom>
          <a:noFill/>
          <a:ln/>
        </p:spPr>
        <p:txBody>
          <a:bodyPr wrap="square" lIns="0" tIns="0" rIns="0" bIns="0" rtlCol="0" anchor="ctr"/>
          <a:lstStyle/>
          <a:p>
            <a:pPr marL="0" indent="0">
              <a:buNone/>
            </a:pPr>
            <a:r>
              <a:rPr lang="en-US" sz="1400" dirty="0">
                <a:solidFill>
                  <a:srgbClr val="5E0013"/>
                </a:solidFill>
                <a:latin typeface="Courier New" pitchFamily="34" charset="0"/>
                <a:ea typeface="Courier New" pitchFamily="34" charset="-122"/>
                <a:cs typeface="Courier New" pitchFamily="34" charset="-120"/>
              </a:rPr>
              <a:t>admin@firewall&gt; show url-cloud status</a:t>
            </a:r>
            <a:endParaRPr lang="en-US" sz="1400" dirty="0"/>
          </a:p>
          <a:p>
            <a:pPr marL="0" indent="0">
              <a:buNone/>
            </a:pPr>
            <a:r>
              <a:rPr lang="en-US" sz="1400" dirty="0">
                <a:solidFill>
                  <a:srgbClr val="5E0013"/>
                </a:solidFill>
                <a:latin typeface="Courier New" pitchFamily="34" charset="0"/>
                <a:ea typeface="Courier New" pitchFamily="34" charset="-122"/>
                <a:cs typeface="Courier New" pitchFamily="34" charset="-120"/>
              </a:rPr>
              <a:t>admin@firewall&gt; test url www.hacker9.com</a:t>
            </a:r>
            <a:endParaRPr lang="en-US" sz="1400" dirty="0"/>
          </a:p>
        </p:txBody>
      </p:sp>
      <p:sp>
        <p:nvSpPr>
          <p:cNvPr id="11" name="Text 7"/>
          <p:cNvSpPr/>
          <p:nvPr/>
        </p:nvSpPr>
        <p:spPr>
          <a:xfrm>
            <a:off x="548640" y="4572000"/>
            <a:ext cx="10972800" cy="365760"/>
          </a:xfrm>
          <a:prstGeom prst="rect">
            <a:avLst/>
          </a:prstGeom>
          <a:noFill/>
          <a:ln/>
        </p:spPr>
        <p:txBody>
          <a:bodyPr wrap="square" lIns="0" tIns="0" rIns="0" bIns="0" rtlCol="0" anchor="t"/>
          <a:lstStyle/>
          <a:p>
            <a:pPr marL="0" indent="0">
              <a:buNone/>
            </a:pPr>
            <a:r>
              <a:rPr lang="en-US" sz="1250" i="1" dirty="0">
                <a:solidFill>
                  <a:srgbClr val="5A5A5A"/>
                </a:solidFill>
                <a:latin typeface="Montserrat" pitchFamily="34" charset="0"/>
                <a:ea typeface="Montserrat" pitchFamily="34" charset="-122"/>
                <a:cs typeface="Montserrat" pitchFamily="34" charset="-120"/>
              </a:rPr>
              <a:t>Status should read connected. Also check Device &gt; Licenses and management-plane CPU on the Dashboard.</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65760"/>
            <a:ext cx="11155680" cy="658368"/>
          </a:xfrm>
          <a:prstGeom prst="rect">
            <a:avLst/>
          </a:prstGeom>
          <a:noFill/>
          <a:ln/>
        </p:spPr>
        <p:txBody>
          <a:bodyPr wrap="square" rtlCol="0"/>
          <a:lstStyle/>
          <a:p>
            <a:pPr marL="0" indent="0" algn="l">
              <a:buNone/>
            </a:pPr>
            <a:r>
              <a:rPr lang="en-US" sz="2500" b="1" dirty="0">
                <a:solidFill>
                  <a:srgbClr val="7A0019"/>
                </a:solidFill>
                <a:latin typeface="Poppins" pitchFamily="34" charset="0"/>
                <a:ea typeface="Poppins" pitchFamily="34" charset="-122"/>
                <a:cs typeface="Poppins" pitchFamily="34" charset="-120"/>
              </a:rPr>
              <a:t>Reading the URL Filtering Log</a:t>
            </a:r>
            <a:endParaRPr lang="en-US" sz="2500" dirty="0"/>
          </a:p>
        </p:txBody>
      </p:sp>
      <p:sp>
        <p:nvSpPr>
          <p:cNvPr id="3" name="Shape 1"/>
          <p:cNvSpPr/>
          <p:nvPr/>
        </p:nvSpPr>
        <p:spPr>
          <a:xfrm>
            <a:off x="521208" y="1042416"/>
            <a:ext cx="914400" cy="54864"/>
          </a:xfrm>
          <a:prstGeom prst="rect">
            <a:avLst/>
          </a:prstGeom>
          <a:solidFill>
            <a:srgbClr val="FDB71A"/>
          </a:solidFill>
          <a:ln/>
        </p:spPr>
        <p:txBody>
          <a:bodyPr/>
          <a:lstStyle/>
          <a:p>
            <a:endParaRPr lang="en-US"/>
          </a:p>
        </p:txBody>
      </p:sp>
      <p:sp>
        <p:nvSpPr>
          <p:cNvPr id="4" name="Text 2"/>
          <p:cNvSpPr/>
          <p:nvPr/>
        </p:nvSpPr>
        <p:spPr>
          <a:xfrm>
            <a:off x="502920" y="6437376"/>
            <a:ext cx="8229600" cy="274320"/>
          </a:xfrm>
          <a:prstGeom prst="rect">
            <a:avLst/>
          </a:prstGeom>
          <a:noFill/>
          <a:ln/>
        </p:spPr>
        <p:txBody>
          <a:bodyPr wrap="square" lIns="0" tIns="0" rIns="0" bIns="0" rtlCol="0" anchor="ctr"/>
          <a:lstStyle/>
          <a:p>
            <a:pPr marL="0" indent="0">
              <a:buNone/>
            </a:pPr>
            <a:r>
              <a:rPr lang="en-US" sz="900" dirty="0">
                <a:solidFill>
                  <a:srgbClr val="5A5A5A"/>
                </a:solidFill>
                <a:latin typeface="Montserrat" pitchFamily="34" charset="0"/>
                <a:ea typeface="Montserrat" pitchFamily="34" charset="-122"/>
                <a:cs typeface="Montserrat" pitchFamily="34" charset="-120"/>
              </a:rPr>
              <a:t>Information Security 2 · Unit 10 · Web Content Filtering</a:t>
            </a:r>
            <a:endParaRPr lang="en-US" sz="900" dirty="0"/>
          </a:p>
        </p:txBody>
      </p:sp>
      <p:sp>
        <p:nvSpPr>
          <p:cNvPr id="5" name="Text 3"/>
          <p:cNvSpPr/>
          <p:nvPr/>
        </p:nvSpPr>
        <p:spPr>
          <a:xfrm>
            <a:off x="11247120" y="6437376"/>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Montserrat" pitchFamily="34" charset="0"/>
                <a:ea typeface="Montserrat" pitchFamily="34" charset="-122"/>
                <a:cs typeface="Montserrat" pitchFamily="34" charset="-120"/>
              </a:rPr>
              <a:t>30</a:t>
            </a:r>
            <a:endParaRPr lang="en-US" sz="900" dirty="0"/>
          </a:p>
        </p:txBody>
      </p:sp>
      <p:sp>
        <p:nvSpPr>
          <p:cNvPr id="7" name="Text 4"/>
          <p:cNvSpPr/>
          <p:nvPr/>
        </p:nvSpPr>
        <p:spPr>
          <a:xfrm>
            <a:off x="548640" y="1371600"/>
            <a:ext cx="10972800" cy="365760"/>
          </a:xfrm>
          <a:prstGeom prst="rect">
            <a:avLst/>
          </a:prstGeom>
          <a:noFill/>
          <a:ln/>
        </p:spPr>
        <p:txBody>
          <a:bodyPr wrap="square" lIns="0" tIns="0" rIns="0" bIns="0" rtlCol="0" anchor="t"/>
          <a:lstStyle/>
          <a:p>
            <a:pPr marL="0" indent="0">
              <a:buNone/>
            </a:pPr>
            <a:r>
              <a:rPr lang="en-US" sz="1300" i="1" dirty="0">
                <a:solidFill>
                  <a:srgbClr val="5E0013"/>
                </a:solidFill>
                <a:latin typeface="Courier New" pitchFamily="34" charset="0"/>
                <a:ea typeface="Courier New" pitchFamily="34" charset="-122"/>
                <a:cs typeface="Courier New" pitchFamily="34" charset="-120"/>
              </a:rPr>
              <a:t>Monitor &gt; Logs &gt; URL Filtering</a:t>
            </a:r>
            <a:endParaRPr lang="en-US" sz="1300" dirty="0"/>
          </a:p>
        </p:txBody>
      </p:sp>
      <p:sp>
        <p:nvSpPr>
          <p:cNvPr id="8" name="Shape 5"/>
          <p:cNvSpPr/>
          <p:nvPr/>
        </p:nvSpPr>
        <p:spPr>
          <a:xfrm>
            <a:off x="2010090" y="1755648"/>
            <a:ext cx="8141341" cy="2249424"/>
          </a:xfrm>
          <a:prstGeom prst="rect">
            <a:avLst/>
          </a:prstGeom>
          <a:solidFill>
            <a:srgbClr val="FFFFFF"/>
          </a:solidFill>
          <a:ln w="12700">
            <a:solidFill>
              <a:srgbClr val="D9D2D4"/>
            </a:solidFill>
            <a:prstDash val="solid"/>
          </a:ln>
        </p:spPr>
        <p:txBody>
          <a:bodyPr/>
          <a:lstStyle/>
          <a:p>
            <a:endParaRPr lang="en-US"/>
          </a:p>
        </p:txBody>
      </p:sp>
      <p:pic>
        <p:nvPicPr>
          <p:cNvPr id="9" name="Image 0" descr="URL Filtering log entries for hidester.com and hacker9.com in the proxy-avoidance and hacking categories with action block-url"/>
          <p:cNvPicPr>
            <a:picLocks noChangeAspect="1"/>
          </p:cNvPicPr>
          <p:nvPr/>
        </p:nvPicPr>
        <p:blipFill>
          <a:blip r:embed="rId3"/>
          <a:stretch>
            <a:fillRect/>
          </a:stretch>
        </p:blipFill>
        <p:spPr>
          <a:xfrm>
            <a:off x="2037522" y="1783080"/>
            <a:ext cx="8086477" cy="2194560"/>
          </a:xfrm>
          <a:prstGeom prst="rect">
            <a:avLst/>
          </a:prstGeom>
        </p:spPr>
      </p:pic>
      <p:sp>
        <p:nvSpPr>
          <p:cNvPr id="10" name="Shape 6"/>
          <p:cNvSpPr/>
          <p:nvPr/>
        </p:nvSpPr>
        <p:spPr>
          <a:xfrm>
            <a:off x="548640" y="4251960"/>
            <a:ext cx="11064240" cy="822960"/>
          </a:xfrm>
          <a:prstGeom prst="roundRect">
            <a:avLst>
              <a:gd name="adj" fmla="val 2222"/>
            </a:avLst>
          </a:prstGeom>
          <a:solidFill>
            <a:srgbClr val="FBF1F3"/>
          </a:solidFill>
          <a:ln/>
        </p:spPr>
        <p:txBody>
          <a:bodyPr/>
          <a:lstStyle/>
          <a:p>
            <a:endParaRPr lang="en-US"/>
          </a:p>
        </p:txBody>
      </p:sp>
      <p:sp>
        <p:nvSpPr>
          <p:cNvPr id="11" name="Text 7"/>
          <p:cNvSpPr/>
          <p:nvPr/>
        </p:nvSpPr>
        <p:spPr>
          <a:xfrm>
            <a:off x="731520" y="4251960"/>
            <a:ext cx="10698480" cy="822960"/>
          </a:xfrm>
          <a:prstGeom prst="rect">
            <a:avLst/>
          </a:prstGeom>
          <a:noFill/>
          <a:ln/>
        </p:spPr>
        <p:txBody>
          <a:bodyPr wrap="square" lIns="0" tIns="0" rIns="0" bIns="0" rtlCol="0" anchor="ctr"/>
          <a:lstStyle/>
          <a:p>
            <a:pPr marL="0" indent="0">
              <a:buNone/>
            </a:pPr>
            <a:r>
              <a:rPr lang="en-US" sz="1350" dirty="0">
                <a:solidFill>
                  <a:srgbClr val="5E0013"/>
                </a:solidFill>
                <a:latin typeface="Courier New" pitchFamily="34" charset="0"/>
                <a:ea typeface="Courier New" pitchFamily="34" charset="-122"/>
                <a:cs typeface="Courier New" pitchFamily="34" charset="-120"/>
              </a:rPr>
              <a:t>( action eq block-url )                 ( category eq hacking )</a:t>
            </a:r>
            <a:endParaRPr lang="en-US" sz="1350" dirty="0"/>
          </a:p>
          <a:p>
            <a:pPr marL="0" indent="0">
              <a:buNone/>
            </a:pPr>
            <a:r>
              <a:rPr lang="en-US" sz="1350" dirty="0">
                <a:solidFill>
                  <a:srgbClr val="5E0013"/>
                </a:solidFill>
                <a:latin typeface="Courier New" pitchFamily="34" charset="0"/>
                <a:ea typeface="Courier New" pitchFamily="34" charset="-122"/>
                <a:cs typeface="Courier New" pitchFamily="34" charset="-120"/>
              </a:rPr>
              <a:t>( url contains nbcnews )                ( action eq block-continue )</a:t>
            </a:r>
            <a:endParaRPr lang="en-US" sz="1350" dirty="0"/>
          </a:p>
        </p:txBody>
      </p:sp>
      <p:sp>
        <p:nvSpPr>
          <p:cNvPr id="12" name="Text 8"/>
          <p:cNvSpPr/>
          <p:nvPr/>
        </p:nvSpPr>
        <p:spPr>
          <a:xfrm>
            <a:off x="548640" y="5257800"/>
            <a:ext cx="10972800" cy="365760"/>
          </a:xfrm>
          <a:prstGeom prst="rect">
            <a:avLst/>
          </a:prstGeom>
          <a:noFill/>
          <a:ln/>
        </p:spPr>
        <p:txBody>
          <a:bodyPr wrap="square" lIns="0" tIns="0" rIns="0" bIns="0" rtlCol="0" anchor="t"/>
          <a:lstStyle/>
          <a:p>
            <a:pPr marL="0" indent="0">
              <a:buNone/>
            </a:pPr>
            <a:r>
              <a:rPr lang="en-US" sz="1200" i="1" dirty="0">
                <a:solidFill>
                  <a:srgbClr val="5A5A5A"/>
                </a:solidFill>
                <a:latin typeface="Montserrat" pitchFamily="34" charset="0"/>
                <a:ea typeface="Montserrat" pitchFamily="34" charset="-122"/>
                <a:cs typeface="Montserrat" pitchFamily="34" charset="-120"/>
              </a:rPr>
              <a:t>Category is what triggered the action. URL Category List is every category the site matched.</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65760"/>
            <a:ext cx="11155680" cy="658368"/>
          </a:xfrm>
          <a:prstGeom prst="rect">
            <a:avLst/>
          </a:prstGeom>
          <a:noFill/>
          <a:ln/>
        </p:spPr>
        <p:txBody>
          <a:bodyPr wrap="square" rtlCol="0"/>
          <a:lstStyle/>
          <a:p>
            <a:pPr marL="0" indent="0" algn="l">
              <a:buNone/>
            </a:pPr>
            <a:r>
              <a:rPr lang="en-US" sz="2500" b="1" dirty="0">
                <a:solidFill>
                  <a:srgbClr val="7A0019"/>
                </a:solidFill>
                <a:latin typeface="Poppins" pitchFamily="34" charset="0"/>
                <a:ea typeface="Poppins" pitchFamily="34" charset="-122"/>
                <a:cs typeface="Poppins" pitchFamily="34" charset="-120"/>
              </a:rPr>
              <a:t>Miscategorized Sites</a:t>
            </a:r>
            <a:endParaRPr lang="en-US" sz="2500" dirty="0"/>
          </a:p>
        </p:txBody>
      </p:sp>
      <p:sp>
        <p:nvSpPr>
          <p:cNvPr id="3" name="Shape 1"/>
          <p:cNvSpPr/>
          <p:nvPr/>
        </p:nvSpPr>
        <p:spPr>
          <a:xfrm>
            <a:off x="521208" y="1042416"/>
            <a:ext cx="914400" cy="54864"/>
          </a:xfrm>
          <a:prstGeom prst="rect">
            <a:avLst/>
          </a:prstGeom>
          <a:solidFill>
            <a:srgbClr val="FDB71A"/>
          </a:solidFill>
          <a:ln/>
        </p:spPr>
        <p:txBody>
          <a:bodyPr/>
          <a:lstStyle/>
          <a:p>
            <a:endParaRPr lang="en-US"/>
          </a:p>
        </p:txBody>
      </p:sp>
      <p:sp>
        <p:nvSpPr>
          <p:cNvPr id="4" name="Text 2"/>
          <p:cNvSpPr/>
          <p:nvPr/>
        </p:nvSpPr>
        <p:spPr>
          <a:xfrm>
            <a:off x="502920" y="6437376"/>
            <a:ext cx="8229600" cy="274320"/>
          </a:xfrm>
          <a:prstGeom prst="rect">
            <a:avLst/>
          </a:prstGeom>
          <a:noFill/>
          <a:ln/>
        </p:spPr>
        <p:txBody>
          <a:bodyPr wrap="square" lIns="0" tIns="0" rIns="0" bIns="0" rtlCol="0" anchor="ctr"/>
          <a:lstStyle/>
          <a:p>
            <a:pPr marL="0" indent="0">
              <a:buNone/>
            </a:pPr>
            <a:r>
              <a:rPr lang="en-US" sz="900" dirty="0">
                <a:solidFill>
                  <a:srgbClr val="5A5A5A"/>
                </a:solidFill>
                <a:latin typeface="Montserrat" pitchFamily="34" charset="0"/>
                <a:ea typeface="Montserrat" pitchFamily="34" charset="-122"/>
                <a:cs typeface="Montserrat" pitchFamily="34" charset="-120"/>
              </a:rPr>
              <a:t>Information Security 2 · Unit 10 · Web Content Filtering</a:t>
            </a:r>
            <a:endParaRPr lang="en-US" sz="900" dirty="0"/>
          </a:p>
        </p:txBody>
      </p:sp>
      <p:sp>
        <p:nvSpPr>
          <p:cNvPr id="5" name="Text 3"/>
          <p:cNvSpPr/>
          <p:nvPr/>
        </p:nvSpPr>
        <p:spPr>
          <a:xfrm>
            <a:off x="11247120" y="6437376"/>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Montserrat" pitchFamily="34" charset="0"/>
                <a:ea typeface="Montserrat" pitchFamily="34" charset="-122"/>
                <a:cs typeface="Montserrat" pitchFamily="34" charset="-120"/>
              </a:rPr>
              <a:t>31</a:t>
            </a:r>
            <a:endParaRPr lang="en-US" sz="900" dirty="0"/>
          </a:p>
        </p:txBody>
      </p:sp>
      <p:sp>
        <p:nvSpPr>
          <p:cNvPr id="7" name="Text 4"/>
          <p:cNvSpPr/>
          <p:nvPr/>
        </p:nvSpPr>
        <p:spPr>
          <a:xfrm>
            <a:off x="548640" y="1371600"/>
            <a:ext cx="10972800" cy="365760"/>
          </a:xfrm>
          <a:prstGeom prst="rect">
            <a:avLst/>
          </a:prstGeom>
          <a:noFill/>
          <a:ln/>
        </p:spPr>
        <p:txBody>
          <a:bodyPr wrap="square" lIns="0" tIns="0" rIns="0" bIns="0" rtlCol="0" anchor="t"/>
          <a:lstStyle/>
          <a:p>
            <a:pPr marL="0" indent="0">
              <a:buNone/>
            </a:pPr>
            <a:r>
              <a:rPr lang="en-US" sz="1400" dirty="0">
                <a:solidFill>
                  <a:srgbClr val="5A5A5A"/>
                </a:solidFill>
                <a:latin typeface="Montserrat" pitchFamily="34" charset="0"/>
                <a:ea typeface="Montserrat" pitchFamily="34" charset="-122"/>
                <a:cs typeface="Montserrat" pitchFamily="34" charset="-120"/>
              </a:rPr>
              <a:t>When PAN-DB gets a site wrong, fix it locally now and request a change upstream.</a:t>
            </a:r>
            <a:endParaRPr lang="en-US" sz="1400" dirty="0"/>
          </a:p>
        </p:txBody>
      </p:sp>
      <p:sp>
        <p:nvSpPr>
          <p:cNvPr id="8" name="Shape 5"/>
          <p:cNvSpPr/>
          <p:nvPr/>
        </p:nvSpPr>
        <p:spPr>
          <a:xfrm>
            <a:off x="616428" y="1801368"/>
            <a:ext cx="5259385" cy="2706624"/>
          </a:xfrm>
          <a:prstGeom prst="rect">
            <a:avLst/>
          </a:prstGeom>
          <a:solidFill>
            <a:srgbClr val="FFFFFF"/>
          </a:solidFill>
          <a:ln w="12700">
            <a:solidFill>
              <a:srgbClr val="D9D2D4"/>
            </a:solidFill>
            <a:prstDash val="solid"/>
          </a:ln>
        </p:spPr>
        <p:txBody>
          <a:bodyPr/>
          <a:lstStyle/>
          <a:p>
            <a:endParaRPr lang="en-US"/>
          </a:p>
        </p:txBody>
      </p:sp>
      <p:pic>
        <p:nvPicPr>
          <p:cNvPr id="9" name="Image 0" descr="Request Categorization Change form opened from a URL Filtering log entry for static.foxnews.com"/>
          <p:cNvPicPr>
            <a:picLocks noChangeAspect="1"/>
          </p:cNvPicPr>
          <p:nvPr/>
        </p:nvPicPr>
        <p:blipFill>
          <a:blip r:embed="rId3"/>
          <a:stretch>
            <a:fillRect/>
          </a:stretch>
        </p:blipFill>
        <p:spPr>
          <a:xfrm>
            <a:off x="643860" y="1828800"/>
            <a:ext cx="5204521" cy="2651760"/>
          </a:xfrm>
          <a:prstGeom prst="rect">
            <a:avLst/>
          </a:prstGeom>
        </p:spPr>
      </p:pic>
      <p:sp>
        <p:nvSpPr>
          <p:cNvPr id="10" name="Shape 6"/>
          <p:cNvSpPr/>
          <p:nvPr/>
        </p:nvSpPr>
        <p:spPr>
          <a:xfrm>
            <a:off x="6338922" y="1801368"/>
            <a:ext cx="5335835" cy="2706624"/>
          </a:xfrm>
          <a:prstGeom prst="rect">
            <a:avLst/>
          </a:prstGeom>
          <a:solidFill>
            <a:srgbClr val="FFFFFF"/>
          </a:solidFill>
          <a:ln w="12700">
            <a:solidFill>
              <a:srgbClr val="D9D2D4"/>
            </a:solidFill>
            <a:prstDash val="solid"/>
          </a:ln>
        </p:spPr>
        <p:txBody>
          <a:bodyPr/>
          <a:lstStyle/>
          <a:p>
            <a:endParaRPr lang="en-US"/>
          </a:p>
        </p:txBody>
      </p:sp>
      <p:pic>
        <p:nvPicPr>
          <p:cNvPr id="11" name="Image 1" descr="Palo Alto Networks Test A Site page showing categories for a sample URL with a Request Change link"/>
          <p:cNvPicPr>
            <a:picLocks noChangeAspect="1"/>
          </p:cNvPicPr>
          <p:nvPr/>
        </p:nvPicPr>
        <p:blipFill>
          <a:blip r:embed="rId4"/>
          <a:stretch>
            <a:fillRect/>
          </a:stretch>
        </p:blipFill>
        <p:spPr>
          <a:xfrm>
            <a:off x="6366354" y="1828800"/>
            <a:ext cx="5280971" cy="2651760"/>
          </a:xfrm>
          <a:prstGeom prst="rect">
            <a:avLst/>
          </a:prstGeom>
        </p:spPr>
      </p:pic>
      <p:sp>
        <p:nvSpPr>
          <p:cNvPr id="12" name="Text 7"/>
          <p:cNvSpPr/>
          <p:nvPr/>
        </p:nvSpPr>
        <p:spPr>
          <a:xfrm>
            <a:off x="548640" y="4709160"/>
            <a:ext cx="10972800" cy="822960"/>
          </a:xfrm>
          <a:prstGeom prst="rect">
            <a:avLst/>
          </a:prstGeom>
          <a:noFill/>
          <a:ln/>
        </p:spPr>
        <p:txBody>
          <a:bodyPr wrap="square" lIns="0" tIns="0" rIns="0" bIns="0" rtlCol="0" anchor="t"/>
          <a:lstStyle/>
          <a:p>
            <a:pPr marL="177800" indent="-177800">
              <a:spcAft>
                <a:spcPts val="400"/>
              </a:spcAft>
              <a:buSzPct val="100000"/>
              <a:buChar char="•"/>
            </a:pPr>
            <a:r>
              <a:rPr lang="en-US" sz="1350" dirty="0">
                <a:solidFill>
                  <a:srgbClr val="1F1A1B"/>
                </a:solidFill>
                <a:latin typeface="Montserrat" pitchFamily="34" charset="0"/>
                <a:ea typeface="Montserrat" pitchFamily="34" charset="-122"/>
                <a:cs typeface="Montserrat" pitchFamily="34" charset="-120"/>
              </a:rPr>
              <a:t>From the log: open the entry's Details and click </a:t>
            </a:r>
            <a:r>
              <a:rPr lang="en-US" sz="1350" b="1" dirty="0">
                <a:solidFill>
                  <a:srgbClr val="1F1A1B"/>
                </a:solidFill>
                <a:latin typeface="Montserrat" pitchFamily="34" charset="0"/>
                <a:ea typeface="Montserrat" pitchFamily="34" charset="-122"/>
                <a:cs typeface="Montserrat" pitchFamily="34" charset="-120"/>
              </a:rPr>
              <a:t>Request Categorization Change</a:t>
            </a:r>
            <a:r>
              <a:rPr lang="en-US" sz="1350" dirty="0">
                <a:solidFill>
                  <a:srgbClr val="1F1A1B"/>
                </a:solidFill>
                <a:latin typeface="Montserrat" pitchFamily="34" charset="0"/>
                <a:ea typeface="Montserrat" pitchFamily="34" charset="-122"/>
                <a:cs typeface="Montserrat" pitchFamily="34" charset="-120"/>
              </a:rPr>
              <a:t>.</a:t>
            </a:r>
            <a:endParaRPr lang="en-US" sz="1350" dirty="0"/>
          </a:p>
          <a:p>
            <a:pPr marL="177800" indent="-177800">
              <a:spcAft>
                <a:spcPts val="400"/>
              </a:spcAft>
              <a:buSzPct val="100000"/>
              <a:buChar char="•"/>
            </a:pPr>
            <a:r>
              <a:rPr lang="en-US" sz="1350" dirty="0">
                <a:solidFill>
                  <a:srgbClr val="1F1A1B"/>
                </a:solidFill>
                <a:latin typeface="Montserrat" pitchFamily="34" charset="0"/>
                <a:ea typeface="Montserrat" pitchFamily="34" charset="-122"/>
                <a:cs typeface="Montserrat" pitchFamily="34" charset="-120"/>
              </a:rPr>
              <a:t>From the web: </a:t>
            </a:r>
            <a:r>
              <a:rPr lang="en-US" sz="1350" dirty="0">
                <a:solidFill>
                  <a:srgbClr val="5E0013"/>
                </a:solidFill>
                <a:latin typeface="Courier New" pitchFamily="34" charset="0"/>
                <a:ea typeface="Courier New" pitchFamily="34" charset="-122"/>
                <a:cs typeface="Courier New" pitchFamily="34" charset="-120"/>
              </a:rPr>
              <a:t>urlfiltering.paloaltonetworks.com</a:t>
            </a:r>
            <a:r>
              <a:rPr lang="en-US" sz="1350" dirty="0">
                <a:solidFill>
                  <a:srgbClr val="1F1A1B"/>
                </a:solidFill>
                <a:latin typeface="Montserrat" pitchFamily="34" charset="0"/>
                <a:ea typeface="Montserrat" pitchFamily="34" charset="-122"/>
                <a:cs typeface="Montserrat" pitchFamily="34" charset="-120"/>
              </a:rPr>
              <a:t> (Test A Site).</a:t>
            </a:r>
            <a:endParaRPr lang="en-US" sz="13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65760"/>
            <a:ext cx="11155680" cy="658368"/>
          </a:xfrm>
          <a:prstGeom prst="rect">
            <a:avLst/>
          </a:prstGeom>
          <a:noFill/>
          <a:ln/>
        </p:spPr>
        <p:txBody>
          <a:bodyPr wrap="square" rtlCol="0"/>
          <a:lstStyle/>
          <a:p>
            <a:pPr marL="0" indent="0" algn="l">
              <a:buNone/>
            </a:pPr>
            <a:r>
              <a:rPr lang="en-US" sz="2500" b="1" dirty="0">
                <a:solidFill>
                  <a:srgbClr val="7A0019"/>
                </a:solidFill>
                <a:latin typeface="Poppins" pitchFamily="34" charset="0"/>
                <a:ea typeface="Poppins" pitchFamily="34" charset="-122"/>
                <a:cs typeface="Poppins" pitchFamily="34" charset="-120"/>
              </a:rPr>
              <a:t>Troubleshooting Checklist</a:t>
            </a:r>
            <a:endParaRPr lang="en-US" sz="2500" dirty="0"/>
          </a:p>
        </p:txBody>
      </p:sp>
      <p:sp>
        <p:nvSpPr>
          <p:cNvPr id="3" name="Shape 1"/>
          <p:cNvSpPr/>
          <p:nvPr/>
        </p:nvSpPr>
        <p:spPr>
          <a:xfrm>
            <a:off x="521208" y="1042416"/>
            <a:ext cx="914400" cy="54864"/>
          </a:xfrm>
          <a:prstGeom prst="rect">
            <a:avLst/>
          </a:prstGeom>
          <a:solidFill>
            <a:srgbClr val="FDB71A"/>
          </a:solidFill>
          <a:ln/>
        </p:spPr>
        <p:txBody>
          <a:bodyPr/>
          <a:lstStyle/>
          <a:p>
            <a:endParaRPr lang="en-US"/>
          </a:p>
        </p:txBody>
      </p:sp>
      <p:sp>
        <p:nvSpPr>
          <p:cNvPr id="4" name="Text 2"/>
          <p:cNvSpPr/>
          <p:nvPr/>
        </p:nvSpPr>
        <p:spPr>
          <a:xfrm>
            <a:off x="502920" y="6437376"/>
            <a:ext cx="8229600" cy="274320"/>
          </a:xfrm>
          <a:prstGeom prst="rect">
            <a:avLst/>
          </a:prstGeom>
          <a:noFill/>
          <a:ln/>
        </p:spPr>
        <p:txBody>
          <a:bodyPr wrap="square" lIns="0" tIns="0" rIns="0" bIns="0" rtlCol="0" anchor="ctr"/>
          <a:lstStyle/>
          <a:p>
            <a:pPr marL="0" indent="0">
              <a:buNone/>
            </a:pPr>
            <a:r>
              <a:rPr lang="en-US" sz="900" dirty="0">
                <a:solidFill>
                  <a:srgbClr val="5A5A5A"/>
                </a:solidFill>
                <a:latin typeface="Montserrat" pitchFamily="34" charset="0"/>
                <a:ea typeface="Montserrat" pitchFamily="34" charset="-122"/>
                <a:cs typeface="Montserrat" pitchFamily="34" charset="-120"/>
              </a:rPr>
              <a:t>Information Security 2 · Unit 10 · Web Content Filtering</a:t>
            </a:r>
            <a:endParaRPr lang="en-US" sz="900" dirty="0"/>
          </a:p>
        </p:txBody>
      </p:sp>
      <p:sp>
        <p:nvSpPr>
          <p:cNvPr id="5" name="Text 3"/>
          <p:cNvSpPr/>
          <p:nvPr/>
        </p:nvSpPr>
        <p:spPr>
          <a:xfrm>
            <a:off x="11247120" y="6437376"/>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Montserrat" pitchFamily="34" charset="0"/>
                <a:ea typeface="Montserrat" pitchFamily="34" charset="-122"/>
                <a:cs typeface="Montserrat" pitchFamily="34" charset="-120"/>
              </a:rPr>
              <a:t>32</a:t>
            </a:r>
            <a:endParaRPr lang="en-US" sz="9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3401568"/>
        </p:xfrm>
        <a:graphic>
          <a:graphicData uri="http://schemas.openxmlformats.org/drawingml/2006/table">
            <a:tbl>
              <a:tblPr/>
              <a:tblGrid>
                <a:gridCol w="329184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566928">
                <a:tc>
                  <a:txBody>
                    <a:bodyPr/>
                    <a:lstStyle/>
                    <a:p>
                      <a:pPr marL="0" indent="0">
                        <a:buNone/>
                      </a:pPr>
                      <a:r>
                        <a:rPr lang="en-US" sz="1250" b="1" dirty="0">
                          <a:solidFill>
                            <a:srgbClr val="FFFFFF"/>
                          </a:solidFill>
                          <a:latin typeface="Poppins" pitchFamily="34" charset="0"/>
                          <a:ea typeface="Poppins" pitchFamily="34" charset="-122"/>
                          <a:cs typeface="Poppins" pitchFamily="34" charset="-120"/>
                        </a:rPr>
                        <a:t>Symptom</a:t>
                      </a:r>
                      <a:endParaRPr lang="en-US" sz="1200" dirty="0"/>
                    </a:p>
                  </a:txBody>
                  <a:tcPr marL="76200" marR="76200" marT="38100" marB="38100" anchor="ctr">
                    <a:lnL w="0" cap="flat" cmpd="sng" algn="ctr">
                      <a:noFill/>
                    </a:lnL>
                    <a:lnR w="0" cap="flat" cmpd="sng" algn="ctr">
                      <a:noFill/>
                    </a:lnR>
                    <a:lnT w="12700" cap="flat" cmpd="sng" algn="ctr">
                      <a:solidFill>
                        <a:srgbClr val="D9D2D4"/>
                      </a:solidFill>
                      <a:prstDash val="solid"/>
                      <a:round/>
                      <a:headEnd type="none" w="med" len="med"/>
                      <a:tailEnd type="none" w="med" len="med"/>
                    </a:lnT>
                    <a:lnB w="0" cap="flat" cmpd="sng" algn="ctr">
                      <a:noFill/>
                    </a:lnB>
                    <a:solidFill>
                      <a:srgbClr val="7A0019"/>
                    </a:solidFill>
                  </a:tcPr>
                </a:tc>
                <a:tc>
                  <a:txBody>
                    <a:bodyPr/>
                    <a:lstStyle/>
                    <a:p>
                      <a:pPr marL="0" indent="0">
                        <a:buNone/>
                      </a:pPr>
                      <a:r>
                        <a:rPr lang="en-US" sz="1250" b="1" dirty="0">
                          <a:solidFill>
                            <a:srgbClr val="FFFFFF"/>
                          </a:solidFill>
                          <a:latin typeface="Poppins" pitchFamily="34" charset="0"/>
                          <a:ea typeface="Poppins" pitchFamily="34" charset="-122"/>
                          <a:cs typeface="Poppins" pitchFamily="34" charset="-120"/>
                        </a:rPr>
                        <a:t>Likely cause</a:t>
                      </a:r>
                      <a:endParaRPr lang="en-US" sz="1200" dirty="0"/>
                    </a:p>
                  </a:txBody>
                  <a:tcPr marL="76200" marR="76200" marT="38100" marB="38100" anchor="ctr">
                    <a:lnL w="0" cap="flat" cmpd="sng" algn="ctr">
                      <a:noFill/>
                    </a:lnL>
                    <a:lnR w="0" cap="flat" cmpd="sng" algn="ctr">
                      <a:noFill/>
                    </a:lnR>
                    <a:lnT w="12700" cap="flat" cmpd="sng" algn="ctr">
                      <a:solidFill>
                        <a:srgbClr val="D9D2D4"/>
                      </a:solidFill>
                      <a:prstDash val="solid"/>
                      <a:round/>
                      <a:headEnd type="none" w="med" len="med"/>
                      <a:tailEnd type="none" w="med" len="med"/>
                    </a:lnT>
                    <a:lnB w="0" cap="flat" cmpd="sng" algn="ctr">
                      <a:noFill/>
                    </a:lnB>
                    <a:solidFill>
                      <a:srgbClr val="7A0019"/>
                    </a:solidFill>
                  </a:tcPr>
                </a:tc>
                <a:tc>
                  <a:txBody>
                    <a:bodyPr/>
                    <a:lstStyle/>
                    <a:p>
                      <a:pPr marL="0" indent="0">
                        <a:buNone/>
                      </a:pPr>
                      <a:r>
                        <a:rPr lang="en-US" sz="1250" b="1" dirty="0">
                          <a:solidFill>
                            <a:srgbClr val="FFFFFF"/>
                          </a:solidFill>
                          <a:latin typeface="Poppins" pitchFamily="34" charset="0"/>
                          <a:ea typeface="Poppins" pitchFamily="34" charset="-122"/>
                          <a:cs typeface="Poppins" pitchFamily="34" charset="-120"/>
                        </a:rPr>
                        <a:t>Check</a:t>
                      </a:r>
                      <a:endParaRPr lang="en-US" sz="1200" dirty="0"/>
                    </a:p>
                  </a:txBody>
                  <a:tcPr marL="76200" marR="76200" marT="38100" marB="38100" anchor="ctr">
                    <a:lnL w="0" cap="flat" cmpd="sng" algn="ctr">
                      <a:noFill/>
                    </a:lnL>
                    <a:lnR w="0" cap="flat" cmpd="sng" algn="ctr">
                      <a:noFill/>
                    </a:lnR>
                    <a:lnT w="12700" cap="flat" cmpd="sng" algn="ctr">
                      <a:solidFill>
                        <a:srgbClr val="D9D2D4"/>
                      </a:solidFill>
                      <a:prstDash val="solid"/>
                      <a:round/>
                      <a:headEnd type="none" w="med" len="med"/>
                      <a:tailEnd type="none" w="med" len="med"/>
                    </a:lnT>
                    <a:lnB w="0" cap="flat" cmpd="sng" algn="ctr">
                      <a:noFill/>
                    </a:lnB>
                    <a:solidFill>
                      <a:srgbClr val="7A0019"/>
                    </a:solidFill>
                  </a:tcPr>
                </a:tc>
                <a:extLst>
                  <a:ext uri="{0D108BD9-81ED-4DB2-BD59-A6C34878D82A}">
                    <a16:rowId xmlns:a16="http://schemas.microsoft.com/office/drawing/2014/main" val="10000"/>
                  </a:ext>
                </a:extLst>
              </a:tr>
              <a:tr h="566928">
                <a:tc>
                  <a:txBody>
                    <a:bodyPr/>
                    <a:lstStyle/>
                    <a:p>
                      <a:pPr marL="0" indent="0">
                        <a:buNone/>
                      </a:pPr>
                      <a:r>
                        <a:rPr lang="en-US" sz="1250" b="1" dirty="0">
                          <a:solidFill>
                            <a:srgbClr val="7A0019"/>
                          </a:solidFill>
                          <a:latin typeface="Montserrat" pitchFamily="34" charset="0"/>
                          <a:ea typeface="Montserrat" pitchFamily="34" charset="-122"/>
                          <a:cs typeface="Montserrat" pitchFamily="34" charset="-120"/>
                        </a:rPr>
                        <a:t>Site loads; should be blocked</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BF1F3"/>
                    </a:solidFill>
                  </a:tcPr>
                </a:tc>
                <a:tc>
                  <a:txBody>
                    <a:bodyPr/>
                    <a:lstStyle/>
                    <a:p>
                      <a:pPr marL="0" indent="0">
                        <a:buNone/>
                      </a:pPr>
                      <a:r>
                        <a:rPr lang="en-US" sz="1250" dirty="0">
                          <a:solidFill>
                            <a:srgbClr val="1F1A1B"/>
                          </a:solidFill>
                          <a:latin typeface="Montserrat" pitchFamily="34" charset="0"/>
                          <a:ea typeface="Montserrat" pitchFamily="34" charset="-122"/>
                          <a:cs typeface="Montserrat" pitchFamily="34" charset="-120"/>
                        </a:rPr>
                        <a:t>Profile not on the allow rule</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FFFFF"/>
                    </a:solidFill>
                  </a:tcPr>
                </a:tc>
                <a:tc>
                  <a:txBody>
                    <a:bodyPr/>
                    <a:lstStyle/>
                    <a:p>
                      <a:pPr marL="0" indent="0">
                        <a:buNone/>
                      </a:pPr>
                      <a:r>
                        <a:rPr lang="en-US" sz="1250" dirty="0">
                          <a:solidFill>
                            <a:srgbClr val="1F1A1B"/>
                          </a:solidFill>
                          <a:latin typeface="Montserrat" pitchFamily="34" charset="0"/>
                          <a:ea typeface="Montserrat" pitchFamily="34" charset="-122"/>
                          <a:cs typeface="Montserrat" pitchFamily="34" charset="-120"/>
                        </a:rPr>
                        <a:t>Rule Actions tab or profile group</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250" b="1" dirty="0">
                          <a:solidFill>
                            <a:srgbClr val="7A0019"/>
                          </a:solidFill>
                          <a:latin typeface="Montserrat" pitchFamily="34" charset="0"/>
                          <a:ea typeface="Montserrat" pitchFamily="34" charset="-122"/>
                          <a:cs typeface="Montserrat" pitchFamily="34" charset="-120"/>
                        </a:rPr>
                        <a:t>"Application Blocked" page</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BF1F3"/>
                    </a:solidFill>
                  </a:tcPr>
                </a:tc>
                <a:tc>
                  <a:txBody>
                    <a:bodyPr/>
                    <a:lstStyle/>
                    <a:p>
                      <a:pPr marL="0" indent="0">
                        <a:buNone/>
                      </a:pPr>
                      <a:r>
                        <a:rPr lang="en-US" sz="1250" dirty="0">
                          <a:solidFill>
                            <a:srgbClr val="1F1A1B"/>
                          </a:solidFill>
                          <a:latin typeface="Montserrat" pitchFamily="34" charset="0"/>
                          <a:ea typeface="Montserrat" pitchFamily="34" charset="-122"/>
                          <a:cs typeface="Montserrat" pitchFamily="34" charset="-120"/>
                        </a:rPr>
                        <a:t>A deny rule matched, not a profile</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AF6F7"/>
                    </a:solidFill>
                  </a:tcPr>
                </a:tc>
                <a:tc>
                  <a:txBody>
                    <a:bodyPr/>
                    <a:lstStyle/>
                    <a:p>
                      <a:pPr marL="0" indent="0">
                        <a:buNone/>
                      </a:pPr>
                      <a:r>
                        <a:rPr lang="en-US" sz="1250" dirty="0">
                          <a:solidFill>
                            <a:srgbClr val="1F1A1B"/>
                          </a:solidFill>
                          <a:latin typeface="Montserrat" pitchFamily="34" charset="0"/>
                          <a:ea typeface="Montserrat" pitchFamily="34" charset="-122"/>
                          <a:cs typeface="Montserrat" pitchFamily="34" charset="-120"/>
                        </a:rPr>
                        <a:t>Traffic log: Rule column</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AF6F7"/>
                    </a:solidFill>
                  </a:tcPr>
                </a:tc>
                <a:extLst>
                  <a:ext uri="{0D108BD9-81ED-4DB2-BD59-A6C34878D82A}">
                    <a16:rowId xmlns:a16="http://schemas.microsoft.com/office/drawing/2014/main" val="10002"/>
                  </a:ext>
                </a:extLst>
              </a:tr>
              <a:tr h="566928">
                <a:tc>
                  <a:txBody>
                    <a:bodyPr/>
                    <a:lstStyle/>
                    <a:p>
                      <a:pPr marL="0" indent="0">
                        <a:buNone/>
                      </a:pPr>
                      <a:r>
                        <a:rPr lang="en-US" sz="1250" b="1" dirty="0">
                          <a:solidFill>
                            <a:srgbClr val="7A0019"/>
                          </a:solidFill>
                          <a:latin typeface="Montserrat" pitchFamily="34" charset="0"/>
                          <a:ea typeface="Montserrat" pitchFamily="34" charset="-122"/>
                          <a:cs typeface="Montserrat" pitchFamily="34" charset="-120"/>
                        </a:rPr>
                        <a:t>No block page, just a timeout</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BF1F3"/>
                    </a:solidFill>
                  </a:tcPr>
                </a:tc>
                <a:tc>
                  <a:txBody>
                    <a:bodyPr/>
                    <a:lstStyle/>
                    <a:p>
                      <a:pPr marL="0" indent="0">
                        <a:buNone/>
                      </a:pPr>
                      <a:r>
                        <a:rPr lang="en-US" sz="1250" dirty="0">
                          <a:solidFill>
                            <a:srgbClr val="1F1A1B"/>
                          </a:solidFill>
                          <a:latin typeface="Montserrat" pitchFamily="34" charset="0"/>
                          <a:ea typeface="Montserrat" pitchFamily="34" charset="-122"/>
                          <a:cs typeface="Montserrat" pitchFamily="34" charset="-120"/>
                        </a:rPr>
                        <a:t>Response pages not allowed</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FFFFF"/>
                    </a:solidFill>
                  </a:tcPr>
                </a:tc>
                <a:tc>
                  <a:txBody>
                    <a:bodyPr/>
                    <a:lstStyle/>
                    <a:p>
                      <a:pPr marL="0" indent="0">
                        <a:buNone/>
                      </a:pPr>
                      <a:r>
                        <a:rPr lang="en-US" sz="1250" dirty="0">
                          <a:solidFill>
                            <a:srgbClr val="1F1A1B"/>
                          </a:solidFill>
                          <a:latin typeface="Montserrat" pitchFamily="34" charset="0"/>
                          <a:ea typeface="Montserrat" pitchFamily="34" charset="-122"/>
                          <a:cs typeface="Montserrat" pitchFamily="34" charset="-120"/>
                        </a:rPr>
                        <a:t>Interface Management Profile</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250" b="1" dirty="0">
                          <a:solidFill>
                            <a:srgbClr val="7A0019"/>
                          </a:solidFill>
                          <a:latin typeface="Montserrat" pitchFamily="34" charset="0"/>
                          <a:ea typeface="Montserrat" pitchFamily="34" charset="-122"/>
                          <a:cs typeface="Montserrat" pitchFamily="34" charset="-120"/>
                        </a:rPr>
                        <a:t>Category shows not-resolved</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BF1F3"/>
                    </a:solidFill>
                  </a:tcPr>
                </a:tc>
                <a:tc>
                  <a:txBody>
                    <a:bodyPr/>
                    <a:lstStyle/>
                    <a:p>
                      <a:pPr marL="0" indent="0">
                        <a:buNone/>
                      </a:pPr>
                      <a:r>
                        <a:rPr lang="en-US" sz="1250" dirty="0">
                          <a:solidFill>
                            <a:srgbClr val="1F1A1B"/>
                          </a:solidFill>
                          <a:latin typeface="Montserrat" pitchFamily="34" charset="0"/>
                          <a:ea typeface="Montserrat" pitchFamily="34" charset="-122"/>
                          <a:cs typeface="Montserrat" pitchFamily="34" charset="-120"/>
                        </a:rPr>
                        <a:t>No PAN-DB connection or license</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AF6F7"/>
                    </a:solidFill>
                  </a:tcPr>
                </a:tc>
                <a:tc>
                  <a:txBody>
                    <a:bodyPr/>
                    <a:lstStyle/>
                    <a:p>
                      <a:pPr marL="0" indent="0">
                        <a:buNone/>
                      </a:pPr>
                      <a:r>
                        <a:rPr lang="en-US" sz="1250" dirty="0">
                          <a:solidFill>
                            <a:srgbClr val="5E0013"/>
                          </a:solidFill>
                          <a:latin typeface="Courier New" pitchFamily="34" charset="0"/>
                          <a:ea typeface="Courier New" pitchFamily="34" charset="-122"/>
                          <a:cs typeface="Courier New" pitchFamily="34" charset="-120"/>
                        </a:rPr>
                        <a:t>show url-cloud status</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AF6F7"/>
                    </a:solidFill>
                  </a:tcPr>
                </a:tc>
                <a:extLst>
                  <a:ext uri="{0D108BD9-81ED-4DB2-BD59-A6C34878D82A}">
                    <a16:rowId xmlns:a16="http://schemas.microsoft.com/office/drawing/2014/main" val="10004"/>
                  </a:ext>
                </a:extLst>
              </a:tr>
              <a:tr h="566928">
                <a:tc>
                  <a:txBody>
                    <a:bodyPr/>
                    <a:lstStyle/>
                    <a:p>
                      <a:pPr marL="0" indent="0">
                        <a:buNone/>
                      </a:pPr>
                      <a:r>
                        <a:rPr lang="en-US" sz="1250" b="1" dirty="0">
                          <a:solidFill>
                            <a:srgbClr val="7A0019"/>
                          </a:solidFill>
                          <a:latin typeface="Montserrat" pitchFamily="34" charset="0"/>
                          <a:ea typeface="Montserrat" pitchFamily="34" charset="-122"/>
                          <a:cs typeface="Montserrat" pitchFamily="34" charset="-120"/>
                        </a:rPr>
                        <a:t>Nothing changed after edits</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BF1F3"/>
                    </a:solidFill>
                  </a:tcPr>
                </a:tc>
                <a:tc>
                  <a:txBody>
                    <a:bodyPr/>
                    <a:lstStyle/>
                    <a:p>
                      <a:pPr marL="0" indent="0">
                        <a:buNone/>
                      </a:pPr>
                      <a:r>
                        <a:rPr lang="en-US" sz="1250" dirty="0">
                          <a:solidFill>
                            <a:srgbClr val="1F1A1B"/>
                          </a:solidFill>
                          <a:latin typeface="Montserrat" pitchFamily="34" charset="0"/>
                          <a:ea typeface="Montserrat" pitchFamily="34" charset="-122"/>
                          <a:cs typeface="Montserrat" pitchFamily="34" charset="-120"/>
                        </a:rPr>
                        <a:t>No commit</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FFFFF"/>
                    </a:solidFill>
                  </a:tcPr>
                </a:tc>
                <a:tc>
                  <a:txBody>
                    <a:bodyPr/>
                    <a:lstStyle/>
                    <a:p>
                      <a:pPr marL="0" indent="0">
                        <a:buNone/>
                      </a:pPr>
                      <a:r>
                        <a:rPr lang="en-US" sz="1250" dirty="0">
                          <a:solidFill>
                            <a:srgbClr val="1F1A1B"/>
                          </a:solidFill>
                          <a:latin typeface="Montserrat" pitchFamily="34" charset="0"/>
                          <a:ea typeface="Montserrat" pitchFamily="34" charset="-122"/>
                          <a:cs typeface="Montserrat" pitchFamily="34" charset="-120"/>
                        </a:rPr>
                        <a:t>Commit, then retest in a private window</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65760"/>
            <a:ext cx="11155680" cy="658368"/>
          </a:xfrm>
          <a:prstGeom prst="rect">
            <a:avLst/>
          </a:prstGeom>
          <a:noFill/>
          <a:ln/>
        </p:spPr>
        <p:txBody>
          <a:bodyPr wrap="square" rtlCol="0"/>
          <a:lstStyle/>
          <a:p>
            <a:pPr marL="0" indent="0" algn="l">
              <a:buNone/>
            </a:pPr>
            <a:r>
              <a:rPr lang="en-US" sz="2500" b="1" dirty="0">
                <a:solidFill>
                  <a:srgbClr val="7A0019"/>
                </a:solidFill>
                <a:latin typeface="Poppins" pitchFamily="34" charset="0"/>
                <a:ea typeface="Poppins" pitchFamily="34" charset="-122"/>
                <a:cs typeface="Poppins" pitchFamily="34" charset="-120"/>
              </a:rPr>
              <a:t>Security Thread: Layered Web Controls</a:t>
            </a:r>
            <a:endParaRPr lang="en-US" sz="2500" dirty="0"/>
          </a:p>
        </p:txBody>
      </p:sp>
      <p:sp>
        <p:nvSpPr>
          <p:cNvPr id="3" name="Shape 1"/>
          <p:cNvSpPr/>
          <p:nvPr/>
        </p:nvSpPr>
        <p:spPr>
          <a:xfrm>
            <a:off x="521208" y="1042416"/>
            <a:ext cx="914400" cy="54864"/>
          </a:xfrm>
          <a:prstGeom prst="rect">
            <a:avLst/>
          </a:prstGeom>
          <a:solidFill>
            <a:srgbClr val="FDB71A"/>
          </a:solidFill>
          <a:ln/>
        </p:spPr>
        <p:txBody>
          <a:bodyPr/>
          <a:lstStyle/>
          <a:p>
            <a:endParaRPr lang="en-US"/>
          </a:p>
        </p:txBody>
      </p:sp>
      <p:sp>
        <p:nvSpPr>
          <p:cNvPr id="4" name="Text 2"/>
          <p:cNvSpPr/>
          <p:nvPr/>
        </p:nvSpPr>
        <p:spPr>
          <a:xfrm>
            <a:off x="502920" y="6437376"/>
            <a:ext cx="8229600" cy="274320"/>
          </a:xfrm>
          <a:prstGeom prst="rect">
            <a:avLst/>
          </a:prstGeom>
          <a:noFill/>
          <a:ln/>
        </p:spPr>
        <p:txBody>
          <a:bodyPr wrap="square" lIns="0" tIns="0" rIns="0" bIns="0" rtlCol="0" anchor="ctr"/>
          <a:lstStyle/>
          <a:p>
            <a:pPr marL="0" indent="0">
              <a:buNone/>
            </a:pPr>
            <a:r>
              <a:rPr lang="en-US" sz="900" dirty="0">
                <a:solidFill>
                  <a:srgbClr val="5A5A5A"/>
                </a:solidFill>
                <a:latin typeface="Montserrat" pitchFamily="34" charset="0"/>
                <a:ea typeface="Montserrat" pitchFamily="34" charset="-122"/>
                <a:cs typeface="Montserrat" pitchFamily="34" charset="-120"/>
              </a:rPr>
              <a:t>Information Security 2 · Unit 10 · Web Content Filtering</a:t>
            </a:r>
            <a:endParaRPr lang="en-US" sz="900" dirty="0"/>
          </a:p>
        </p:txBody>
      </p:sp>
      <p:sp>
        <p:nvSpPr>
          <p:cNvPr id="5" name="Text 3"/>
          <p:cNvSpPr/>
          <p:nvPr/>
        </p:nvSpPr>
        <p:spPr>
          <a:xfrm>
            <a:off x="11247120" y="6437376"/>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Montserrat" pitchFamily="34" charset="0"/>
                <a:ea typeface="Montserrat" pitchFamily="34" charset="-122"/>
                <a:cs typeface="Montserrat" pitchFamily="34" charset="-120"/>
              </a:rPr>
              <a:t>33</a:t>
            </a:r>
            <a:endParaRPr lang="en-US" sz="900" dirty="0"/>
          </a:p>
        </p:txBody>
      </p:sp>
      <p:sp>
        <p:nvSpPr>
          <p:cNvPr id="7" name="Shape 4"/>
          <p:cNvSpPr/>
          <p:nvPr/>
        </p:nvSpPr>
        <p:spPr>
          <a:xfrm>
            <a:off x="548640" y="1463040"/>
            <a:ext cx="11109960" cy="3291840"/>
          </a:xfrm>
          <a:prstGeom prst="roundRect">
            <a:avLst>
              <a:gd name="adj" fmla="val 556"/>
            </a:avLst>
          </a:prstGeom>
          <a:solidFill>
            <a:srgbClr val="FEF6E3"/>
          </a:solidFill>
          <a:ln/>
          <a:effectLst>
            <a:outerShdw blurRad="88900" dist="38100" dir="5400000" algn="bl" rotWithShape="0">
              <a:srgbClr val="000000">
                <a:alpha val="15000"/>
              </a:srgbClr>
            </a:outerShdw>
          </a:effectLst>
        </p:spPr>
        <p:txBody>
          <a:bodyPr/>
          <a:lstStyle/>
          <a:p>
            <a:endParaRPr lang="en-US"/>
          </a:p>
        </p:txBody>
      </p:sp>
      <p:sp>
        <p:nvSpPr>
          <p:cNvPr id="8" name="Shape 5"/>
          <p:cNvSpPr/>
          <p:nvPr/>
        </p:nvSpPr>
        <p:spPr>
          <a:xfrm>
            <a:off x="841248" y="1737360"/>
            <a:ext cx="566928" cy="566928"/>
          </a:xfrm>
          <a:prstGeom prst="ellipse">
            <a:avLst/>
          </a:prstGeom>
          <a:solidFill>
            <a:srgbClr val="7A0019"/>
          </a:solidFill>
          <a:ln/>
        </p:spPr>
        <p:txBody>
          <a:bodyPr/>
          <a:lstStyle/>
          <a:p>
            <a:endParaRPr lang="en-US"/>
          </a:p>
        </p:txBody>
      </p:sp>
      <p:pic>
        <p:nvPicPr>
          <p:cNvPr id="9" name="Image 0" descr="Shield icon indicating a security note"/>
          <p:cNvPicPr>
            <a:picLocks noChangeAspect="1"/>
          </p:cNvPicPr>
          <p:nvPr/>
        </p:nvPicPr>
        <p:blipFill>
          <a:blip r:embed="rId3"/>
          <a:stretch>
            <a:fillRect/>
          </a:stretch>
        </p:blipFill>
        <p:spPr>
          <a:xfrm>
            <a:off x="978408" y="1874520"/>
            <a:ext cx="292608" cy="292608"/>
          </a:xfrm>
          <a:prstGeom prst="rect">
            <a:avLst/>
          </a:prstGeom>
        </p:spPr>
      </p:pic>
      <p:sp>
        <p:nvSpPr>
          <p:cNvPr id="10" name="Text 6"/>
          <p:cNvSpPr/>
          <p:nvPr/>
        </p:nvSpPr>
        <p:spPr>
          <a:xfrm>
            <a:off x="1572768" y="1773936"/>
            <a:ext cx="9875520" cy="292608"/>
          </a:xfrm>
          <a:prstGeom prst="rect">
            <a:avLst/>
          </a:prstGeom>
          <a:noFill/>
          <a:ln/>
        </p:spPr>
        <p:txBody>
          <a:bodyPr wrap="square" lIns="0" tIns="0" rIns="0" bIns="0" rtlCol="0" anchor="ctr"/>
          <a:lstStyle/>
          <a:p>
            <a:pPr marL="0" indent="0">
              <a:buNone/>
            </a:pPr>
            <a:r>
              <a:rPr lang="en-US" sz="1200" b="1" kern="0" spc="100" dirty="0">
                <a:solidFill>
                  <a:srgbClr val="7A0019"/>
                </a:solidFill>
                <a:latin typeface="Poppins" pitchFamily="34" charset="0"/>
                <a:ea typeface="Poppins" pitchFamily="34" charset="-122"/>
                <a:cs typeface="Poppins" pitchFamily="34" charset="-120"/>
              </a:rPr>
              <a:t>SECURITY FOCUS</a:t>
            </a:r>
            <a:endParaRPr lang="en-US" sz="1200" dirty="0"/>
          </a:p>
        </p:txBody>
      </p:sp>
      <p:sp>
        <p:nvSpPr>
          <p:cNvPr id="11" name="Text 7"/>
          <p:cNvSpPr/>
          <p:nvPr/>
        </p:nvSpPr>
        <p:spPr>
          <a:xfrm>
            <a:off x="1572768" y="2176272"/>
            <a:ext cx="9784080" cy="1572768"/>
          </a:xfrm>
          <a:prstGeom prst="rect">
            <a:avLst/>
          </a:prstGeom>
          <a:noFill/>
          <a:ln/>
        </p:spPr>
        <p:txBody>
          <a:bodyPr wrap="square" lIns="0" tIns="0" rIns="0" bIns="0" rtlCol="0" anchor="t"/>
          <a:lstStyle/>
          <a:p>
            <a:pPr marL="0" indent="0">
              <a:spcAft>
                <a:spcPts val="800"/>
              </a:spcAft>
              <a:buNone/>
            </a:pPr>
            <a:r>
              <a:rPr lang="en-US" sz="1350" dirty="0">
                <a:solidFill>
                  <a:srgbClr val="1F1A1B"/>
                </a:solidFill>
                <a:latin typeface="Montserrat" pitchFamily="34" charset="0"/>
                <a:ea typeface="Montserrat" pitchFamily="34" charset="-122"/>
                <a:cs typeface="Montserrat" pitchFamily="34" charset="-120"/>
              </a:rPr>
              <a:t>Layer the controls: </a:t>
            </a:r>
            <a:r>
              <a:rPr lang="en-US" sz="1350" b="1" dirty="0">
                <a:solidFill>
                  <a:srgbClr val="7A0019"/>
                </a:solidFill>
                <a:latin typeface="Montserrat" pitchFamily="34" charset="0"/>
                <a:ea typeface="Montserrat" pitchFamily="34" charset="-122"/>
                <a:cs typeface="Montserrat" pitchFamily="34" charset="-120"/>
              </a:rPr>
              <a:t>DNS Security</a:t>
            </a:r>
            <a:r>
              <a:rPr lang="en-US" sz="1350" dirty="0">
                <a:solidFill>
                  <a:srgbClr val="1F1A1B"/>
                </a:solidFill>
                <a:latin typeface="Montserrat" pitchFamily="34" charset="0"/>
                <a:ea typeface="Montserrat" pitchFamily="34" charset="-122"/>
                <a:cs typeface="Montserrat" pitchFamily="34" charset="-120"/>
              </a:rPr>
              <a:t> stops the lookup, the </a:t>
            </a:r>
            <a:r>
              <a:rPr lang="en-US" sz="1350" b="1" dirty="0">
                <a:solidFill>
                  <a:srgbClr val="7A0019"/>
                </a:solidFill>
                <a:latin typeface="Montserrat" pitchFamily="34" charset="0"/>
                <a:ea typeface="Montserrat" pitchFamily="34" charset="-122"/>
                <a:cs typeface="Montserrat" pitchFamily="34" charset="-120"/>
              </a:rPr>
              <a:t>URL Filtering Profile</a:t>
            </a:r>
            <a:r>
              <a:rPr lang="en-US" sz="1350" dirty="0">
                <a:solidFill>
                  <a:srgbClr val="1F1A1B"/>
                </a:solidFill>
                <a:latin typeface="Montserrat" pitchFamily="34" charset="0"/>
                <a:ea typeface="Montserrat" pitchFamily="34" charset="-122"/>
                <a:cs typeface="Montserrat" pitchFamily="34" charset="-120"/>
              </a:rPr>
              <a:t> stops the page, </a:t>
            </a:r>
            <a:r>
              <a:rPr lang="en-US" sz="1350" b="1" dirty="0">
                <a:solidFill>
                  <a:srgbClr val="7A0019"/>
                </a:solidFill>
                <a:latin typeface="Montserrat" pitchFamily="34" charset="0"/>
                <a:ea typeface="Montserrat" pitchFamily="34" charset="-122"/>
                <a:cs typeface="Montserrat" pitchFamily="34" charset="-120"/>
              </a:rPr>
              <a:t>custom categories and EDLs</a:t>
            </a:r>
            <a:r>
              <a:rPr lang="en-US" sz="1350" dirty="0">
                <a:solidFill>
                  <a:srgbClr val="1F1A1B"/>
                </a:solidFill>
                <a:latin typeface="Montserrat" pitchFamily="34" charset="0"/>
                <a:ea typeface="Montserrat" pitchFamily="34" charset="-122"/>
                <a:cs typeface="Montserrat" pitchFamily="34" charset="-120"/>
              </a:rPr>
              <a:t> let you react in minutes, and </a:t>
            </a:r>
            <a:r>
              <a:rPr lang="en-US" sz="1350" b="1" dirty="0">
                <a:solidFill>
                  <a:srgbClr val="7A0019"/>
                </a:solidFill>
                <a:latin typeface="Montserrat" pitchFamily="34" charset="0"/>
                <a:ea typeface="Montserrat" pitchFamily="34" charset="-122"/>
                <a:cs typeface="Montserrat" pitchFamily="34" charset="-120"/>
              </a:rPr>
              <a:t>schedules and continue pages</a:t>
            </a:r>
            <a:r>
              <a:rPr lang="en-US" sz="1350" dirty="0">
                <a:solidFill>
                  <a:srgbClr val="1F1A1B"/>
                </a:solidFill>
                <a:latin typeface="Montserrat" pitchFamily="34" charset="0"/>
                <a:ea typeface="Montserrat" pitchFamily="34" charset="-122"/>
                <a:cs typeface="Montserrat" pitchFamily="34" charset="-120"/>
              </a:rPr>
              <a:t> enforce acceptable use without a hard block.</a:t>
            </a:r>
            <a:endParaRPr lang="en-US" sz="1350" dirty="0"/>
          </a:p>
        </p:txBody>
      </p:sp>
      <p:sp>
        <p:nvSpPr>
          <p:cNvPr id="12" name="Text 8"/>
          <p:cNvSpPr/>
          <p:nvPr/>
        </p:nvSpPr>
        <p:spPr>
          <a:xfrm>
            <a:off x="1572768" y="3840480"/>
            <a:ext cx="9784080" cy="868680"/>
          </a:xfrm>
          <a:prstGeom prst="rect">
            <a:avLst/>
          </a:prstGeom>
          <a:noFill/>
          <a:ln/>
        </p:spPr>
        <p:txBody>
          <a:bodyPr wrap="square" lIns="0" tIns="0" rIns="0" bIns="0" rtlCol="0" anchor="t"/>
          <a:lstStyle/>
          <a:p>
            <a:pPr marL="0" indent="0">
              <a:buNone/>
            </a:pPr>
            <a:r>
              <a:rPr lang="en-US" sz="1250" b="1" dirty="0">
                <a:solidFill>
                  <a:srgbClr val="5E0013"/>
                </a:solidFill>
                <a:latin typeface="Montserrat" pitchFamily="34" charset="0"/>
                <a:ea typeface="Montserrat" pitchFamily="34" charset="-122"/>
                <a:cs typeface="Montserrat" pitchFamily="34" charset="-120"/>
              </a:rPr>
              <a:t>Why it matters: </a:t>
            </a:r>
            <a:r>
              <a:rPr lang="en-US" sz="1250" dirty="0">
                <a:solidFill>
                  <a:srgbClr val="5E0013"/>
                </a:solidFill>
                <a:latin typeface="Montserrat" pitchFamily="34" charset="0"/>
                <a:ea typeface="Montserrat" pitchFamily="34" charset="-122"/>
                <a:cs typeface="Montserrat" pitchFamily="34" charset="-120"/>
              </a:rPr>
              <a:t>No single layer sees everything. An attacker who gets past one still has to get past the next.</a:t>
            </a:r>
            <a:endParaRPr lang="en-US" sz="1250" dirty="0"/>
          </a:p>
        </p:txBody>
      </p:sp>
      <p:sp>
        <p:nvSpPr>
          <p:cNvPr id="13" name="Text 9"/>
          <p:cNvSpPr/>
          <p:nvPr/>
        </p:nvSpPr>
        <p:spPr>
          <a:xfrm>
            <a:off x="548640" y="5029200"/>
            <a:ext cx="10972800" cy="365760"/>
          </a:xfrm>
          <a:prstGeom prst="rect">
            <a:avLst/>
          </a:prstGeom>
          <a:noFill/>
          <a:ln/>
        </p:spPr>
        <p:txBody>
          <a:bodyPr wrap="square" lIns="0" tIns="0" rIns="0" bIns="0" rtlCol="0" anchor="t"/>
          <a:lstStyle/>
          <a:p>
            <a:pPr marL="0" indent="0">
              <a:buNone/>
            </a:pPr>
            <a:r>
              <a:rPr lang="en-US" sz="1250" i="1" dirty="0">
                <a:solidFill>
                  <a:srgbClr val="5A5A5A"/>
                </a:solidFill>
                <a:latin typeface="Montserrat" pitchFamily="34" charset="0"/>
                <a:ea typeface="Montserrat" pitchFamily="34" charset="-122"/>
                <a:cs typeface="Montserrat" pitchFamily="34" charset="-120"/>
              </a:rPr>
              <a:t>Pair every allow rule that reaches the Internet with a Security Profile Group that includes URL Filtering and Anti-Spyware.</a:t>
            </a:r>
            <a:endParaRPr lang="en-US" sz="12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name="Slide 3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65760"/>
            <a:ext cx="11155680" cy="658368"/>
          </a:xfrm>
          <a:prstGeom prst="rect">
            <a:avLst/>
          </a:prstGeom>
          <a:noFill/>
          <a:ln/>
        </p:spPr>
        <p:txBody>
          <a:bodyPr wrap="square" rtlCol="0"/>
          <a:lstStyle/>
          <a:p>
            <a:pPr marL="0" indent="0" algn="l">
              <a:buNone/>
            </a:pPr>
            <a:r>
              <a:rPr lang="en-US" sz="2500" b="1" dirty="0">
                <a:solidFill>
                  <a:srgbClr val="7A0019"/>
                </a:solidFill>
                <a:latin typeface="Poppins" pitchFamily="34" charset="0"/>
                <a:ea typeface="Poppins" pitchFamily="34" charset="-122"/>
                <a:cs typeface="Poppins" pitchFamily="34" charset="-120"/>
              </a:rPr>
              <a:t>Live Demo Inventory</a:t>
            </a:r>
            <a:endParaRPr lang="en-US" sz="2500" dirty="0"/>
          </a:p>
        </p:txBody>
      </p:sp>
      <p:sp>
        <p:nvSpPr>
          <p:cNvPr id="3" name="Shape 1"/>
          <p:cNvSpPr/>
          <p:nvPr/>
        </p:nvSpPr>
        <p:spPr>
          <a:xfrm>
            <a:off x="521208" y="1042416"/>
            <a:ext cx="914400" cy="54864"/>
          </a:xfrm>
          <a:prstGeom prst="rect">
            <a:avLst/>
          </a:prstGeom>
          <a:solidFill>
            <a:srgbClr val="FDB71A"/>
          </a:solidFill>
          <a:ln/>
        </p:spPr>
        <p:txBody>
          <a:bodyPr/>
          <a:lstStyle/>
          <a:p>
            <a:endParaRPr lang="en-US"/>
          </a:p>
        </p:txBody>
      </p:sp>
      <p:sp>
        <p:nvSpPr>
          <p:cNvPr id="4" name="Text 2"/>
          <p:cNvSpPr/>
          <p:nvPr/>
        </p:nvSpPr>
        <p:spPr>
          <a:xfrm>
            <a:off x="502920" y="6437376"/>
            <a:ext cx="8229600" cy="274320"/>
          </a:xfrm>
          <a:prstGeom prst="rect">
            <a:avLst/>
          </a:prstGeom>
          <a:noFill/>
          <a:ln/>
        </p:spPr>
        <p:txBody>
          <a:bodyPr wrap="square" lIns="0" tIns="0" rIns="0" bIns="0" rtlCol="0" anchor="ctr"/>
          <a:lstStyle/>
          <a:p>
            <a:pPr marL="0" indent="0">
              <a:buNone/>
            </a:pPr>
            <a:r>
              <a:rPr lang="en-US" sz="900" dirty="0">
                <a:solidFill>
                  <a:srgbClr val="5A5A5A"/>
                </a:solidFill>
                <a:latin typeface="Montserrat" pitchFamily="34" charset="0"/>
                <a:ea typeface="Montserrat" pitchFamily="34" charset="-122"/>
                <a:cs typeface="Montserrat" pitchFamily="34" charset="-120"/>
              </a:rPr>
              <a:t>Information Security 2 · Unit 10 · Web Content Filtering</a:t>
            </a:r>
            <a:endParaRPr lang="en-US" sz="900" dirty="0"/>
          </a:p>
        </p:txBody>
      </p:sp>
      <p:sp>
        <p:nvSpPr>
          <p:cNvPr id="5" name="Text 3"/>
          <p:cNvSpPr/>
          <p:nvPr/>
        </p:nvSpPr>
        <p:spPr>
          <a:xfrm>
            <a:off x="11247120" y="6437376"/>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Montserrat" pitchFamily="34" charset="0"/>
                <a:ea typeface="Montserrat" pitchFamily="34" charset="-122"/>
                <a:cs typeface="Montserrat" pitchFamily="34" charset="-120"/>
              </a:rPr>
              <a:t>34</a:t>
            </a:r>
            <a:endParaRPr lang="en-US" sz="900" dirty="0"/>
          </a:p>
        </p:txBody>
      </p:sp>
      <p:sp>
        <p:nvSpPr>
          <p:cNvPr id="7" name="Shape 4"/>
          <p:cNvSpPr/>
          <p:nvPr/>
        </p:nvSpPr>
        <p:spPr>
          <a:xfrm>
            <a:off x="10287000" y="1188720"/>
            <a:ext cx="1234440" cy="1234440"/>
          </a:xfrm>
          <a:prstGeom prst="ellipse">
            <a:avLst/>
          </a:prstGeom>
          <a:solidFill>
            <a:srgbClr val="FDB71A"/>
          </a:solidFill>
          <a:ln/>
        </p:spPr>
        <p:txBody>
          <a:bodyPr/>
          <a:lstStyle/>
          <a:p>
            <a:endParaRPr lang="en-US"/>
          </a:p>
        </p:txBody>
      </p:sp>
      <p:pic>
        <p:nvPicPr>
          <p:cNvPr id="8" name="Image 0" descr="Section icon"/>
          <p:cNvPicPr>
            <a:picLocks noChangeAspect="1"/>
          </p:cNvPicPr>
          <p:nvPr/>
        </p:nvPicPr>
        <p:blipFill>
          <a:blip r:embed="rId3"/>
          <a:stretch>
            <a:fillRect/>
          </a:stretch>
        </p:blipFill>
        <p:spPr>
          <a:xfrm>
            <a:off x="10577093" y="1478813"/>
            <a:ext cx="641909" cy="641909"/>
          </a:xfrm>
          <a:prstGeom prst="rect">
            <a:avLst/>
          </a:prstGeom>
        </p:spPr>
      </p:pic>
      <p:sp>
        <p:nvSpPr>
          <p:cNvPr id="9" name="Text 5"/>
          <p:cNvSpPr/>
          <p:nvPr/>
        </p:nvSpPr>
        <p:spPr>
          <a:xfrm>
            <a:off x="548640" y="1371600"/>
            <a:ext cx="9509760" cy="365760"/>
          </a:xfrm>
          <a:prstGeom prst="rect">
            <a:avLst/>
          </a:prstGeom>
          <a:noFill/>
          <a:ln/>
        </p:spPr>
        <p:txBody>
          <a:bodyPr wrap="square" lIns="0" tIns="0" rIns="0" bIns="0" rtlCol="0" anchor="t"/>
          <a:lstStyle/>
          <a:p>
            <a:pPr marL="0" indent="0">
              <a:buNone/>
            </a:pPr>
            <a:r>
              <a:rPr lang="en-US" sz="1400" i="1" dirty="0">
                <a:solidFill>
                  <a:srgbClr val="5A5A5A"/>
                </a:solidFill>
                <a:latin typeface="Montserrat" pitchFamily="34" charset="0"/>
                <a:ea typeface="Montserrat" pitchFamily="34" charset="-122"/>
                <a:cs typeface="Montserrat" pitchFamily="34" charset="-120"/>
              </a:rPr>
              <a:t>Instructor pod, edu-210-11.0a-09.xml loaded and committed</a:t>
            </a:r>
            <a:endParaRPr lang="en-US" sz="1400" dirty="0"/>
          </a:p>
        </p:txBody>
      </p:sp>
      <p:sp>
        <p:nvSpPr>
          <p:cNvPr id="10" name="Text 6"/>
          <p:cNvSpPr/>
          <p:nvPr/>
        </p:nvSpPr>
        <p:spPr>
          <a:xfrm>
            <a:off x="548640" y="1874520"/>
            <a:ext cx="9418320" cy="356616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1F1A1B"/>
                </a:solidFill>
                <a:latin typeface="Montserrat" pitchFamily="34" charset="0"/>
                <a:ea typeface="Montserrat" pitchFamily="34" charset="-122"/>
                <a:cs typeface="Montserrat" pitchFamily="34" charset="-120"/>
              </a:rPr>
              <a:t>Add </a:t>
            </a:r>
            <a:r>
              <a:rPr lang="en-US" sz="1400" dirty="0">
                <a:solidFill>
                  <a:srgbClr val="5E0013"/>
                </a:solidFill>
                <a:latin typeface="Courier New" pitchFamily="34" charset="0"/>
                <a:ea typeface="Courier New" pitchFamily="34" charset="-122"/>
                <a:cs typeface="Courier New" pitchFamily="34" charset="-120"/>
              </a:rPr>
              <a:t>Block-Bad-URLs</a:t>
            </a:r>
            <a:r>
              <a:rPr lang="en-US" sz="1400" dirty="0">
                <a:solidFill>
                  <a:srgbClr val="1F1A1B"/>
                </a:solidFill>
                <a:latin typeface="Montserrat" pitchFamily="34" charset="0"/>
                <a:ea typeface="Montserrat" pitchFamily="34" charset="-122"/>
                <a:cs typeface="Montserrat" pitchFamily="34" charset="-120"/>
              </a:rPr>
              <a:t> with URL categories; browse to </a:t>
            </a:r>
            <a:r>
              <a:rPr lang="en-US" sz="1400" dirty="0">
                <a:solidFill>
                  <a:srgbClr val="5E0013"/>
                </a:solidFill>
                <a:latin typeface="Courier New" pitchFamily="34" charset="0"/>
                <a:ea typeface="Courier New" pitchFamily="34" charset="-122"/>
                <a:cs typeface="Courier New" pitchFamily="34" charset="-120"/>
              </a:rPr>
              <a:t>hacker9.com</a:t>
            </a:r>
            <a:r>
              <a:rPr lang="en-US" sz="1400" dirty="0">
                <a:solidFill>
                  <a:srgbClr val="1F1A1B"/>
                </a:solidFill>
                <a:latin typeface="Montserrat" pitchFamily="34" charset="0"/>
                <a:ea typeface="Montserrat" pitchFamily="34" charset="-122"/>
                <a:cs typeface="Montserrat" pitchFamily="34" charset="-120"/>
              </a:rPr>
              <a:t>.</a:t>
            </a:r>
            <a:endParaRPr lang="en-US" sz="1400" dirty="0"/>
          </a:p>
          <a:p>
            <a:pPr marL="177800" indent="-177800">
              <a:spcAft>
                <a:spcPts val="800"/>
              </a:spcAft>
              <a:buSzPct val="100000"/>
              <a:buChar char="•"/>
            </a:pPr>
            <a:r>
              <a:rPr lang="en-US" sz="1400" dirty="0">
                <a:solidFill>
                  <a:srgbClr val="1F1A1B"/>
                </a:solidFill>
                <a:latin typeface="Montserrat" pitchFamily="34" charset="0"/>
                <a:ea typeface="Montserrat" pitchFamily="34" charset="-122"/>
                <a:cs typeface="Montserrat" pitchFamily="34" charset="-120"/>
              </a:rPr>
              <a:t>Build </a:t>
            </a:r>
            <a:r>
              <a:rPr lang="en-US" sz="1400" dirty="0">
                <a:solidFill>
                  <a:srgbClr val="5E0013"/>
                </a:solidFill>
                <a:latin typeface="Courier New" pitchFamily="34" charset="0"/>
                <a:ea typeface="Courier New" pitchFamily="34" charset="-122"/>
                <a:cs typeface="Courier New" pitchFamily="34" charset="-120"/>
              </a:rPr>
              <a:t>Corp-URL-Profile</a:t>
            </a:r>
            <a:r>
              <a:rPr lang="en-US" sz="1400" dirty="0">
                <a:solidFill>
                  <a:srgbClr val="1F1A1B"/>
                </a:solidFill>
                <a:latin typeface="Montserrat" pitchFamily="34" charset="0"/>
                <a:ea typeface="Montserrat" pitchFamily="34" charset="-122"/>
                <a:cs typeface="Montserrat" pitchFamily="34" charset="-120"/>
              </a:rPr>
              <a:t>, add it to </a:t>
            </a:r>
            <a:r>
              <a:rPr lang="en-US" sz="1400" dirty="0">
                <a:solidFill>
                  <a:srgbClr val="5E0013"/>
                </a:solidFill>
                <a:latin typeface="Courier New" pitchFamily="34" charset="0"/>
                <a:ea typeface="Courier New" pitchFamily="34" charset="-122"/>
                <a:cs typeface="Courier New" pitchFamily="34" charset="-120"/>
              </a:rPr>
              <a:t>Corp-Profiles-Group</a:t>
            </a:r>
            <a:r>
              <a:rPr lang="en-US" sz="1400" dirty="0">
                <a:solidFill>
                  <a:srgbClr val="1F1A1B"/>
                </a:solidFill>
                <a:latin typeface="Montserrat" pitchFamily="34" charset="0"/>
                <a:ea typeface="Montserrat" pitchFamily="34" charset="-122"/>
                <a:cs typeface="Montserrat" pitchFamily="34" charset="-120"/>
              </a:rPr>
              <a:t>, compare block pages.</a:t>
            </a:r>
            <a:endParaRPr lang="en-US" sz="1400" dirty="0"/>
          </a:p>
          <a:p>
            <a:pPr marL="177800" indent="-177800">
              <a:spcAft>
                <a:spcPts val="800"/>
              </a:spcAft>
              <a:buSzPct val="100000"/>
              <a:buChar char="•"/>
            </a:pPr>
            <a:r>
              <a:rPr lang="en-US" sz="1400" dirty="0">
                <a:solidFill>
                  <a:srgbClr val="1F1A1B"/>
                </a:solidFill>
                <a:latin typeface="Montserrat" pitchFamily="34" charset="0"/>
                <a:ea typeface="Montserrat" pitchFamily="34" charset="-122"/>
                <a:cs typeface="Montserrat" pitchFamily="34" charset="-120"/>
              </a:rPr>
              <a:t>Create </a:t>
            </a:r>
            <a:r>
              <a:rPr lang="en-US" sz="1400" dirty="0">
                <a:solidFill>
                  <a:srgbClr val="5E0013"/>
                </a:solidFill>
                <a:latin typeface="Courier New" pitchFamily="34" charset="0"/>
                <a:ea typeface="Courier New" pitchFamily="34" charset="-122"/>
                <a:cs typeface="Courier New" pitchFamily="34" charset="-120"/>
              </a:rPr>
              <a:t>Block-Per-Company-Policy</a:t>
            </a:r>
            <a:r>
              <a:rPr lang="en-US" sz="1400" dirty="0">
                <a:solidFill>
                  <a:srgbClr val="1F1A1B"/>
                </a:solidFill>
                <a:latin typeface="Montserrat" pitchFamily="34" charset="0"/>
                <a:ea typeface="Montserrat" pitchFamily="34" charset="-122"/>
                <a:cs typeface="Montserrat" pitchFamily="34" charset="-120"/>
              </a:rPr>
              <a:t> and test </a:t>
            </a:r>
            <a:r>
              <a:rPr lang="en-US" sz="1400" dirty="0">
                <a:solidFill>
                  <a:srgbClr val="5E0013"/>
                </a:solidFill>
                <a:latin typeface="Courier New" pitchFamily="34" charset="0"/>
                <a:ea typeface="Courier New" pitchFamily="34" charset="-122"/>
                <a:cs typeface="Courier New" pitchFamily="34" charset="-120"/>
              </a:rPr>
              <a:t>nbcnews.com</a:t>
            </a:r>
            <a:r>
              <a:rPr lang="en-US" sz="1400" dirty="0">
                <a:solidFill>
                  <a:srgbClr val="1F1A1B"/>
                </a:solidFill>
                <a:latin typeface="Montserrat" pitchFamily="34" charset="0"/>
                <a:ea typeface="Montserrat" pitchFamily="34" charset="-122"/>
                <a:cs typeface="Montserrat" pitchFamily="34" charset="-120"/>
              </a:rPr>
              <a:t>.</a:t>
            </a:r>
            <a:endParaRPr lang="en-US" sz="1400" dirty="0"/>
          </a:p>
          <a:p>
            <a:pPr marL="177800" indent="-177800">
              <a:spcAft>
                <a:spcPts val="800"/>
              </a:spcAft>
              <a:buSzPct val="100000"/>
              <a:buChar char="•"/>
            </a:pPr>
            <a:r>
              <a:rPr lang="en-US" sz="1400" dirty="0">
                <a:solidFill>
                  <a:srgbClr val="1F1A1B"/>
                </a:solidFill>
                <a:latin typeface="Montserrat" pitchFamily="34" charset="0"/>
                <a:ea typeface="Montserrat" pitchFamily="34" charset="-122"/>
                <a:cs typeface="Montserrat" pitchFamily="34" charset="-120"/>
              </a:rPr>
              <a:t>Create </a:t>
            </a:r>
            <a:r>
              <a:rPr lang="en-US" sz="1400" dirty="0">
                <a:solidFill>
                  <a:srgbClr val="5E0013"/>
                </a:solidFill>
                <a:latin typeface="Courier New" pitchFamily="34" charset="0"/>
                <a:ea typeface="Courier New" pitchFamily="34" charset="-122"/>
                <a:cs typeface="Courier New" pitchFamily="34" charset="-120"/>
              </a:rPr>
              <a:t>malicious-urls-edl</a:t>
            </a:r>
            <a:r>
              <a:rPr lang="en-US" sz="1400" dirty="0">
                <a:solidFill>
                  <a:srgbClr val="1F1A1B"/>
                </a:solidFill>
                <a:latin typeface="Montserrat" pitchFamily="34" charset="0"/>
                <a:ea typeface="Montserrat" pitchFamily="34" charset="-122"/>
                <a:cs typeface="Montserrat" pitchFamily="34" charset="-120"/>
              </a:rPr>
              <a:t> and click Test Source URL.</a:t>
            </a:r>
            <a:endParaRPr lang="en-US" sz="1400" dirty="0"/>
          </a:p>
          <a:p>
            <a:pPr marL="177800" indent="-177800">
              <a:spcAft>
                <a:spcPts val="800"/>
              </a:spcAft>
              <a:buSzPct val="100000"/>
              <a:buChar char="•"/>
            </a:pPr>
            <a:r>
              <a:rPr lang="en-US" sz="1400" dirty="0">
                <a:solidFill>
                  <a:srgbClr val="1F1A1B"/>
                </a:solidFill>
                <a:latin typeface="Montserrat" pitchFamily="34" charset="0"/>
                <a:ea typeface="Montserrat" pitchFamily="34" charset="-122"/>
                <a:cs typeface="Montserrat" pitchFamily="34" charset="-120"/>
              </a:rPr>
              <a:t>Show a schedule object and the Content-ID continue timeout.</a:t>
            </a:r>
            <a:endParaRPr lang="en-US" sz="1400" dirty="0"/>
          </a:p>
          <a:p>
            <a:pPr marL="177800" indent="-177800">
              <a:spcAft>
                <a:spcPts val="800"/>
              </a:spcAft>
              <a:buSzPct val="100000"/>
              <a:buChar char="•"/>
            </a:pPr>
            <a:r>
              <a:rPr lang="en-US" sz="1400" dirty="0">
                <a:solidFill>
                  <a:srgbClr val="1F1A1B"/>
                </a:solidFill>
                <a:latin typeface="Montserrat" pitchFamily="34" charset="0"/>
                <a:ea typeface="Montserrat" pitchFamily="34" charset="-122"/>
                <a:cs typeface="Montserrat" pitchFamily="34" charset="-120"/>
              </a:rPr>
              <a:t>Open the Anti-Spyware DNS Policies tab; run </a:t>
            </a:r>
            <a:r>
              <a:rPr lang="en-US" sz="1400" dirty="0">
                <a:solidFill>
                  <a:srgbClr val="5E0013"/>
                </a:solidFill>
                <a:latin typeface="Courier New" pitchFamily="34" charset="0"/>
                <a:ea typeface="Courier New" pitchFamily="34" charset="-122"/>
                <a:cs typeface="Courier New" pitchFamily="34" charset="-120"/>
              </a:rPr>
              <a:t>show url-cloud status</a:t>
            </a:r>
            <a:r>
              <a:rPr lang="en-US" sz="1400" dirty="0">
                <a:solidFill>
                  <a:srgbClr val="1F1A1B"/>
                </a:solidFill>
                <a:latin typeface="Montserrat" pitchFamily="34" charset="0"/>
                <a:ea typeface="Montserrat" pitchFamily="34" charset="-122"/>
                <a:cs typeface="Montserrat" pitchFamily="34" charset="-120"/>
              </a:rPr>
              <a:t>.</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65760"/>
            <a:ext cx="11155680" cy="658368"/>
          </a:xfrm>
          <a:prstGeom prst="rect">
            <a:avLst/>
          </a:prstGeom>
          <a:noFill/>
          <a:ln/>
        </p:spPr>
        <p:txBody>
          <a:bodyPr wrap="square" rtlCol="0"/>
          <a:lstStyle/>
          <a:p>
            <a:pPr marL="0" indent="0" algn="l">
              <a:buNone/>
            </a:pPr>
            <a:r>
              <a:rPr lang="en-US" sz="2500" b="1" dirty="0">
                <a:solidFill>
                  <a:srgbClr val="7A0019"/>
                </a:solidFill>
                <a:latin typeface="Poppins" pitchFamily="34" charset="0"/>
                <a:ea typeface="Poppins" pitchFamily="34" charset="-122"/>
                <a:cs typeface="Poppins" pitchFamily="34" charset="-120"/>
              </a:rPr>
              <a:t>Hands-On Lab 9: Advanced URL Filtering</a:t>
            </a:r>
            <a:endParaRPr lang="en-US" sz="2500" dirty="0"/>
          </a:p>
        </p:txBody>
      </p:sp>
      <p:sp>
        <p:nvSpPr>
          <p:cNvPr id="3" name="Shape 1"/>
          <p:cNvSpPr/>
          <p:nvPr/>
        </p:nvSpPr>
        <p:spPr>
          <a:xfrm>
            <a:off x="521208" y="1042416"/>
            <a:ext cx="914400" cy="54864"/>
          </a:xfrm>
          <a:prstGeom prst="rect">
            <a:avLst/>
          </a:prstGeom>
          <a:solidFill>
            <a:srgbClr val="FDB71A"/>
          </a:solidFill>
          <a:ln/>
        </p:spPr>
        <p:txBody>
          <a:bodyPr/>
          <a:lstStyle/>
          <a:p>
            <a:endParaRPr lang="en-US"/>
          </a:p>
        </p:txBody>
      </p:sp>
      <p:sp>
        <p:nvSpPr>
          <p:cNvPr id="4" name="Text 2"/>
          <p:cNvSpPr/>
          <p:nvPr/>
        </p:nvSpPr>
        <p:spPr>
          <a:xfrm>
            <a:off x="502920" y="6437376"/>
            <a:ext cx="8229600" cy="274320"/>
          </a:xfrm>
          <a:prstGeom prst="rect">
            <a:avLst/>
          </a:prstGeom>
          <a:noFill/>
          <a:ln/>
        </p:spPr>
        <p:txBody>
          <a:bodyPr wrap="square" lIns="0" tIns="0" rIns="0" bIns="0" rtlCol="0" anchor="ctr"/>
          <a:lstStyle/>
          <a:p>
            <a:pPr marL="0" indent="0">
              <a:buNone/>
            </a:pPr>
            <a:r>
              <a:rPr lang="en-US" sz="900" dirty="0">
                <a:solidFill>
                  <a:srgbClr val="5A5A5A"/>
                </a:solidFill>
                <a:latin typeface="Montserrat" pitchFamily="34" charset="0"/>
                <a:ea typeface="Montserrat" pitchFamily="34" charset="-122"/>
                <a:cs typeface="Montserrat" pitchFamily="34" charset="-120"/>
              </a:rPr>
              <a:t>Information Security 2 · Unit 10 · Web Content Filtering</a:t>
            </a:r>
            <a:endParaRPr lang="en-US" sz="900" dirty="0"/>
          </a:p>
        </p:txBody>
      </p:sp>
      <p:sp>
        <p:nvSpPr>
          <p:cNvPr id="5" name="Text 3"/>
          <p:cNvSpPr/>
          <p:nvPr/>
        </p:nvSpPr>
        <p:spPr>
          <a:xfrm>
            <a:off x="11247120" y="6437376"/>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Montserrat" pitchFamily="34" charset="0"/>
                <a:ea typeface="Montserrat" pitchFamily="34" charset="-122"/>
                <a:cs typeface="Montserrat" pitchFamily="34" charset="-120"/>
              </a:rPr>
              <a:t>35</a:t>
            </a:r>
            <a:endParaRPr lang="en-US" sz="900" dirty="0"/>
          </a:p>
        </p:txBody>
      </p:sp>
      <p:sp>
        <p:nvSpPr>
          <p:cNvPr id="7" name="Shape 4"/>
          <p:cNvSpPr/>
          <p:nvPr/>
        </p:nvSpPr>
        <p:spPr>
          <a:xfrm>
            <a:off x="10287000" y="1188720"/>
            <a:ext cx="1234440" cy="1234440"/>
          </a:xfrm>
          <a:prstGeom prst="ellipse">
            <a:avLst/>
          </a:prstGeom>
          <a:solidFill>
            <a:srgbClr val="FDB71A"/>
          </a:solidFill>
          <a:ln/>
        </p:spPr>
        <p:txBody>
          <a:bodyPr/>
          <a:lstStyle/>
          <a:p>
            <a:endParaRPr lang="en-US"/>
          </a:p>
        </p:txBody>
      </p:sp>
      <p:pic>
        <p:nvPicPr>
          <p:cNvPr id="8" name="Image 0" descr="Section icon"/>
          <p:cNvPicPr>
            <a:picLocks noChangeAspect="1"/>
          </p:cNvPicPr>
          <p:nvPr/>
        </p:nvPicPr>
        <p:blipFill>
          <a:blip r:embed="rId3"/>
          <a:stretch>
            <a:fillRect/>
          </a:stretch>
        </p:blipFill>
        <p:spPr>
          <a:xfrm>
            <a:off x="10577093" y="1478813"/>
            <a:ext cx="641909" cy="641909"/>
          </a:xfrm>
          <a:prstGeom prst="rect">
            <a:avLst/>
          </a:prstGeom>
        </p:spPr>
      </p:pic>
      <p:sp>
        <p:nvSpPr>
          <p:cNvPr id="9" name="Text 5"/>
          <p:cNvSpPr/>
          <p:nvPr/>
        </p:nvSpPr>
        <p:spPr>
          <a:xfrm>
            <a:off x="548640" y="1371600"/>
            <a:ext cx="9509760" cy="365760"/>
          </a:xfrm>
          <a:prstGeom prst="rect">
            <a:avLst/>
          </a:prstGeom>
          <a:noFill/>
          <a:ln/>
        </p:spPr>
        <p:txBody>
          <a:bodyPr wrap="square" lIns="0" tIns="0" rIns="0" bIns="0" rtlCol="0" anchor="t"/>
          <a:lstStyle/>
          <a:p>
            <a:pPr marL="0" indent="0">
              <a:buNone/>
            </a:pPr>
            <a:r>
              <a:rPr lang="en-US" sz="1400" i="1" dirty="0">
                <a:solidFill>
                  <a:srgbClr val="5A5A5A"/>
                </a:solidFill>
                <a:latin typeface="Montserrat" pitchFamily="34" charset="0"/>
                <a:ea typeface="Montserrat" pitchFamily="34" charset="-122"/>
                <a:cs typeface="Montserrat" pitchFamily="34" charset="-120"/>
              </a:rPr>
              <a:t>NETLAB+ · PANv11 Firewall Essentials Lab 9 · load </a:t>
            </a:r>
            <a:r>
              <a:rPr lang="en-US" sz="1400" i="1" dirty="0">
                <a:solidFill>
                  <a:srgbClr val="5E0013"/>
                </a:solidFill>
                <a:latin typeface="Courier New" pitchFamily="34" charset="0"/>
                <a:ea typeface="Courier New" pitchFamily="34" charset="-122"/>
                <a:cs typeface="Courier New" pitchFamily="34" charset="-120"/>
              </a:rPr>
              <a:t>edu-210-11.0a-09.xml</a:t>
            </a:r>
            <a:endParaRPr lang="en-US" sz="1400" dirty="0"/>
          </a:p>
        </p:txBody>
      </p:sp>
      <p:sp>
        <p:nvSpPr>
          <p:cNvPr id="10" name="Text 6"/>
          <p:cNvSpPr/>
          <p:nvPr/>
        </p:nvSpPr>
        <p:spPr>
          <a:xfrm>
            <a:off x="548640" y="1874520"/>
            <a:ext cx="9418320" cy="32004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1F1A1B"/>
                </a:solidFill>
                <a:latin typeface="Montserrat" pitchFamily="34" charset="0"/>
                <a:ea typeface="Montserrat" pitchFamily="34" charset="-122"/>
                <a:cs typeface="Montserrat" pitchFamily="34" charset="-120"/>
              </a:rPr>
              <a:t>Test access to hacker9.com and hidester.com with no filtering in place.</a:t>
            </a:r>
            <a:endParaRPr lang="en-US" sz="1400" dirty="0"/>
          </a:p>
          <a:p>
            <a:pPr marL="177800" indent="-177800">
              <a:spcAft>
                <a:spcPts val="800"/>
              </a:spcAft>
              <a:buSzPct val="100000"/>
              <a:buChar char="•"/>
            </a:pPr>
            <a:r>
              <a:rPr lang="en-US" sz="1400" dirty="0">
                <a:solidFill>
                  <a:srgbClr val="1F1A1B"/>
                </a:solidFill>
                <a:latin typeface="Montserrat" pitchFamily="34" charset="0"/>
                <a:ea typeface="Montserrat" pitchFamily="34" charset="-122"/>
                <a:cs typeface="Montserrat" pitchFamily="34" charset="-120"/>
              </a:rPr>
              <a:t>Block categories with the </a:t>
            </a:r>
            <a:r>
              <a:rPr lang="en-US" sz="1400" dirty="0">
                <a:solidFill>
                  <a:srgbClr val="5E0013"/>
                </a:solidFill>
                <a:latin typeface="Courier New" pitchFamily="34" charset="0"/>
                <a:ea typeface="Courier New" pitchFamily="34" charset="-122"/>
                <a:cs typeface="Courier New" pitchFamily="34" charset="-120"/>
              </a:rPr>
              <a:t>Block-Bad-URLs</a:t>
            </a:r>
            <a:r>
              <a:rPr lang="en-US" sz="1400" dirty="0">
                <a:solidFill>
                  <a:srgbClr val="1F1A1B"/>
                </a:solidFill>
                <a:latin typeface="Montserrat" pitchFamily="34" charset="0"/>
                <a:ea typeface="Montserrat" pitchFamily="34" charset="-122"/>
                <a:cs typeface="Montserrat" pitchFamily="34" charset="-120"/>
              </a:rPr>
              <a:t> Security rule, then test and read the logs.</a:t>
            </a:r>
            <a:endParaRPr lang="en-US" sz="1400" dirty="0"/>
          </a:p>
          <a:p>
            <a:pPr marL="177800" indent="-177800">
              <a:spcAft>
                <a:spcPts val="800"/>
              </a:spcAft>
              <a:buSzPct val="100000"/>
              <a:buChar char="•"/>
            </a:pPr>
            <a:r>
              <a:rPr lang="en-US" sz="1400" dirty="0">
                <a:solidFill>
                  <a:srgbClr val="1F1A1B"/>
                </a:solidFill>
                <a:latin typeface="Montserrat" pitchFamily="34" charset="0"/>
                <a:ea typeface="Montserrat" pitchFamily="34" charset="-122"/>
                <a:cs typeface="Montserrat" pitchFamily="34" charset="-120"/>
              </a:rPr>
              <a:t>Block the same categories with </a:t>
            </a:r>
            <a:r>
              <a:rPr lang="en-US" sz="1400" dirty="0">
                <a:solidFill>
                  <a:srgbClr val="5E0013"/>
                </a:solidFill>
                <a:latin typeface="Courier New" pitchFamily="34" charset="0"/>
                <a:ea typeface="Courier New" pitchFamily="34" charset="-122"/>
                <a:cs typeface="Courier New" pitchFamily="34" charset="-120"/>
              </a:rPr>
              <a:t>Corp-URL-Profile</a:t>
            </a:r>
            <a:r>
              <a:rPr lang="en-US" sz="1400" dirty="0">
                <a:solidFill>
                  <a:srgbClr val="1F1A1B"/>
                </a:solidFill>
                <a:latin typeface="Montserrat" pitchFamily="34" charset="0"/>
                <a:ea typeface="Montserrat" pitchFamily="34" charset="-122"/>
                <a:cs typeface="Montserrat" pitchFamily="34" charset="-120"/>
              </a:rPr>
              <a:t> and compare the block pages.</a:t>
            </a:r>
            <a:endParaRPr lang="en-US" sz="1400" dirty="0"/>
          </a:p>
          <a:p>
            <a:pPr marL="177800" indent="-177800">
              <a:spcAft>
                <a:spcPts val="800"/>
              </a:spcAft>
              <a:buSzPct val="100000"/>
              <a:buChar char="•"/>
            </a:pPr>
            <a:r>
              <a:rPr lang="en-US" sz="1400" dirty="0">
                <a:solidFill>
                  <a:srgbClr val="1F1A1B"/>
                </a:solidFill>
                <a:latin typeface="Montserrat" pitchFamily="34" charset="0"/>
                <a:ea typeface="Montserrat" pitchFamily="34" charset="-122"/>
                <a:cs typeface="Montserrat" pitchFamily="34" charset="-120"/>
              </a:rPr>
              <a:t>Block </a:t>
            </a:r>
            <a:r>
              <a:rPr lang="en-US" sz="1400" dirty="0">
                <a:solidFill>
                  <a:srgbClr val="5E0013"/>
                </a:solidFill>
                <a:latin typeface="Courier New" pitchFamily="34" charset="0"/>
                <a:ea typeface="Courier New" pitchFamily="34" charset="-122"/>
                <a:cs typeface="Courier New" pitchFamily="34" charset="-120"/>
              </a:rPr>
              <a:t>*.nbcnews.com</a:t>
            </a:r>
            <a:r>
              <a:rPr lang="en-US" sz="1400" dirty="0">
                <a:solidFill>
                  <a:srgbClr val="1F1A1B"/>
                </a:solidFill>
                <a:latin typeface="Montserrat" pitchFamily="34" charset="0"/>
                <a:ea typeface="Montserrat" pitchFamily="34" charset="-122"/>
                <a:cs typeface="Montserrat" pitchFamily="34" charset="-120"/>
              </a:rPr>
              <a:t> and </a:t>
            </a:r>
            <a:r>
              <a:rPr lang="en-US" sz="1400" dirty="0">
                <a:solidFill>
                  <a:srgbClr val="5E0013"/>
                </a:solidFill>
                <a:latin typeface="Courier New" pitchFamily="34" charset="0"/>
                <a:ea typeface="Courier New" pitchFamily="34" charset="-122"/>
                <a:cs typeface="Courier New" pitchFamily="34" charset="-120"/>
              </a:rPr>
              <a:t>*.theguardian.com</a:t>
            </a:r>
            <a:r>
              <a:rPr lang="en-US" sz="1400" dirty="0">
                <a:solidFill>
                  <a:srgbClr val="1F1A1B"/>
                </a:solidFill>
                <a:latin typeface="Montserrat" pitchFamily="34" charset="0"/>
                <a:ea typeface="Montserrat" pitchFamily="34" charset="-122"/>
                <a:cs typeface="Montserrat" pitchFamily="34" charset="-120"/>
              </a:rPr>
              <a:t> with a custom URL category.</a:t>
            </a:r>
            <a:endParaRPr lang="en-US" sz="1400" dirty="0"/>
          </a:p>
          <a:p>
            <a:pPr marL="177800" indent="-177800">
              <a:spcAft>
                <a:spcPts val="800"/>
              </a:spcAft>
              <a:buSzPct val="100000"/>
              <a:buChar char="•"/>
            </a:pPr>
            <a:r>
              <a:rPr lang="en-US" sz="1400" dirty="0">
                <a:solidFill>
                  <a:srgbClr val="1F1A1B"/>
                </a:solidFill>
                <a:latin typeface="Montserrat" pitchFamily="34" charset="0"/>
                <a:ea typeface="Montserrat" pitchFamily="34" charset="-122"/>
                <a:cs typeface="Montserrat" pitchFamily="34" charset="-120"/>
              </a:rPr>
              <a:t>Block </a:t>
            </a:r>
            <a:r>
              <a:rPr lang="en-US" sz="1400" dirty="0">
                <a:solidFill>
                  <a:srgbClr val="5E0013"/>
                </a:solidFill>
                <a:latin typeface="Courier New" pitchFamily="34" charset="0"/>
                <a:ea typeface="Courier New" pitchFamily="34" charset="-122"/>
                <a:cs typeface="Courier New" pitchFamily="34" charset="-120"/>
              </a:rPr>
              <a:t>www.popurls.com</a:t>
            </a:r>
            <a:r>
              <a:rPr lang="en-US" sz="1400" dirty="0">
                <a:solidFill>
                  <a:srgbClr val="1F1A1B"/>
                </a:solidFill>
                <a:latin typeface="Montserrat" pitchFamily="34" charset="0"/>
                <a:ea typeface="Montserrat" pitchFamily="34" charset="-122"/>
                <a:cs typeface="Montserrat" pitchFamily="34" charset="-120"/>
              </a:rPr>
              <a:t> with the </a:t>
            </a:r>
            <a:r>
              <a:rPr lang="en-US" sz="1400" dirty="0">
                <a:solidFill>
                  <a:srgbClr val="5E0013"/>
                </a:solidFill>
                <a:latin typeface="Courier New" pitchFamily="34" charset="0"/>
                <a:ea typeface="Courier New" pitchFamily="34" charset="-122"/>
                <a:cs typeface="Courier New" pitchFamily="34" charset="-120"/>
              </a:rPr>
              <a:t>malicious-urls-edl</a:t>
            </a:r>
            <a:r>
              <a:rPr lang="en-US" sz="1400" dirty="0">
                <a:solidFill>
                  <a:srgbClr val="1F1A1B"/>
                </a:solidFill>
                <a:latin typeface="Montserrat" pitchFamily="34" charset="0"/>
                <a:ea typeface="Montserrat" pitchFamily="34" charset="-122"/>
                <a:cs typeface="Montserrat" pitchFamily="34" charset="-120"/>
              </a:rPr>
              <a:t> External Dynamic List.</a:t>
            </a:r>
            <a:endParaRPr lang="en-US" sz="1400" dirty="0"/>
          </a:p>
        </p:txBody>
      </p:sp>
      <p:sp>
        <p:nvSpPr>
          <p:cNvPr id="11" name="Text 7"/>
          <p:cNvSpPr/>
          <p:nvPr/>
        </p:nvSpPr>
        <p:spPr>
          <a:xfrm>
            <a:off x="548640" y="5166360"/>
            <a:ext cx="10972800" cy="365760"/>
          </a:xfrm>
          <a:prstGeom prst="rect">
            <a:avLst/>
          </a:prstGeom>
          <a:noFill/>
          <a:ln/>
        </p:spPr>
        <p:txBody>
          <a:bodyPr wrap="square" lIns="0" tIns="0" rIns="0" bIns="0" rtlCol="0" anchor="t"/>
          <a:lstStyle/>
          <a:p>
            <a:pPr marL="0" indent="0">
              <a:buNone/>
            </a:pPr>
            <a:r>
              <a:rPr lang="en-US" sz="1250" i="1" dirty="0">
                <a:solidFill>
                  <a:srgbClr val="5A5A5A"/>
                </a:solidFill>
                <a:latin typeface="Montserrat" pitchFamily="34" charset="0"/>
                <a:ea typeface="Montserrat" pitchFamily="34" charset="-122"/>
                <a:cs typeface="Montserrat" pitchFamily="34" charset="-120"/>
              </a:rPr>
              <a:t>Use Firefox in a private window for every test so cached pages don't hide a block.</a:t>
            </a:r>
            <a:endParaRPr lang="en-US" sz="12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65760"/>
            <a:ext cx="11155680" cy="658368"/>
          </a:xfrm>
          <a:prstGeom prst="rect">
            <a:avLst/>
          </a:prstGeom>
          <a:noFill/>
          <a:ln/>
        </p:spPr>
        <p:txBody>
          <a:bodyPr wrap="square" rtlCol="0"/>
          <a:lstStyle/>
          <a:p>
            <a:pPr marL="0" indent="0" algn="l">
              <a:buNone/>
            </a:pPr>
            <a:r>
              <a:rPr lang="en-US" sz="2500" b="1" dirty="0">
                <a:solidFill>
                  <a:srgbClr val="7A0019"/>
                </a:solidFill>
                <a:latin typeface="Poppins" pitchFamily="34" charset="0"/>
                <a:ea typeface="Poppins" pitchFamily="34" charset="-122"/>
                <a:cs typeface="Poppins" pitchFamily="34" charset="-120"/>
              </a:rPr>
              <a:t>Lab 9 Heads-Up</a:t>
            </a:r>
            <a:endParaRPr lang="en-US" sz="2500" dirty="0"/>
          </a:p>
        </p:txBody>
      </p:sp>
      <p:sp>
        <p:nvSpPr>
          <p:cNvPr id="3" name="Shape 1"/>
          <p:cNvSpPr/>
          <p:nvPr/>
        </p:nvSpPr>
        <p:spPr>
          <a:xfrm>
            <a:off x="521208" y="1042416"/>
            <a:ext cx="914400" cy="54864"/>
          </a:xfrm>
          <a:prstGeom prst="rect">
            <a:avLst/>
          </a:prstGeom>
          <a:solidFill>
            <a:srgbClr val="FDB71A"/>
          </a:solidFill>
          <a:ln/>
        </p:spPr>
        <p:txBody>
          <a:bodyPr/>
          <a:lstStyle/>
          <a:p>
            <a:endParaRPr lang="en-US"/>
          </a:p>
        </p:txBody>
      </p:sp>
      <p:sp>
        <p:nvSpPr>
          <p:cNvPr id="4" name="Text 2"/>
          <p:cNvSpPr/>
          <p:nvPr/>
        </p:nvSpPr>
        <p:spPr>
          <a:xfrm>
            <a:off x="502920" y="6437376"/>
            <a:ext cx="8229600" cy="274320"/>
          </a:xfrm>
          <a:prstGeom prst="rect">
            <a:avLst/>
          </a:prstGeom>
          <a:noFill/>
          <a:ln/>
        </p:spPr>
        <p:txBody>
          <a:bodyPr wrap="square" lIns="0" tIns="0" rIns="0" bIns="0" rtlCol="0" anchor="ctr"/>
          <a:lstStyle/>
          <a:p>
            <a:pPr marL="0" indent="0">
              <a:buNone/>
            </a:pPr>
            <a:r>
              <a:rPr lang="en-US" sz="900" dirty="0">
                <a:solidFill>
                  <a:srgbClr val="5A5A5A"/>
                </a:solidFill>
                <a:latin typeface="Montserrat" pitchFamily="34" charset="0"/>
                <a:ea typeface="Montserrat" pitchFamily="34" charset="-122"/>
                <a:cs typeface="Montserrat" pitchFamily="34" charset="-120"/>
              </a:rPr>
              <a:t>Information Security 2 · Unit 10 · Web Content Filtering</a:t>
            </a:r>
            <a:endParaRPr lang="en-US" sz="900" dirty="0"/>
          </a:p>
        </p:txBody>
      </p:sp>
      <p:sp>
        <p:nvSpPr>
          <p:cNvPr id="5" name="Text 3"/>
          <p:cNvSpPr/>
          <p:nvPr/>
        </p:nvSpPr>
        <p:spPr>
          <a:xfrm>
            <a:off x="11247120" y="6437376"/>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Montserrat" pitchFamily="34" charset="0"/>
                <a:ea typeface="Montserrat" pitchFamily="34" charset="-122"/>
                <a:cs typeface="Montserrat" pitchFamily="34" charset="-120"/>
              </a:rPr>
              <a:t>36</a:t>
            </a:r>
            <a:endParaRPr lang="en-US" sz="900" dirty="0"/>
          </a:p>
        </p:txBody>
      </p:sp>
      <p:sp>
        <p:nvSpPr>
          <p:cNvPr id="7" name="Text 4"/>
          <p:cNvSpPr/>
          <p:nvPr/>
        </p:nvSpPr>
        <p:spPr>
          <a:xfrm>
            <a:off x="548640" y="1371600"/>
            <a:ext cx="10972800" cy="365760"/>
          </a:xfrm>
          <a:prstGeom prst="rect">
            <a:avLst/>
          </a:prstGeom>
          <a:noFill/>
          <a:ln/>
        </p:spPr>
        <p:txBody>
          <a:bodyPr wrap="square" lIns="0" tIns="0" rIns="0" bIns="0" rtlCol="0" anchor="t"/>
          <a:lstStyle/>
          <a:p>
            <a:pPr marL="0" indent="0">
              <a:buNone/>
            </a:pPr>
            <a:r>
              <a:rPr lang="en-US" sz="1400" dirty="0">
                <a:solidFill>
                  <a:srgbClr val="5A5A5A"/>
                </a:solidFill>
                <a:latin typeface="Montserrat" pitchFamily="34" charset="0"/>
                <a:ea typeface="Montserrat" pitchFamily="34" charset="-122"/>
                <a:cs typeface="Montserrat" pitchFamily="34" charset="-120"/>
              </a:rPr>
              <a:t>The lab guide has a few naming slips. Use these names:</a:t>
            </a:r>
            <a:endParaRPr lang="en-US" sz="14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2286000"/>
        </p:xfrm>
        <a:graphic>
          <a:graphicData uri="http://schemas.openxmlformats.org/drawingml/2006/table">
            <a:tbl>
              <a:tblPr/>
              <a:tblGrid>
                <a:gridCol w="41148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457200">
                <a:tc>
                  <a:txBody>
                    <a:bodyPr/>
                    <a:lstStyle/>
                    <a:p>
                      <a:pPr marL="0" indent="0">
                        <a:buNone/>
                      </a:pPr>
                      <a:r>
                        <a:rPr lang="en-US" sz="1250" b="1" dirty="0">
                          <a:solidFill>
                            <a:srgbClr val="FFFFFF"/>
                          </a:solidFill>
                          <a:latin typeface="Poppins" pitchFamily="34" charset="0"/>
                          <a:ea typeface="Poppins" pitchFamily="34" charset="-122"/>
                          <a:cs typeface="Poppins" pitchFamily="34" charset="-120"/>
                        </a:rPr>
                        <a:t>Where</a:t>
                      </a:r>
                      <a:endParaRPr lang="en-US" sz="1200" dirty="0"/>
                    </a:p>
                  </a:txBody>
                  <a:tcPr marL="76200" marR="76200" marT="38100" marB="38100" anchor="ctr">
                    <a:lnL w="0" cap="flat" cmpd="sng" algn="ctr">
                      <a:noFill/>
                    </a:lnL>
                    <a:lnR w="0" cap="flat" cmpd="sng" algn="ctr">
                      <a:noFill/>
                    </a:lnR>
                    <a:lnT w="12700" cap="flat" cmpd="sng" algn="ctr">
                      <a:solidFill>
                        <a:srgbClr val="D9D2D4"/>
                      </a:solidFill>
                      <a:prstDash val="solid"/>
                      <a:round/>
                      <a:headEnd type="none" w="med" len="med"/>
                      <a:tailEnd type="none" w="med" len="med"/>
                    </a:lnT>
                    <a:lnB w="0" cap="flat" cmpd="sng" algn="ctr">
                      <a:noFill/>
                    </a:lnB>
                    <a:solidFill>
                      <a:srgbClr val="7A0019"/>
                    </a:solidFill>
                  </a:tcPr>
                </a:tc>
                <a:tc>
                  <a:txBody>
                    <a:bodyPr/>
                    <a:lstStyle/>
                    <a:p>
                      <a:pPr marL="0" indent="0">
                        <a:buNone/>
                      </a:pPr>
                      <a:r>
                        <a:rPr lang="en-US" sz="1250" b="1" dirty="0">
                          <a:solidFill>
                            <a:srgbClr val="FFFFFF"/>
                          </a:solidFill>
                          <a:latin typeface="Poppins" pitchFamily="34" charset="0"/>
                          <a:ea typeface="Poppins" pitchFamily="34" charset="-122"/>
                          <a:cs typeface="Poppins" pitchFamily="34" charset="-120"/>
                        </a:rPr>
                        <a:t>Guide says</a:t>
                      </a:r>
                      <a:endParaRPr lang="en-US" sz="1200" dirty="0"/>
                    </a:p>
                  </a:txBody>
                  <a:tcPr marL="76200" marR="76200" marT="38100" marB="38100" anchor="ctr">
                    <a:lnL w="0" cap="flat" cmpd="sng" algn="ctr">
                      <a:noFill/>
                    </a:lnL>
                    <a:lnR w="0" cap="flat" cmpd="sng" algn="ctr">
                      <a:noFill/>
                    </a:lnR>
                    <a:lnT w="12700" cap="flat" cmpd="sng" algn="ctr">
                      <a:solidFill>
                        <a:srgbClr val="D9D2D4"/>
                      </a:solidFill>
                      <a:prstDash val="solid"/>
                      <a:round/>
                      <a:headEnd type="none" w="med" len="med"/>
                      <a:tailEnd type="none" w="med" len="med"/>
                    </a:lnT>
                    <a:lnB w="0" cap="flat" cmpd="sng" algn="ctr">
                      <a:noFill/>
                    </a:lnB>
                    <a:solidFill>
                      <a:srgbClr val="7A0019"/>
                    </a:solidFill>
                  </a:tcPr>
                </a:tc>
                <a:tc>
                  <a:txBody>
                    <a:bodyPr/>
                    <a:lstStyle/>
                    <a:p>
                      <a:pPr marL="0" indent="0">
                        <a:buNone/>
                      </a:pPr>
                      <a:r>
                        <a:rPr lang="en-US" sz="1250" b="1" dirty="0">
                          <a:solidFill>
                            <a:srgbClr val="FFFFFF"/>
                          </a:solidFill>
                          <a:latin typeface="Poppins" pitchFamily="34" charset="0"/>
                          <a:ea typeface="Poppins" pitchFamily="34" charset="-122"/>
                          <a:cs typeface="Poppins" pitchFamily="34" charset="-120"/>
                        </a:rPr>
                        <a:t>Use</a:t>
                      </a:r>
                      <a:endParaRPr lang="en-US" sz="1200" dirty="0"/>
                    </a:p>
                  </a:txBody>
                  <a:tcPr marL="76200" marR="76200" marT="38100" marB="38100" anchor="ctr">
                    <a:lnL w="0" cap="flat" cmpd="sng" algn="ctr">
                      <a:noFill/>
                    </a:lnL>
                    <a:lnR w="0" cap="flat" cmpd="sng" algn="ctr">
                      <a:noFill/>
                    </a:lnR>
                    <a:lnT w="12700" cap="flat" cmpd="sng" algn="ctr">
                      <a:solidFill>
                        <a:srgbClr val="D9D2D4"/>
                      </a:solidFill>
                      <a:prstDash val="solid"/>
                      <a:round/>
                      <a:headEnd type="none" w="med" len="med"/>
                      <a:tailEnd type="none" w="med" len="med"/>
                    </a:lnT>
                    <a:lnB w="0" cap="flat" cmpd="sng" algn="ctr">
                      <a:noFill/>
                    </a:lnB>
                    <a:solidFill>
                      <a:srgbClr val="7A0019"/>
                    </a:solidFill>
                  </a:tcPr>
                </a:tc>
                <a:extLst>
                  <a:ext uri="{0D108BD9-81ED-4DB2-BD59-A6C34878D82A}">
                    <a16:rowId xmlns:a16="http://schemas.microsoft.com/office/drawing/2014/main" val="10000"/>
                  </a:ext>
                </a:extLst>
              </a:tr>
              <a:tr h="457200">
                <a:tc>
                  <a:txBody>
                    <a:bodyPr/>
                    <a:lstStyle/>
                    <a:p>
                      <a:pPr marL="0" indent="0">
                        <a:buNone/>
                      </a:pPr>
                      <a:r>
                        <a:rPr lang="en-US" sz="1250" b="1" dirty="0">
                          <a:solidFill>
                            <a:srgbClr val="7A0019"/>
                          </a:solidFill>
                          <a:latin typeface="Montserrat" pitchFamily="34" charset="0"/>
                          <a:ea typeface="Montserrat" pitchFamily="34" charset="-122"/>
                          <a:cs typeface="Montserrat" pitchFamily="34" charset="-120"/>
                        </a:rPr>
                        <a:t>High-level 1.7</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BF1F3"/>
                    </a:solidFill>
                  </a:tcPr>
                </a:tc>
                <a:tc>
                  <a:txBody>
                    <a:bodyPr/>
                    <a:lstStyle/>
                    <a:p>
                      <a:pPr marL="0" indent="0">
                        <a:buNone/>
                      </a:pPr>
                      <a:r>
                        <a:rPr lang="en-US" sz="1250" dirty="0">
                          <a:solidFill>
                            <a:srgbClr val="1F1A1B"/>
                          </a:solidFill>
                          <a:latin typeface="Montserrat" pitchFamily="34" charset="0"/>
                          <a:ea typeface="Montserrat" pitchFamily="34" charset="-122"/>
                          <a:cs typeface="Montserrat" pitchFamily="34" charset="-120"/>
                        </a:rPr>
                        <a:t>Corp-Security-Group</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FFFFF"/>
                    </a:solidFill>
                  </a:tcPr>
                </a:tc>
                <a:tc>
                  <a:txBody>
                    <a:bodyPr/>
                    <a:lstStyle/>
                    <a:p>
                      <a:pPr marL="0" indent="0">
                        <a:buNone/>
                      </a:pPr>
                      <a:r>
                        <a:rPr lang="en-US" sz="1250" dirty="0">
                          <a:solidFill>
                            <a:srgbClr val="1F1A1B"/>
                          </a:solidFill>
                          <a:latin typeface="Montserrat" pitchFamily="34" charset="0"/>
                          <a:ea typeface="Montserrat" pitchFamily="34" charset="-122"/>
                          <a:cs typeface="Montserrat" pitchFamily="34" charset="-120"/>
                        </a:rPr>
                        <a:t>Corp-Profiles-Group</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250" b="1" dirty="0">
                          <a:solidFill>
                            <a:srgbClr val="7A0019"/>
                          </a:solidFill>
                          <a:latin typeface="Montserrat" pitchFamily="34" charset="0"/>
                          <a:ea typeface="Montserrat" pitchFamily="34" charset="-122"/>
                          <a:cs typeface="Montserrat" pitchFamily="34" charset="-120"/>
                        </a:rPr>
                        <a:t>High-level 1.7, intro 2.6</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BF1F3"/>
                    </a:solidFill>
                  </a:tcPr>
                </a:tc>
                <a:tc>
                  <a:txBody>
                    <a:bodyPr/>
                    <a:lstStyle/>
                    <a:p>
                      <a:pPr marL="0" indent="0">
                        <a:buNone/>
                      </a:pPr>
                      <a:r>
                        <a:rPr lang="en-US" sz="1250" dirty="0">
                          <a:solidFill>
                            <a:srgbClr val="1F1A1B"/>
                          </a:solidFill>
                          <a:latin typeface="Montserrat" pitchFamily="34" charset="0"/>
                          <a:ea typeface="Montserrat" pitchFamily="34" charset="-122"/>
                          <a:cs typeface="Montserrat" pitchFamily="34" charset="-120"/>
                        </a:rPr>
                        <a:t>Corp-URL-Filtering</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AF6F7"/>
                    </a:solidFill>
                  </a:tcPr>
                </a:tc>
                <a:tc>
                  <a:txBody>
                    <a:bodyPr/>
                    <a:lstStyle/>
                    <a:p>
                      <a:pPr marL="0" indent="0">
                        <a:buNone/>
                      </a:pPr>
                      <a:r>
                        <a:rPr lang="en-US" sz="1250" dirty="0">
                          <a:solidFill>
                            <a:srgbClr val="1F1A1B"/>
                          </a:solidFill>
                          <a:latin typeface="Montserrat" pitchFamily="34" charset="0"/>
                          <a:ea typeface="Montserrat" pitchFamily="34" charset="-122"/>
                          <a:cs typeface="Montserrat" pitchFamily="34" charset="-120"/>
                        </a:rPr>
                        <a:t>Corp-URL-Profile</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AF6F7"/>
                    </a:solidFill>
                  </a:tcPr>
                </a:tc>
                <a:extLst>
                  <a:ext uri="{0D108BD9-81ED-4DB2-BD59-A6C34878D82A}">
                    <a16:rowId xmlns:a16="http://schemas.microsoft.com/office/drawing/2014/main" val="10002"/>
                  </a:ext>
                </a:extLst>
              </a:tr>
              <a:tr h="457200">
                <a:tc>
                  <a:txBody>
                    <a:bodyPr/>
                    <a:lstStyle/>
                    <a:p>
                      <a:pPr marL="0" indent="0">
                        <a:buNone/>
                      </a:pPr>
                      <a:r>
                        <a:rPr lang="en-US" sz="1250" b="1" dirty="0">
                          <a:solidFill>
                            <a:srgbClr val="7A0019"/>
                          </a:solidFill>
                          <a:latin typeface="Montserrat" pitchFamily="34" charset="0"/>
                          <a:ea typeface="Montserrat" pitchFamily="34" charset="-122"/>
                          <a:cs typeface="Montserrat" pitchFamily="34" charset="-120"/>
                        </a:rPr>
                        <a:t>Detailed 2.3 step 9</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BF1F3"/>
                    </a:solidFill>
                  </a:tcPr>
                </a:tc>
                <a:tc>
                  <a:txBody>
                    <a:bodyPr/>
                    <a:lstStyle/>
                    <a:p>
                      <a:pPr marL="0" indent="0">
                        <a:buNone/>
                      </a:pPr>
                      <a:r>
                        <a:rPr lang="en-US" sz="1250" dirty="0">
                          <a:solidFill>
                            <a:srgbClr val="1F1A1B"/>
                          </a:solidFill>
                          <a:latin typeface="Montserrat" pitchFamily="34" charset="0"/>
                          <a:ea typeface="Montserrat" pitchFamily="34" charset="-122"/>
                          <a:cs typeface="Montserrat" pitchFamily="34" charset="-120"/>
                        </a:rPr>
                        <a:t>block-known-bad-urls</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FFFFF"/>
                    </a:solidFill>
                  </a:tcPr>
                </a:tc>
                <a:tc>
                  <a:txBody>
                    <a:bodyPr/>
                    <a:lstStyle/>
                    <a:p>
                      <a:pPr marL="0" indent="0">
                        <a:buNone/>
                      </a:pPr>
                      <a:r>
                        <a:rPr lang="en-US" sz="1250" dirty="0">
                          <a:solidFill>
                            <a:srgbClr val="1F1A1B"/>
                          </a:solidFill>
                          <a:latin typeface="Montserrat" pitchFamily="34" charset="0"/>
                          <a:ea typeface="Montserrat" pitchFamily="34" charset="-122"/>
                          <a:cs typeface="Montserrat" pitchFamily="34" charset="-120"/>
                        </a:rPr>
                        <a:t>Block-Bad-URLs</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250" b="1" dirty="0">
                          <a:solidFill>
                            <a:srgbClr val="7A0019"/>
                          </a:solidFill>
                          <a:latin typeface="Montserrat" pitchFamily="34" charset="0"/>
                          <a:ea typeface="Montserrat" pitchFamily="34" charset="-122"/>
                          <a:cs typeface="Montserrat" pitchFamily="34" charset="-120"/>
                        </a:rPr>
                        <a:t>Detailed 2.5 step 4</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BF1F3"/>
                    </a:solidFill>
                  </a:tcPr>
                </a:tc>
                <a:tc>
                  <a:txBody>
                    <a:bodyPr/>
                    <a:lstStyle/>
                    <a:p>
                      <a:pPr marL="0" indent="0">
                        <a:buNone/>
                      </a:pPr>
                      <a:r>
                        <a:rPr lang="en-US" sz="1250" dirty="0">
                          <a:solidFill>
                            <a:srgbClr val="1F1A1B"/>
                          </a:solidFill>
                          <a:latin typeface="Montserrat" pitchFamily="34" charset="0"/>
                          <a:ea typeface="Montserrat" pitchFamily="34" charset="-122"/>
                          <a:cs typeface="Montserrat" pitchFamily="34" charset="-120"/>
                        </a:rPr>
                        <a:t>copyright-infrigement</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AF6F7"/>
                    </a:solidFill>
                  </a:tcPr>
                </a:tc>
                <a:tc>
                  <a:txBody>
                    <a:bodyPr/>
                    <a:lstStyle/>
                    <a:p>
                      <a:pPr marL="0" indent="0">
                        <a:buNone/>
                      </a:pPr>
                      <a:r>
                        <a:rPr lang="en-US" sz="1250" dirty="0">
                          <a:solidFill>
                            <a:srgbClr val="1F1A1B"/>
                          </a:solidFill>
                          <a:latin typeface="Montserrat" pitchFamily="34" charset="0"/>
                          <a:ea typeface="Montserrat" pitchFamily="34" charset="-122"/>
                          <a:cs typeface="Montserrat" pitchFamily="34" charset="-120"/>
                        </a:rPr>
                        <a:t>copyright-infringement</a:t>
                      </a:r>
                      <a:endParaRPr lang="en-US" sz="1200" dirty="0"/>
                    </a:p>
                  </a:txBody>
                  <a:tcPr marL="76200" marR="76200" marT="38100" marB="38100" anchor="ctr">
                    <a:lnL w="0" cap="flat" cmpd="sng" algn="ctr">
                      <a:noFill/>
                    </a:lnL>
                    <a:lnR w="0" cap="flat" cmpd="sng" algn="ctr">
                      <a:noFill/>
                    </a:lnR>
                    <a:lnT w="12700" cap="flat" cmpd="sng" algn="ctr">
                      <a:noFill/>
                      <a:prstDash val="solid"/>
                      <a:round/>
                      <a:headEnd type="none" w="med" len="med"/>
                      <a:tailEnd type="none" w="med" len="med"/>
                    </a:lnT>
                    <a:lnB w="0" cap="flat" cmpd="sng" algn="ctr">
                      <a:noFill/>
                    </a:lnB>
                    <a:solidFill>
                      <a:srgbClr val="FAF6F7"/>
                    </a:solidFill>
                  </a:tcPr>
                </a:tc>
                <a:extLst>
                  <a:ext uri="{0D108BD9-81ED-4DB2-BD59-A6C34878D82A}">
                    <a16:rowId xmlns:a16="http://schemas.microsoft.com/office/drawing/2014/main" val="10004"/>
                  </a:ext>
                </a:extLst>
              </a:tr>
            </a:tbl>
          </a:graphicData>
        </a:graphic>
      </p:graphicFrame>
      <p:sp>
        <p:nvSpPr>
          <p:cNvPr id="9" name="Shape 5"/>
          <p:cNvSpPr/>
          <p:nvPr/>
        </p:nvSpPr>
        <p:spPr>
          <a:xfrm>
            <a:off x="548640" y="4343400"/>
            <a:ext cx="11109960" cy="822960"/>
          </a:xfrm>
          <a:prstGeom prst="roundRect">
            <a:avLst>
              <a:gd name="adj" fmla="val 2222"/>
            </a:avLst>
          </a:prstGeom>
          <a:solidFill>
            <a:srgbClr val="FEF6E3"/>
          </a:solidFill>
          <a:ln/>
          <a:effectLst>
            <a:outerShdw blurRad="88900" dist="38100" dir="5400000" algn="bl" rotWithShape="0">
              <a:srgbClr val="000000">
                <a:alpha val="15000"/>
              </a:srgbClr>
            </a:outerShdw>
          </a:effectLst>
        </p:spPr>
        <p:txBody>
          <a:bodyPr/>
          <a:lstStyle/>
          <a:p>
            <a:endParaRPr lang="en-US"/>
          </a:p>
        </p:txBody>
      </p:sp>
      <p:sp>
        <p:nvSpPr>
          <p:cNvPr id="10" name="Text 6"/>
          <p:cNvSpPr/>
          <p:nvPr/>
        </p:nvSpPr>
        <p:spPr>
          <a:xfrm>
            <a:off x="777240" y="4343400"/>
            <a:ext cx="10698480" cy="822960"/>
          </a:xfrm>
          <a:prstGeom prst="rect">
            <a:avLst/>
          </a:prstGeom>
          <a:noFill/>
          <a:ln/>
        </p:spPr>
        <p:txBody>
          <a:bodyPr wrap="square" lIns="0" tIns="0" rIns="0" bIns="0" rtlCol="0" anchor="ctr"/>
          <a:lstStyle/>
          <a:p>
            <a:pPr marL="0" indent="0">
              <a:buNone/>
            </a:pPr>
            <a:r>
              <a:rPr lang="en-US" sz="1350" b="1" dirty="0">
                <a:solidFill>
                  <a:srgbClr val="7A0019"/>
                </a:solidFill>
                <a:latin typeface="Montserrat" pitchFamily="34" charset="0"/>
                <a:ea typeface="Montserrat" pitchFamily="34" charset="-122"/>
                <a:cs typeface="Montserrat" pitchFamily="34" charset="-120"/>
              </a:rPr>
              <a:t>Also:  </a:t>
            </a:r>
            <a:r>
              <a:rPr lang="en-US" sz="1350" dirty="0">
                <a:solidFill>
                  <a:srgbClr val="1F1A1B"/>
                </a:solidFill>
                <a:latin typeface="Montserrat" pitchFamily="34" charset="0"/>
                <a:ea typeface="Montserrat" pitchFamily="34" charset="-122"/>
                <a:cs typeface="Montserrat" pitchFamily="34" charset="-120"/>
              </a:rPr>
              <a:t>In 2.10 the profile, not the rule, does the blocking. At the end, disable Block-Bad-URLs and commit (high-level step 1.21).</a:t>
            </a:r>
            <a:endParaRPr lang="en-US" sz="13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65760"/>
            <a:ext cx="11155680" cy="658368"/>
          </a:xfrm>
          <a:prstGeom prst="rect">
            <a:avLst/>
          </a:prstGeom>
          <a:noFill/>
          <a:ln/>
        </p:spPr>
        <p:txBody>
          <a:bodyPr wrap="square" rtlCol="0"/>
          <a:lstStyle/>
          <a:p>
            <a:pPr marL="0" indent="0" algn="l">
              <a:buNone/>
            </a:pPr>
            <a:r>
              <a:rPr lang="en-US" sz="2500" b="1" dirty="0">
                <a:solidFill>
                  <a:srgbClr val="7A0019"/>
                </a:solidFill>
                <a:latin typeface="Poppins" pitchFamily="34" charset="0"/>
                <a:ea typeface="Poppins" pitchFamily="34" charset="-122"/>
                <a:cs typeface="Poppins" pitchFamily="34" charset="-120"/>
              </a:rPr>
              <a:t>Key Takeaways</a:t>
            </a:r>
            <a:endParaRPr lang="en-US" sz="2500" dirty="0"/>
          </a:p>
        </p:txBody>
      </p:sp>
      <p:sp>
        <p:nvSpPr>
          <p:cNvPr id="3" name="Shape 1"/>
          <p:cNvSpPr/>
          <p:nvPr/>
        </p:nvSpPr>
        <p:spPr>
          <a:xfrm>
            <a:off x="521208" y="1042416"/>
            <a:ext cx="914400" cy="54864"/>
          </a:xfrm>
          <a:prstGeom prst="rect">
            <a:avLst/>
          </a:prstGeom>
          <a:solidFill>
            <a:srgbClr val="FDB71A"/>
          </a:solidFill>
          <a:ln/>
        </p:spPr>
        <p:txBody>
          <a:bodyPr/>
          <a:lstStyle/>
          <a:p>
            <a:endParaRPr lang="en-US"/>
          </a:p>
        </p:txBody>
      </p:sp>
      <p:sp>
        <p:nvSpPr>
          <p:cNvPr id="4" name="Text 2"/>
          <p:cNvSpPr/>
          <p:nvPr/>
        </p:nvSpPr>
        <p:spPr>
          <a:xfrm>
            <a:off x="502920" y="6437376"/>
            <a:ext cx="8229600" cy="274320"/>
          </a:xfrm>
          <a:prstGeom prst="rect">
            <a:avLst/>
          </a:prstGeom>
          <a:noFill/>
          <a:ln/>
        </p:spPr>
        <p:txBody>
          <a:bodyPr wrap="square" lIns="0" tIns="0" rIns="0" bIns="0" rtlCol="0" anchor="ctr"/>
          <a:lstStyle/>
          <a:p>
            <a:pPr marL="0" indent="0">
              <a:buNone/>
            </a:pPr>
            <a:r>
              <a:rPr lang="en-US" sz="900" dirty="0">
                <a:solidFill>
                  <a:srgbClr val="5A5A5A"/>
                </a:solidFill>
                <a:latin typeface="Montserrat" pitchFamily="34" charset="0"/>
                <a:ea typeface="Montserrat" pitchFamily="34" charset="-122"/>
                <a:cs typeface="Montserrat" pitchFamily="34" charset="-120"/>
              </a:rPr>
              <a:t>Information Security 2 · Unit 10 · Web Content Filtering</a:t>
            </a:r>
            <a:endParaRPr lang="en-US" sz="900" dirty="0"/>
          </a:p>
        </p:txBody>
      </p:sp>
      <p:sp>
        <p:nvSpPr>
          <p:cNvPr id="5" name="Text 3"/>
          <p:cNvSpPr/>
          <p:nvPr/>
        </p:nvSpPr>
        <p:spPr>
          <a:xfrm>
            <a:off x="11247120" y="6437376"/>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Montserrat" pitchFamily="34" charset="0"/>
                <a:ea typeface="Montserrat" pitchFamily="34" charset="-122"/>
                <a:cs typeface="Montserrat" pitchFamily="34" charset="-120"/>
              </a:rPr>
              <a:t>37</a:t>
            </a:r>
            <a:endParaRPr lang="en-US" sz="900" dirty="0"/>
          </a:p>
        </p:txBody>
      </p:sp>
      <p:sp>
        <p:nvSpPr>
          <p:cNvPr id="7" name="Shape 4"/>
          <p:cNvSpPr/>
          <p:nvPr/>
        </p:nvSpPr>
        <p:spPr>
          <a:xfrm>
            <a:off x="640080" y="1417320"/>
            <a:ext cx="548640" cy="548640"/>
          </a:xfrm>
          <a:prstGeom prst="ellipse">
            <a:avLst/>
          </a:prstGeom>
          <a:solidFill>
            <a:srgbClr val="FDB71A"/>
          </a:solidFill>
          <a:ln/>
        </p:spPr>
        <p:txBody>
          <a:bodyPr/>
          <a:lstStyle/>
          <a:p>
            <a:endParaRPr lang="en-US"/>
          </a:p>
        </p:txBody>
      </p:sp>
      <p:pic>
        <p:nvPicPr>
          <p:cNvPr id="8" name="Image 0" descr="Takeaway icon"/>
          <p:cNvPicPr>
            <a:picLocks noChangeAspect="1"/>
          </p:cNvPicPr>
          <p:nvPr/>
        </p:nvPicPr>
        <p:blipFill>
          <a:blip r:embed="rId3"/>
          <a:stretch>
            <a:fillRect/>
          </a:stretch>
        </p:blipFill>
        <p:spPr>
          <a:xfrm>
            <a:off x="768096" y="1545336"/>
            <a:ext cx="283464" cy="283464"/>
          </a:xfrm>
          <a:prstGeom prst="rect">
            <a:avLst/>
          </a:prstGeom>
        </p:spPr>
      </p:pic>
      <p:sp>
        <p:nvSpPr>
          <p:cNvPr id="9" name="Text 5"/>
          <p:cNvSpPr/>
          <p:nvPr/>
        </p:nvSpPr>
        <p:spPr>
          <a:xfrm>
            <a:off x="1417320" y="1399032"/>
            <a:ext cx="10241280" cy="566928"/>
          </a:xfrm>
          <a:prstGeom prst="rect">
            <a:avLst/>
          </a:prstGeom>
          <a:noFill/>
          <a:ln/>
        </p:spPr>
        <p:txBody>
          <a:bodyPr wrap="square" lIns="0" tIns="0" rIns="0" bIns="0" rtlCol="0" anchor="ctr"/>
          <a:lstStyle/>
          <a:p>
            <a:pPr marL="0" indent="0">
              <a:buNone/>
            </a:pPr>
            <a:r>
              <a:rPr lang="en-US" sz="1450" dirty="0">
                <a:solidFill>
                  <a:srgbClr val="1F1A1B"/>
                </a:solidFill>
                <a:latin typeface="Montserrat" pitchFamily="34" charset="0"/>
                <a:ea typeface="Montserrat" pitchFamily="34" charset="-122"/>
                <a:cs typeface="Montserrat" pitchFamily="34" charset="-120"/>
              </a:rPr>
              <a:t>URL categories work in a deny rule or in a profile on an allow rule. The profile gives more control and more logging.</a:t>
            </a:r>
            <a:endParaRPr lang="en-US" sz="1450" dirty="0"/>
          </a:p>
        </p:txBody>
      </p:sp>
      <p:sp>
        <p:nvSpPr>
          <p:cNvPr id="10" name="Shape 6"/>
          <p:cNvSpPr/>
          <p:nvPr/>
        </p:nvSpPr>
        <p:spPr>
          <a:xfrm>
            <a:off x="640080" y="2240280"/>
            <a:ext cx="548640" cy="548640"/>
          </a:xfrm>
          <a:prstGeom prst="ellipse">
            <a:avLst/>
          </a:prstGeom>
          <a:solidFill>
            <a:srgbClr val="FDB71A"/>
          </a:solidFill>
          <a:ln/>
        </p:spPr>
        <p:txBody>
          <a:bodyPr/>
          <a:lstStyle/>
          <a:p>
            <a:endParaRPr lang="en-US"/>
          </a:p>
        </p:txBody>
      </p:sp>
      <p:pic>
        <p:nvPicPr>
          <p:cNvPr id="11" name="Image 1" descr="Takeaway icon"/>
          <p:cNvPicPr>
            <a:picLocks noChangeAspect="1"/>
          </p:cNvPicPr>
          <p:nvPr/>
        </p:nvPicPr>
        <p:blipFill>
          <a:blip r:embed="rId4"/>
          <a:stretch>
            <a:fillRect/>
          </a:stretch>
        </p:blipFill>
        <p:spPr>
          <a:xfrm>
            <a:off x="768096" y="2368296"/>
            <a:ext cx="283464" cy="283464"/>
          </a:xfrm>
          <a:prstGeom prst="rect">
            <a:avLst/>
          </a:prstGeom>
        </p:spPr>
      </p:pic>
      <p:sp>
        <p:nvSpPr>
          <p:cNvPr id="12" name="Text 7"/>
          <p:cNvSpPr/>
          <p:nvPr/>
        </p:nvSpPr>
        <p:spPr>
          <a:xfrm>
            <a:off x="1417320" y="2221992"/>
            <a:ext cx="10241280" cy="566928"/>
          </a:xfrm>
          <a:prstGeom prst="rect">
            <a:avLst/>
          </a:prstGeom>
          <a:noFill/>
          <a:ln/>
        </p:spPr>
        <p:txBody>
          <a:bodyPr wrap="square" lIns="0" tIns="0" rIns="0" bIns="0" rtlCol="0" anchor="ctr"/>
          <a:lstStyle/>
          <a:p>
            <a:pPr marL="0" indent="0">
              <a:buNone/>
            </a:pPr>
            <a:r>
              <a:rPr lang="en-US" sz="1450" dirty="0">
                <a:solidFill>
                  <a:srgbClr val="1F1A1B"/>
                </a:solidFill>
                <a:latin typeface="Montserrat" pitchFamily="34" charset="0"/>
                <a:ea typeface="Montserrat" pitchFamily="34" charset="-122"/>
                <a:cs typeface="Montserrat" pitchFamily="34" charset="-120"/>
              </a:rPr>
              <a:t>Custom categories and EDLs let you react quickly, and custom actions beat predefined ones.</a:t>
            </a:r>
            <a:endParaRPr lang="en-US" sz="1450" dirty="0"/>
          </a:p>
        </p:txBody>
      </p:sp>
      <p:sp>
        <p:nvSpPr>
          <p:cNvPr id="13" name="Shape 8"/>
          <p:cNvSpPr/>
          <p:nvPr/>
        </p:nvSpPr>
        <p:spPr>
          <a:xfrm>
            <a:off x="640080" y="3063240"/>
            <a:ext cx="548640" cy="548640"/>
          </a:xfrm>
          <a:prstGeom prst="ellipse">
            <a:avLst/>
          </a:prstGeom>
          <a:solidFill>
            <a:srgbClr val="FDB71A"/>
          </a:solidFill>
          <a:ln/>
        </p:spPr>
        <p:txBody>
          <a:bodyPr/>
          <a:lstStyle/>
          <a:p>
            <a:endParaRPr lang="en-US"/>
          </a:p>
        </p:txBody>
      </p:sp>
      <p:pic>
        <p:nvPicPr>
          <p:cNvPr id="14" name="Image 2" descr="Takeaway icon"/>
          <p:cNvPicPr>
            <a:picLocks noChangeAspect="1"/>
          </p:cNvPicPr>
          <p:nvPr/>
        </p:nvPicPr>
        <p:blipFill>
          <a:blip r:embed="rId5"/>
          <a:stretch>
            <a:fillRect/>
          </a:stretch>
        </p:blipFill>
        <p:spPr>
          <a:xfrm>
            <a:off x="768096" y="3191256"/>
            <a:ext cx="283464" cy="283464"/>
          </a:xfrm>
          <a:prstGeom prst="rect">
            <a:avLst/>
          </a:prstGeom>
        </p:spPr>
      </p:pic>
      <p:sp>
        <p:nvSpPr>
          <p:cNvPr id="15" name="Text 9"/>
          <p:cNvSpPr/>
          <p:nvPr/>
        </p:nvSpPr>
        <p:spPr>
          <a:xfrm>
            <a:off x="1417320" y="3044952"/>
            <a:ext cx="10241280" cy="566928"/>
          </a:xfrm>
          <a:prstGeom prst="rect">
            <a:avLst/>
          </a:prstGeom>
          <a:noFill/>
          <a:ln/>
        </p:spPr>
        <p:txBody>
          <a:bodyPr wrap="square" lIns="0" tIns="0" rIns="0" bIns="0" rtlCol="0" anchor="ctr"/>
          <a:lstStyle/>
          <a:p>
            <a:pPr marL="0" indent="0">
              <a:buNone/>
            </a:pPr>
            <a:r>
              <a:rPr lang="en-US" sz="1450" dirty="0">
                <a:solidFill>
                  <a:srgbClr val="1F1A1B"/>
                </a:solidFill>
                <a:latin typeface="Montserrat" pitchFamily="34" charset="0"/>
                <a:ea typeface="Montserrat" pitchFamily="34" charset="-122"/>
                <a:cs typeface="Montserrat" pitchFamily="34" charset="-120"/>
              </a:rPr>
              <a:t>PAN-OS limits usage with continue timeouts, schedules, and QoS, not a minute counter.</a:t>
            </a:r>
            <a:endParaRPr lang="en-US" sz="1450" dirty="0"/>
          </a:p>
        </p:txBody>
      </p:sp>
      <p:sp>
        <p:nvSpPr>
          <p:cNvPr id="16" name="Shape 10"/>
          <p:cNvSpPr/>
          <p:nvPr/>
        </p:nvSpPr>
        <p:spPr>
          <a:xfrm>
            <a:off x="640080" y="3886200"/>
            <a:ext cx="548640" cy="548640"/>
          </a:xfrm>
          <a:prstGeom prst="ellipse">
            <a:avLst/>
          </a:prstGeom>
          <a:solidFill>
            <a:srgbClr val="FDB71A"/>
          </a:solidFill>
          <a:ln/>
        </p:spPr>
        <p:txBody>
          <a:bodyPr/>
          <a:lstStyle/>
          <a:p>
            <a:endParaRPr lang="en-US"/>
          </a:p>
        </p:txBody>
      </p:sp>
      <p:pic>
        <p:nvPicPr>
          <p:cNvPr id="17" name="Image 3" descr="Takeaway icon"/>
          <p:cNvPicPr>
            <a:picLocks noChangeAspect="1"/>
          </p:cNvPicPr>
          <p:nvPr/>
        </p:nvPicPr>
        <p:blipFill>
          <a:blip r:embed="rId6"/>
          <a:stretch>
            <a:fillRect/>
          </a:stretch>
        </p:blipFill>
        <p:spPr>
          <a:xfrm>
            <a:off x="768096" y="4014216"/>
            <a:ext cx="283464" cy="283464"/>
          </a:xfrm>
          <a:prstGeom prst="rect">
            <a:avLst/>
          </a:prstGeom>
        </p:spPr>
      </p:pic>
      <p:sp>
        <p:nvSpPr>
          <p:cNvPr id="18" name="Text 11"/>
          <p:cNvSpPr/>
          <p:nvPr/>
        </p:nvSpPr>
        <p:spPr>
          <a:xfrm>
            <a:off x="1417320" y="3867912"/>
            <a:ext cx="10241280" cy="566928"/>
          </a:xfrm>
          <a:prstGeom prst="rect">
            <a:avLst/>
          </a:prstGeom>
          <a:noFill/>
          <a:ln/>
        </p:spPr>
        <p:txBody>
          <a:bodyPr wrap="square" lIns="0" tIns="0" rIns="0" bIns="0" rtlCol="0" anchor="ctr"/>
          <a:lstStyle/>
          <a:p>
            <a:pPr marL="0" indent="0">
              <a:buNone/>
            </a:pPr>
            <a:r>
              <a:rPr lang="en-US" sz="1450" dirty="0">
                <a:solidFill>
                  <a:srgbClr val="1F1A1B"/>
                </a:solidFill>
                <a:latin typeface="Montserrat" pitchFamily="34" charset="0"/>
                <a:ea typeface="Montserrat" pitchFamily="34" charset="-122"/>
                <a:cs typeface="Montserrat" pitchFamily="34" charset="-120"/>
              </a:rPr>
              <a:t>DNS Security stops the lookup before any connection, and a sinkhole names the infected host.</a:t>
            </a:r>
            <a:endParaRPr lang="en-US" sz="1450" dirty="0"/>
          </a:p>
        </p:txBody>
      </p:sp>
      <p:sp>
        <p:nvSpPr>
          <p:cNvPr id="19" name="Shape 12"/>
          <p:cNvSpPr/>
          <p:nvPr/>
        </p:nvSpPr>
        <p:spPr>
          <a:xfrm>
            <a:off x="640080" y="4709160"/>
            <a:ext cx="548640" cy="548640"/>
          </a:xfrm>
          <a:prstGeom prst="ellipse">
            <a:avLst/>
          </a:prstGeom>
          <a:solidFill>
            <a:srgbClr val="FDB71A"/>
          </a:solidFill>
          <a:ln/>
        </p:spPr>
        <p:txBody>
          <a:bodyPr/>
          <a:lstStyle/>
          <a:p>
            <a:endParaRPr lang="en-US"/>
          </a:p>
        </p:txBody>
      </p:sp>
      <p:pic>
        <p:nvPicPr>
          <p:cNvPr id="20" name="Image 4" descr="Takeaway icon"/>
          <p:cNvPicPr>
            <a:picLocks noChangeAspect="1"/>
          </p:cNvPicPr>
          <p:nvPr/>
        </p:nvPicPr>
        <p:blipFill>
          <a:blip r:embed="rId7"/>
          <a:stretch>
            <a:fillRect/>
          </a:stretch>
        </p:blipFill>
        <p:spPr>
          <a:xfrm>
            <a:off x="768096" y="4837176"/>
            <a:ext cx="283464" cy="283464"/>
          </a:xfrm>
          <a:prstGeom prst="rect">
            <a:avLst/>
          </a:prstGeom>
        </p:spPr>
      </p:pic>
      <p:sp>
        <p:nvSpPr>
          <p:cNvPr id="21" name="Text 13"/>
          <p:cNvSpPr/>
          <p:nvPr/>
        </p:nvSpPr>
        <p:spPr>
          <a:xfrm>
            <a:off x="1417320" y="4690872"/>
            <a:ext cx="10241280" cy="566928"/>
          </a:xfrm>
          <a:prstGeom prst="rect">
            <a:avLst/>
          </a:prstGeom>
          <a:noFill/>
          <a:ln/>
        </p:spPr>
        <p:txBody>
          <a:bodyPr wrap="square" lIns="0" tIns="0" rIns="0" bIns="0" rtlCol="0" anchor="ctr"/>
          <a:lstStyle/>
          <a:p>
            <a:pPr marL="0" indent="0">
              <a:buNone/>
            </a:pPr>
            <a:r>
              <a:rPr lang="en-US" sz="1450" dirty="0">
                <a:solidFill>
                  <a:srgbClr val="1F1A1B"/>
                </a:solidFill>
                <a:latin typeface="Montserrat" pitchFamily="34" charset="0"/>
                <a:ea typeface="Montserrat" pitchFamily="34" charset="-122"/>
                <a:cs typeface="Montserrat" pitchFamily="34" charset="-120"/>
              </a:rPr>
              <a:t>Troubleshoot with precedence, the URL Filtering log, and show url-cloud status.</a:t>
            </a:r>
            <a:endParaRPr lang="en-US" sz="14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65760"/>
            <a:ext cx="11155680" cy="658368"/>
          </a:xfrm>
          <a:prstGeom prst="rect">
            <a:avLst/>
          </a:prstGeom>
          <a:noFill/>
          <a:ln/>
        </p:spPr>
        <p:txBody>
          <a:bodyPr wrap="square" rtlCol="0"/>
          <a:lstStyle/>
          <a:p>
            <a:pPr marL="0" indent="0" algn="l">
              <a:buNone/>
            </a:pPr>
            <a:r>
              <a:rPr lang="en-US" sz="2500" b="1" dirty="0">
                <a:solidFill>
                  <a:srgbClr val="7A0019"/>
                </a:solidFill>
                <a:latin typeface="Poppins" pitchFamily="34" charset="0"/>
                <a:ea typeface="Poppins" pitchFamily="34" charset="-122"/>
                <a:cs typeface="Poppins" pitchFamily="34" charset="-120"/>
              </a:rPr>
              <a:t>Unit 10 Homework</a:t>
            </a:r>
            <a:endParaRPr lang="en-US" sz="2500" dirty="0"/>
          </a:p>
        </p:txBody>
      </p:sp>
      <p:sp>
        <p:nvSpPr>
          <p:cNvPr id="3" name="Shape 1"/>
          <p:cNvSpPr/>
          <p:nvPr/>
        </p:nvSpPr>
        <p:spPr>
          <a:xfrm>
            <a:off x="521208" y="1042416"/>
            <a:ext cx="914400" cy="54864"/>
          </a:xfrm>
          <a:prstGeom prst="rect">
            <a:avLst/>
          </a:prstGeom>
          <a:solidFill>
            <a:srgbClr val="FDB71A"/>
          </a:solidFill>
          <a:ln/>
        </p:spPr>
        <p:txBody>
          <a:bodyPr/>
          <a:lstStyle/>
          <a:p>
            <a:endParaRPr lang="en-US"/>
          </a:p>
        </p:txBody>
      </p:sp>
      <p:sp>
        <p:nvSpPr>
          <p:cNvPr id="4" name="Text 2"/>
          <p:cNvSpPr/>
          <p:nvPr/>
        </p:nvSpPr>
        <p:spPr>
          <a:xfrm>
            <a:off x="502920" y="6437376"/>
            <a:ext cx="8229600" cy="274320"/>
          </a:xfrm>
          <a:prstGeom prst="rect">
            <a:avLst/>
          </a:prstGeom>
          <a:noFill/>
          <a:ln/>
        </p:spPr>
        <p:txBody>
          <a:bodyPr wrap="square" lIns="0" tIns="0" rIns="0" bIns="0" rtlCol="0" anchor="ctr"/>
          <a:lstStyle/>
          <a:p>
            <a:pPr marL="0" indent="0">
              <a:buNone/>
            </a:pPr>
            <a:r>
              <a:rPr lang="en-US" sz="900" dirty="0">
                <a:solidFill>
                  <a:srgbClr val="5A5A5A"/>
                </a:solidFill>
                <a:latin typeface="Montserrat" pitchFamily="34" charset="0"/>
                <a:ea typeface="Montserrat" pitchFamily="34" charset="-122"/>
                <a:cs typeface="Montserrat" pitchFamily="34" charset="-120"/>
              </a:rPr>
              <a:t>Information Security 2 · Unit 10 · Web Content Filtering</a:t>
            </a:r>
            <a:endParaRPr lang="en-US" sz="900" dirty="0"/>
          </a:p>
        </p:txBody>
      </p:sp>
      <p:sp>
        <p:nvSpPr>
          <p:cNvPr id="5" name="Text 3"/>
          <p:cNvSpPr/>
          <p:nvPr/>
        </p:nvSpPr>
        <p:spPr>
          <a:xfrm>
            <a:off x="11247120" y="6437376"/>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Montserrat" pitchFamily="34" charset="0"/>
                <a:ea typeface="Montserrat" pitchFamily="34" charset="-122"/>
                <a:cs typeface="Montserrat" pitchFamily="34" charset="-120"/>
              </a:rPr>
              <a:t>38</a:t>
            </a:r>
            <a:endParaRPr lang="en-US" sz="900" dirty="0"/>
          </a:p>
        </p:txBody>
      </p:sp>
      <p:sp>
        <p:nvSpPr>
          <p:cNvPr id="7" name="Text 4"/>
          <p:cNvSpPr/>
          <p:nvPr/>
        </p:nvSpPr>
        <p:spPr>
          <a:xfrm>
            <a:off x="548640" y="1371600"/>
            <a:ext cx="10972800" cy="365760"/>
          </a:xfrm>
          <a:prstGeom prst="rect">
            <a:avLst/>
          </a:prstGeom>
          <a:noFill/>
          <a:ln/>
        </p:spPr>
        <p:txBody>
          <a:bodyPr wrap="square" lIns="0" tIns="0" rIns="0" bIns="0" rtlCol="0" anchor="t"/>
          <a:lstStyle/>
          <a:p>
            <a:pPr marL="0" indent="0">
              <a:buNone/>
            </a:pPr>
            <a:r>
              <a:rPr lang="en-US" sz="1400" dirty="0">
                <a:solidFill>
                  <a:srgbClr val="5A5A5A"/>
                </a:solidFill>
                <a:latin typeface="Montserrat" pitchFamily="34" charset="0"/>
                <a:ea typeface="Montserrat" pitchFamily="34" charset="-122"/>
                <a:cs typeface="Montserrat" pitchFamily="34" charset="-120"/>
              </a:rPr>
              <a:t>Always check Blackboard for assignments and due dates.</a:t>
            </a:r>
            <a:endParaRPr lang="en-US" sz="1400" dirty="0"/>
          </a:p>
        </p:txBody>
      </p:sp>
      <p:sp>
        <p:nvSpPr>
          <p:cNvPr id="8" name="Text 5"/>
          <p:cNvSpPr/>
          <p:nvPr/>
        </p:nvSpPr>
        <p:spPr>
          <a:xfrm>
            <a:off x="548640" y="1920240"/>
            <a:ext cx="10972800" cy="1828800"/>
          </a:xfrm>
          <a:prstGeom prst="rect">
            <a:avLst/>
          </a:prstGeom>
          <a:noFill/>
          <a:ln/>
        </p:spPr>
        <p:txBody>
          <a:bodyPr wrap="square" lIns="0" tIns="0" rIns="0" bIns="0" rtlCol="0" anchor="t"/>
          <a:lstStyle/>
          <a:p>
            <a:pPr marL="177800" indent="-177800">
              <a:spcAft>
                <a:spcPts val="1200"/>
              </a:spcAft>
              <a:buSzPct val="100000"/>
              <a:buChar char="•"/>
            </a:pPr>
            <a:r>
              <a:rPr lang="en-US" sz="1500" dirty="0">
                <a:solidFill>
                  <a:srgbClr val="1F1A1B"/>
                </a:solidFill>
                <a:latin typeface="Montserrat" pitchFamily="34" charset="0"/>
                <a:ea typeface="Montserrat" pitchFamily="34" charset="-122"/>
                <a:cs typeface="Montserrat" pitchFamily="34" charset="-120"/>
              </a:rPr>
              <a:t>Unit 10 Lab: NETLAB+ Lab 9, Blocking Inappropriate Web Traffic with Advanced URL Filtering</a:t>
            </a:r>
            <a:endParaRPr lang="en-US" sz="1500" dirty="0"/>
          </a:p>
          <a:p>
            <a:pPr marL="177800" indent="-177800">
              <a:spcAft>
                <a:spcPts val="1200"/>
              </a:spcAft>
              <a:buSzPct val="100000"/>
              <a:buChar char="•"/>
            </a:pPr>
            <a:r>
              <a:rPr lang="en-US" sz="1500" dirty="0">
                <a:solidFill>
                  <a:srgbClr val="1F1A1B"/>
                </a:solidFill>
                <a:latin typeface="Montserrat" pitchFamily="34" charset="0"/>
                <a:ea typeface="Montserrat" pitchFamily="34" charset="-122"/>
                <a:cs typeface="Montserrat" pitchFamily="34" charset="-120"/>
              </a:rPr>
              <a:t>Unit 10 Quiz</a:t>
            </a:r>
            <a:endParaRPr lang="en-US" sz="1500" dirty="0"/>
          </a:p>
        </p:txBody>
      </p:sp>
      <p:sp>
        <p:nvSpPr>
          <p:cNvPr id="9" name="Shape 6"/>
          <p:cNvSpPr/>
          <p:nvPr/>
        </p:nvSpPr>
        <p:spPr>
          <a:xfrm>
            <a:off x="548640" y="3474720"/>
            <a:ext cx="11064240" cy="1463040"/>
          </a:xfrm>
          <a:prstGeom prst="roundRect">
            <a:avLst>
              <a:gd name="adj" fmla="val 1250"/>
            </a:avLst>
          </a:prstGeom>
          <a:solidFill>
            <a:srgbClr val="FBF1F3"/>
          </a:solidFill>
          <a:ln/>
          <a:effectLst>
            <a:outerShdw blurRad="88900" dist="38100" dir="5400000" algn="bl" rotWithShape="0">
              <a:srgbClr val="000000">
                <a:alpha val="15000"/>
              </a:srgbClr>
            </a:outerShdw>
          </a:effectLst>
        </p:spPr>
        <p:txBody>
          <a:bodyPr/>
          <a:lstStyle/>
          <a:p>
            <a:endParaRPr lang="en-US"/>
          </a:p>
        </p:txBody>
      </p:sp>
      <p:sp>
        <p:nvSpPr>
          <p:cNvPr id="10" name="Shape 7"/>
          <p:cNvSpPr/>
          <p:nvPr/>
        </p:nvSpPr>
        <p:spPr>
          <a:xfrm>
            <a:off x="868680" y="3749040"/>
            <a:ext cx="640080" cy="640080"/>
          </a:xfrm>
          <a:prstGeom prst="ellipse">
            <a:avLst/>
          </a:prstGeom>
          <a:solidFill>
            <a:srgbClr val="7A0019"/>
          </a:solidFill>
          <a:ln/>
        </p:spPr>
        <p:txBody>
          <a:bodyPr/>
          <a:lstStyle/>
          <a:p>
            <a:endParaRPr lang="en-US"/>
          </a:p>
        </p:txBody>
      </p:sp>
      <p:pic>
        <p:nvPicPr>
          <p:cNvPr id="11" name="Image 0" descr="Lab submission icon"/>
          <p:cNvPicPr>
            <a:picLocks noChangeAspect="1"/>
          </p:cNvPicPr>
          <p:nvPr/>
        </p:nvPicPr>
        <p:blipFill>
          <a:blip r:embed="rId3"/>
          <a:stretch>
            <a:fillRect/>
          </a:stretch>
        </p:blipFill>
        <p:spPr>
          <a:xfrm>
            <a:off x="1024128" y="3904488"/>
            <a:ext cx="329184" cy="329184"/>
          </a:xfrm>
          <a:prstGeom prst="rect">
            <a:avLst/>
          </a:prstGeom>
        </p:spPr>
      </p:pic>
      <p:sp>
        <p:nvSpPr>
          <p:cNvPr id="12" name="Text 8"/>
          <p:cNvSpPr/>
          <p:nvPr/>
        </p:nvSpPr>
        <p:spPr>
          <a:xfrm>
            <a:off x="1645920" y="3794760"/>
            <a:ext cx="9738360" cy="548640"/>
          </a:xfrm>
          <a:prstGeom prst="rect">
            <a:avLst/>
          </a:prstGeom>
          <a:noFill/>
          <a:ln/>
        </p:spPr>
        <p:txBody>
          <a:bodyPr wrap="square" lIns="0" tIns="0" rIns="0" bIns="0" rtlCol="0" anchor="t"/>
          <a:lstStyle/>
          <a:p>
            <a:pPr marL="0" indent="0">
              <a:buNone/>
            </a:pPr>
            <a:r>
              <a:rPr lang="en-US" sz="1350" b="1" dirty="0">
                <a:solidFill>
                  <a:srgbClr val="7A0019"/>
                </a:solidFill>
                <a:latin typeface="Poppins" pitchFamily="34" charset="0"/>
                <a:ea typeface="Poppins" pitchFamily="34" charset="-122"/>
                <a:cs typeface="Poppins" pitchFamily="34" charset="-120"/>
              </a:rPr>
              <a:t>Lab submission</a:t>
            </a:r>
            <a:endParaRPr lang="en-US" sz="1350" dirty="0"/>
          </a:p>
        </p:txBody>
      </p:sp>
      <p:sp>
        <p:nvSpPr>
          <p:cNvPr id="13" name="Text 9"/>
          <p:cNvSpPr/>
          <p:nvPr/>
        </p:nvSpPr>
        <p:spPr>
          <a:xfrm>
            <a:off x="777240" y="4617720"/>
            <a:ext cx="10607040" cy="365760"/>
          </a:xfrm>
          <a:prstGeom prst="rect">
            <a:avLst/>
          </a:prstGeom>
          <a:noFill/>
          <a:ln/>
        </p:spPr>
        <p:txBody>
          <a:bodyPr wrap="square" lIns="0" tIns="0" rIns="0" bIns="0" rtlCol="0" anchor="t"/>
          <a:lstStyle/>
          <a:p>
            <a:pPr marL="0" indent="0">
              <a:spcAft>
                <a:spcPts val="800"/>
              </a:spcAft>
              <a:buNone/>
            </a:pPr>
            <a:r>
              <a:rPr lang="en-US" sz="1300" dirty="0">
                <a:solidFill>
                  <a:srgbClr val="1F1A1B"/>
                </a:solidFill>
                <a:latin typeface="Montserrat" pitchFamily="34" charset="0"/>
                <a:ea typeface="Montserrat" pitchFamily="34" charset="-122"/>
                <a:cs typeface="Montserrat" pitchFamily="34" charset="-120"/>
              </a:rPr>
              <a:t>Capture the browser block page and the matching log entry for each test.</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914400" y="1828800"/>
            <a:ext cx="10360152" cy="365760"/>
          </a:xfrm>
          <a:prstGeom prst="rect">
            <a:avLst/>
          </a:prstGeom>
          <a:noFill/>
          <a:ln/>
        </p:spPr>
        <p:txBody>
          <a:bodyPr wrap="square" lIns="0" tIns="0" rIns="0" bIns="0" rtlCol="0" anchor="ctr"/>
          <a:lstStyle/>
          <a:p>
            <a:pPr marL="0" indent="0" algn="ctr">
              <a:buNone/>
            </a:pPr>
            <a:r>
              <a:rPr lang="en-US" sz="1300" b="1" kern="0" spc="300" dirty="0">
                <a:solidFill>
                  <a:srgbClr val="FDB71A"/>
                </a:solidFill>
                <a:latin typeface="Poppins" pitchFamily="34" charset="0"/>
                <a:ea typeface="Poppins" pitchFamily="34" charset="-122"/>
                <a:cs typeface="Poppins" pitchFamily="34" charset="-120"/>
              </a:rPr>
              <a:t>MID-STATE TECHNICAL COLLEGE · IT PROGRAMS</a:t>
            </a:r>
            <a:endParaRPr lang="en-US" sz="1300" dirty="0"/>
          </a:p>
        </p:txBody>
      </p:sp>
      <p:sp>
        <p:nvSpPr>
          <p:cNvPr id="3" name="Text 0"/>
          <p:cNvSpPr>
            <a:spLocks noGrp="1"/>
          </p:cNvSpPr>
          <p:nvPr>
            <p:ph type="title" idx="100" hasCustomPrompt="1"/>
          </p:nvPr>
        </p:nvSpPr>
        <p:spPr>
          <a:xfrm>
            <a:off x="914400" y="2468880"/>
            <a:ext cx="10360152" cy="1371600"/>
          </a:xfrm>
          <a:prstGeom prst="rect">
            <a:avLst/>
          </a:prstGeom>
          <a:noFill/>
          <a:ln/>
        </p:spPr>
        <p:txBody>
          <a:bodyPr wrap="square" rtlCol="0"/>
          <a:lstStyle/>
          <a:p>
            <a:pPr marL="0" indent="0" algn="ctr">
              <a:buNone/>
            </a:pPr>
            <a:r>
              <a:rPr lang="en-US" sz="4800" b="1" dirty="0">
                <a:solidFill>
                  <a:srgbClr val="FFFFFF"/>
                </a:solidFill>
                <a:latin typeface="Poppins" pitchFamily="34" charset="0"/>
                <a:ea typeface="Poppins" pitchFamily="34" charset="-122"/>
                <a:cs typeface="Poppins" pitchFamily="34" charset="-120"/>
              </a:rPr>
              <a:t>Questions?</a:t>
            </a:r>
            <a:endParaRPr lang="en-US" sz="4800" dirty="0"/>
          </a:p>
        </p:txBody>
      </p:sp>
      <p:sp>
        <p:nvSpPr>
          <p:cNvPr id="4" name="Shape 2"/>
          <p:cNvSpPr/>
          <p:nvPr/>
        </p:nvSpPr>
        <p:spPr>
          <a:xfrm>
            <a:off x="5276088" y="4023360"/>
            <a:ext cx="1645920" cy="64008"/>
          </a:xfrm>
          <a:prstGeom prst="rect">
            <a:avLst/>
          </a:prstGeom>
          <a:solidFill>
            <a:srgbClr val="FDB71A"/>
          </a:solidFill>
          <a:ln/>
        </p:spPr>
        <p:txBody>
          <a:bodyPr/>
          <a:lstStyle/>
          <a:p>
            <a:endParaRPr lang="en-US"/>
          </a:p>
        </p:txBody>
      </p:sp>
      <p:sp>
        <p:nvSpPr>
          <p:cNvPr id="5" name="Text 3"/>
          <p:cNvSpPr/>
          <p:nvPr/>
        </p:nvSpPr>
        <p:spPr>
          <a:xfrm>
            <a:off x="914400" y="4251960"/>
            <a:ext cx="10360152" cy="457200"/>
          </a:xfrm>
          <a:prstGeom prst="rect">
            <a:avLst/>
          </a:prstGeom>
          <a:noFill/>
          <a:ln/>
        </p:spPr>
        <p:txBody>
          <a:bodyPr wrap="square" lIns="0" tIns="0" rIns="0" bIns="0" rtlCol="0" anchor="ctr"/>
          <a:lstStyle/>
          <a:p>
            <a:pPr marL="0" indent="0" algn="ctr">
              <a:buNone/>
            </a:pPr>
            <a:r>
              <a:rPr lang="en-US" sz="1700" dirty="0">
                <a:solidFill>
                  <a:srgbClr val="F3E7EA"/>
                </a:solidFill>
                <a:latin typeface="Montserrat" pitchFamily="34" charset="0"/>
                <a:ea typeface="Montserrat" pitchFamily="34" charset="-122"/>
                <a:cs typeface="Montserrat" pitchFamily="34" charset="-120"/>
              </a:rPr>
              <a:t>Unit 10 · Web Content Filtering with Advanced URL Filtering</a:t>
            </a:r>
            <a:endParaRPr lang="en-US" sz="1700" dirty="0"/>
          </a:p>
        </p:txBody>
      </p:sp>
      <p:pic>
        <p:nvPicPr>
          <p:cNvPr id="6" name="Image 0" descr="Mid-State Technical College logo"/>
          <p:cNvPicPr>
            <a:picLocks noChangeAspect="1"/>
          </p:cNvPicPr>
          <p:nvPr/>
        </p:nvPicPr>
        <p:blipFill>
          <a:blip r:embed="rId3"/>
          <a:stretch>
            <a:fillRect/>
          </a:stretch>
        </p:blipFill>
        <p:spPr>
          <a:xfrm>
            <a:off x="5321808" y="5852160"/>
            <a:ext cx="1554480" cy="2743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4692</Words>
  <Application>Microsoft Office PowerPoint</Application>
  <PresentationFormat>Widescreen</PresentationFormat>
  <Paragraphs>505</Paragraphs>
  <Slides>39</Slides>
  <Notes>39</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Arial</vt:lpstr>
      <vt:lpstr>Courier New</vt:lpstr>
      <vt:lpstr>Montserrat</vt:lpstr>
      <vt:lpstr>Poppins</vt:lpstr>
      <vt:lpstr>Office Theme</vt:lpstr>
      <vt:lpstr>Web Content Filtering with Advanced URL Filtering</vt:lpstr>
      <vt:lpstr>Learning Outcomes</vt:lpstr>
      <vt:lpstr>How URL Filtering Works</vt:lpstr>
      <vt:lpstr>Why Filter Web Traffic?</vt:lpstr>
      <vt:lpstr>PAN-DB and URL Categories</vt:lpstr>
      <vt:lpstr>Risk and Security Categories</vt:lpstr>
      <vt:lpstr>Two Ways to Use a URL Category</vt:lpstr>
      <vt:lpstr>Building URL Filtering Profiles</vt:lpstr>
      <vt:lpstr>The URL Filtering Profile</vt:lpstr>
      <vt:lpstr>Site Access Actions</vt:lpstr>
      <vt:lpstr>Custom URL Categories</vt:lpstr>
      <vt:lpstr>External Dynamic Lists</vt:lpstr>
      <vt:lpstr>Response Pages</vt:lpstr>
      <vt:lpstr>Profile Settings and Inline Categorization</vt:lpstr>
      <vt:lpstr>Attach the Profile to an Allow Rule</vt:lpstr>
      <vt:lpstr>Usage Quotas and Time-Based Controls</vt:lpstr>
      <vt:lpstr>Quotas on a Palo Alto Firewall</vt:lpstr>
      <vt:lpstr>Continue and Override Timeouts</vt:lpstr>
      <vt:lpstr>Schedule-Based Access</vt:lpstr>
      <vt:lpstr>Bandwidth Quotas with QoS</vt:lpstr>
      <vt:lpstr>Applying a DNS Filter</vt:lpstr>
      <vt:lpstr>Why Filter at the DNS Layer?</vt:lpstr>
      <vt:lpstr>DNS Security in the Anti-Spyware Profile</vt:lpstr>
      <vt:lpstr>Your Own DNS Block Lists</vt:lpstr>
      <vt:lpstr>URL Filter vs. DNS Filter</vt:lpstr>
      <vt:lpstr>Troubleshooting Filtering Issues</vt:lpstr>
      <vt:lpstr>Action Precedence</vt:lpstr>
      <vt:lpstr>Precedence in Practice</vt:lpstr>
      <vt:lpstr>unknown vs. not-resolved</vt:lpstr>
      <vt:lpstr>Reading the URL Filtering Log</vt:lpstr>
      <vt:lpstr>Miscategorized Sites</vt:lpstr>
      <vt:lpstr>Troubleshooting Checklist</vt:lpstr>
      <vt:lpstr>Security Thread: Layered Web Controls</vt:lpstr>
      <vt:lpstr>Live Demo Inventory</vt:lpstr>
      <vt:lpstr>Hands-On Lab 9: Advanced URL Filtering</vt:lpstr>
      <vt:lpstr>Lab 9 Heads-Up</vt:lpstr>
      <vt:lpstr>Key Takeaways</vt:lpstr>
      <vt:lpstr>Unit 10 Homework</vt:lpstr>
      <vt:lpstr>Questions?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Mid-State Technical College</dc:creator>
  <cp:lastModifiedBy>Brian Krause</cp:lastModifiedBy>
  <cp:revision>1</cp:revision>
  <dcterms:created xsi:type="dcterms:W3CDTF">2026-10-26T17:21:14Z</dcterms:created>
  <dcterms:modified xsi:type="dcterms:W3CDTF">2026-10-26T17:27:12Z</dcterms:modified>
</cp:coreProperties>
</file>